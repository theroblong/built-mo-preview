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 BY AEVAH  ·  BUILT KICKOFF  · 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Mo Works
With Your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F0"/>
                </a:solidFill>
                <a:latin typeface="Calibri"/>
              </a:rPr>
              <a:t>A walkthrough of the process behind each Mo intelligence module — what data it needs, where that data comes from, what operations are performed, and what appears on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11338560" cy="310896"/>
          </a:xfrm>
          <a:prstGeom prst="rect">
            <a:avLst/>
          </a:prstGeom>
          <a:solidFill>
            <a:srgbClr val="1A34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9592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PHASE 1  ·  NOW THROUGH DEC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42816"/>
            <a:ext cx="3630168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453128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Demand Forecast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4242816"/>
            <a:ext cx="3630168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4453128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4242816"/>
            <a:ext cx="3630168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453128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111496"/>
            <a:ext cx="11338560" cy="310896"/>
          </a:xfrm>
          <a:prstGeom prst="rect">
            <a:avLst/>
          </a:prstGeom>
          <a:solidFill>
            <a:srgbClr val="28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75504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DAE6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422392"/>
            <a:ext cx="557784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86983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Promotional 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5422392"/>
            <a:ext cx="557784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5586983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Launch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FA0"/>
                </a:solidFill>
                <a:latin typeface="Calibri"/>
              </a:rPr>
              <a:t>aevah.ai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FA0"/>
                </a:solidFill>
                <a:latin typeface="Calibri"/>
              </a:rPr>
              <a:t>Five stages from your SPINS export to decisions on screen — Aevah automates stages 2–4 so no manual steps are required once data is deposited.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SPINS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Data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214-column weekly POS extract deposited to shared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File-watch trigger detects new export; quality gates applied; incremental load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
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Aevah compresses raw rows into ML-ready feature tables per module — no manual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916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 Training
&amp;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Models retrain on drift/schedule; scores saved to Aevah; smoke-test gates at each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Two data layers: ML projections (forecast) + live context data (actuals at render time)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11430000" cy="1051560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727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KEY PRINCIPLE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983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11827"/>
                </a:solidFill>
                <a:latin typeface="Calibri"/>
              </a:rPr>
              <a:t>Every Mo screen draws from two distinct sources: ML scoring tables (what the model forecasts, written in Stage 4) and live Aevah queries (actual component data queried at render time). These have separate lineage and must never be blended.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Roles &amp; Responsibilities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0F0"/>
                </a:solidFill>
                <a:latin typeface="Calibri"/>
              </a:rPr>
              <a:t>What Aevah commits to deliver, what BUILT commits to provide, and the shared milestones where both teams align.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548640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152144"/>
            <a:ext cx="5266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" y="151790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4475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Platform setup, hosting, and data ingestion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8653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9222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Data quality gates at every stage — no bad data reaches the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22128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39696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Feature engineering: raw SPINS rows compressed into ML-ready tables per module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5603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871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training and scoring: demand velocity &amp; forecast + cannibalization risk + price elasticity (Phase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2907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3463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 UI deployment: all screens, filters, and visualizations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3255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8211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monitoring: drift detection and automatic retraining on schedule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360273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29583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Customer-facing overview and reference documentation, updated each session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115568"/>
            <a:ext cx="557784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152144"/>
            <a:ext cx="53583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3368" y="1517904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444752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Weekly SPINS export (214 columns) deposited to shared storage on agreed schedule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865376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792224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Product master data + regional seasonality indexes — supplemental inputs for Phase 1 demand forecast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3368" y="2212848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59" y="2139696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ERP / data warehouse access — for Phase 2 data sources and Connor's actuals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3368" y="2560320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487168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Stakeholder availability: kickoff, data QA review, demo sessions, and sign-off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907791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834639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Projection validation: Connor + Brian confirm whether findings match their market knowledge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3368" y="3255263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59" y="3182111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UI feedback: what information helps the job get done — what to add, change, or remove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73368" y="3602735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3529583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Phase 1 milestone sign-off before proceeding to Phase 2 scope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4005072"/>
            <a:ext cx="11457432" cy="274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4050791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Aevah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0448" y="40507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Brian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405079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Connor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0508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BUILT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51008" y="405079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Milestone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4279392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334255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&amp; weekly deposit to shared storage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2452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0448" y="4334255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048" y="4334255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0508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51008" y="4334255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1–2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572000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5488" y="462686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Data ingest, quality gates, feature engineering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0448" y="462686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42048" y="46268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0508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51008" y="4626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3–4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" y="4864608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491947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Model training, scoring &amp; Mo UI deployment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70448" y="491947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42048" y="49194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0508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51008" y="49194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4–6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157216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5488" y="521208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Projection review &amp; business validation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2452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70448" y="521208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42048" y="52120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0508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51008" y="52120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6–8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4048" y="5449824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" y="5504688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UI feedback sessions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2452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70448" y="550468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42048" y="55046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0508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51008" y="550468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7–10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8" y="5742432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5488" y="579729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Phase 1 milestone sign-off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2452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70448" y="5797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42048" y="5797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0508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51008" y="57972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10–12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4048" y="61081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R = Responsible (does the work)   A = Accountable (owns the outcome)   C = Consulted   I = Informed (kept in the loop)   — = Not in scope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Velocity &amp;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"What will this SKU sell in the next 13 weeks, by retailer account?"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52-week weekly units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history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(stores selling)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signal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weeks on promotion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flag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Retail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Per-account model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 end 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Seasonality features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84448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621024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9227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3858768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to non-zero TDP weeks — eliminate false troughs from shelf-presence gaps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16966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" y="4105656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Compute rolling averages (4-week, 13-week) to smooth noise while preserving trend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4165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3525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12-month seasonality index — regional granularity available when BUILT provides geographic breakdown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634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5994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promo weeks so model learns baseline vs. promo-lifted demand separately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103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8463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Train separate forecast per SKU × retailer — Kroger velocity ≠ Target velocity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572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50932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Fall back to exponential smoothing (ETS) for SKUs with &lt;8 weeks of history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13-week demand forecast per SKU × retailer account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Confidence bands (low / base / high scenario)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Promo-uplift scenario — demand if a promotion is planned in the forecast window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Forecast accuracy benchmark: 4% wMAPE vs. 7–10% industry 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52-week actual demand trend by SKU and retailer account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(stores stocking) trend over the same period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average velocity — how this SKU compares to 13-week category norm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Seasonal index overlay — expected lift or drag on the forecast period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Seasonality index · Forecast model training · ETS fallback · Confidence bands · Publish 13-week projections to Mo UI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Share actuals data for forecast backtesting · Provide product data + regional seasonality indexes as supplemental inputs · Connor validates 13-week forecasts against FP&amp;A actuals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SKU pulling demand from an existing one, or adding net-new buyers?"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Before/after 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organic 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— stores selling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vs. distrib. loss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Rule out price effect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 (launch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count, flavor, brand 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Find substitute SKUs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Weeks on promotion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Flag promo periods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before/after windows (4-week, 13-week, 26-week) around each product launch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Pair each focal SKU with candidate donors — same flavor, same pack family, competitor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Measure whether focal demand rose while donor demand fell in the same stores and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windows contaminated by promotions, distribution ramps, or supply events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incremental share: net-new demand vs. demand transferred from a donor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Assign label (Cannibalizing / Watch / Incremental / Neutral) from observable evidence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Risk score + confidence for each focal/donor pair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Status: Cannibalizing · Watch · Incremental · Neutral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Ranked donors with evidence summary (focal lift, donor decline, distribution delta)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share — net-new demand vs. transferred demand  [FML-10]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rate actuals + 13-week forward projection  [FML-09]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weekly demand trend for focal and donor SKUs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(TDP) trend — stores stocking each SKU over 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Geography heatmap — which markets show the strongest demand transfer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Launch ramp chart — weeks 1–16 of distribution build vs. category norms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Comparison pool build · Pairing model · Risk scoring · Publish to Mo UI · Monitor model drift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Review risk labels — do the identified donor pairs make business sense? · Validate threshold cutoffs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"If we change price by X%, how much does demand change — and what is the optimal price point?"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level measure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response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price (non-promo ARP)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Everyday vs. promo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promo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 (promo-driven)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promo demand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(TDP)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Competitor price (same flavor)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Own vs. competitor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price to $/bar so singles and 12-packs are comparable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13-week log-log regression windows per SKU × account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promotional price changes from everyday price changes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BUILT $/bar vs. same-flavor competitor in the same account and week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$/bar across BUILT own pack sizes of the same flavor (pack-ladder check)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Reject windows where price moved &gt;40% in one week — data artifact guardrail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Own-price elasticity ε with confidence range (q10 / q50 / q90)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Cross-price elasticity — demand response to competitor price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 elasticity curve — lift at each discount depth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What-if demand curves — projected units at alternative price points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Pricing event queue — active competitive gaps or pack-ladder compression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Current $/bar and 52-week price trend by retailer account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Pack price ladder — single / 4-pack / 12-pack side-by-side in the same account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Competitive price gap chart — BUILT vs. Tier 1 competitor in the same flavor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benchmark — BUILT $/bar vs. MULO FOOD category average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$/bar normalization · Elasticity regression models · Score publishing · Pack-ladder + competitor comparisons · Publish to Mo UI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Validate elasticity values — do they match BUILT's commercial experience? · Confirm price-point recommendations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Promotional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"How much incremental demand does a promotion generate — and what depth maximizes return?"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Above-baseline 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Lift denominator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units sold on promotion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dependency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discount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Channel (grocery / mass / c-store)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Channel response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Pack size behavior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on promo (TDP, Any Promo)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Display vs. price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promo lift ratio: incremental units ÷ base units, per SKU × account × event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Group events into discount depth buckets (0–10%, 10–20%, 20–30%, 30%+)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channel — grocery and c-store show distinct lift profiles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pack size — 12-packs show a 30%+ discount cliff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Identify the depth where marginal lift no longer justifies additional margin give-up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lift % at each discount depth for this SKU × channel × pack 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Optimal discount depth recommendation — where lift peaks before the cliff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vs. cannibalized demand breakdown at each discount level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Historical promo events — discount depth, timing, and observed lift per event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Lift trend by event type — TPR vs. display vs. feature support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% weeks on promo trend — is this SKU becoming promo-dependent?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Channel comparison — lift curve across grocery / mass / c-store for this SKU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Lift curve modeling · Depth optimization scoring · Channel × pack separation · Publish to Mo UI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(including promo flags) · Review lift projections · Confirm discount depth guidance with trade marketing team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Distribution &amp; Launch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product ramping as expected — in enough stores, with the right velocity?"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of stores selling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growth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Total distribution points (TDP)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Primary ramp metric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Avg weekly units per store selling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Velocity per store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Number of weeks selling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Lifecycle position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19272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35584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5760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3593592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Track weeks 1–16 of distribution build and velocity ramp for each new BUILT UPC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90448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384047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each SKU's ramp against category norms for the same pack type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5137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08736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Classify new UPCs: new pack size, new flavor, or duplicate/relaunch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98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33425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underperformance at 4, 8, and 13 weeks post-launch vs. expected ramp curve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4515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8114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Suppress cannibalization scoring during ramp — avoids penalizing distribution-driven transfer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Launch status at current week: On Track · Watch · Underperforming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ramp curve — where this SKU should be at weeks 8, 13, 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Predicted full-distribution velocity — expected units/store at maturity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scoring readiness — flag for when SKU graduates to active scoring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TDP ramp week by week since first week selling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velocity per store — is the product pulling through where stocked?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Comparable launch benchmarks — similar BUILT or category launches in same retailer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Data-maturity status — weeks until data gate clears for active scoring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Ramp monitoring model · Category benchmark comparisons · UPC classification gate · Launch status scoring · Publish to Mo UI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Confirm new UPC classifications (new SKU vs. relaunch) · Review launch status assessments with brand team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 Trends &amp; External Signal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Competitive dashboard tiles showing velocity, price, distribution, and macro signals — all queried live, available from day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39496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1755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06  ·  MO TRENDS — all data queried live, no ML scoring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5389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1 — Brand 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45389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units trend — 52-week history + 13-week rolling avg by product/retailer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64792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2 — Demand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79" y="182880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13-week forward projection with confidence bands  [ML scoring table]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39696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03703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3 — Pack Crossover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203703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Single vs. multipack demand split across the BUILT product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14600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4 — Price &amp; Promo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78608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ARP trend with promo event overlays and discount depth markers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53512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 — Distribution Arc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79" y="2953512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TDP build trajectory and ramp vs. category launch norms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2841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6 — Flavor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79" y="332841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Flavor-level velocity comparison across full BUILT flavor 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39312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70332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7 — Macro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370332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FRED GASDESW + UMCSENT — gas prices + U of Michigan consumer confidence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14216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78224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8 — Velocity + Macro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078224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Stacked chart: brand velocity trend alongside macro signal overlay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62272"/>
            <a:ext cx="5394960" cy="493776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07992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Filter bar:  Product  ·  Brand  ·  Channel (FOOD / MASS / C-STORE)  ·  Account  ·  Units / $ toggle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709160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B7FA0"/>
                </a:solidFill>
                <a:latin typeface="Calibri"/>
              </a:rPr>
              <a:t>Demo defaults:  BUILT Puff  ·  KROGER + WALMART    |    MULO excluded from all Trends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1097280"/>
            <a:ext cx="5715000" cy="43891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1133856"/>
            <a:ext cx="5495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07  ·  EXTERNAL SIGNALS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6208" y="1316736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0E0C0"/>
                </a:solidFill>
                <a:latin typeface="Calibri"/>
              </a:rPr>
              <a:t>Commercial redistribution license required for all sources listed.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536192"/>
            <a:ext cx="5715000" cy="237744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1563624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E5E38"/>
                </a:solidFill>
                <a:latin typeface="Calibri"/>
              </a:rPr>
              <a:t>LIVE IN PRODUCTION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177393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1773936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2784" y="182880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GASDESW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18288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U.S. gas price index (St. Louis Fed)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2103120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2103120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72784" y="215798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UMCSENT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15798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U. of Michigan consumer confidence index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2523744"/>
            <a:ext cx="5715000" cy="237744"/>
          </a:xfrm>
          <a:prstGeom prst="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2560320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4800"/>
                </a:solidFill>
                <a:latin typeface="Calibri"/>
              </a:rPr>
              <a:t>PLANNED — OPEN ITEMS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2761487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6480" y="2761487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2784" y="2816351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Open-Meteo Weather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2816351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Regional precip + temperature for seasonal demand context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3090671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0" y="3090671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72784" y="3145535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BLS CPI — Food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314553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CPI food sub-indices for consumer price-pressure signal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419855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0" y="3419855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72784" y="3474719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Kalshi Markets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347471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Prediction market odds for macro events (recession, rates)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26480" y="3749039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26480" y="3749039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2784" y="3803903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Amazon BSR / Helium 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380390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Digital shelf velocity proxy for e-commerce demand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26480" y="4078224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480" y="4078224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4133087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EIA / USDA Commodities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75320" y="413308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Cocoa, whey, oat prices — ingredient cost-pressure signal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 1 Project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Duration estimates are a starting point — to be validated with Brian before committing to dates. Durations reflect data readiness, not Aevah engineering capacity.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2606040" cy="65836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Commitment
&amp; Handoff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2606040" cy="2414016"/>
          </a:xfrm>
          <a:prstGeom prst="rect">
            <a:avLst/>
          </a:prstGeom>
          <a:solidFill>
            <a:srgbClr val="D8E5FF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" y="205740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BUILT confirms SPINS export format and deposit schedule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60604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 configures storage, file-watch trigger, and QA gates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315468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Both teams agree on data scope and stakeholder 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70332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Kickoff RACI reviewed and signed off by both teams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61103"/>
            <a:ext cx="2606040" cy="402336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Data Commitment confirmed + storage access granted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1188720"/>
            <a:ext cx="2606040" cy="65836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87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3–6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Onboarding
&amp; Validation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1847088"/>
            <a:ext cx="2606040" cy="2414016"/>
          </a:xfrm>
          <a:prstGeom prst="rect">
            <a:avLst/>
          </a:prstGeom>
          <a:solidFill>
            <a:srgbClr val="D4F0E4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57016" y="205740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50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Aevah: ingest → QA → feature engineering → model training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57016" y="260604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50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 delivers QA report for BUILT data team review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57016" y="315468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850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BUILT validates data looks right for all three Phase 1 modules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57016" y="370332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850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Data issues flagged and resolved before UI deployment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29000" y="4261103"/>
            <a:ext cx="2606040" cy="402336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87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QA report delivered; Phase 1 models trained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3327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0" y="1188720"/>
            <a:ext cx="2606040" cy="65836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7–10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 Preview
&amp; Feedback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847088"/>
            <a:ext cx="2606040" cy="2414016"/>
          </a:xfrm>
          <a:prstGeom prst="rect">
            <a:avLst/>
          </a:prstGeom>
          <a:solidFill>
            <a:srgbClr val="FFF3D6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8816" y="205740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568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Demand Forecast + Cannibalization Risk + Price Elasticity live in Mo UI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28816" y="260604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568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Live walkthrough with Brian + Connor — FOOD-channel accounts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28816" y="315468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568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Connor + team validate projections against market knowledge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28816" y="370332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568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Priority UI feedback addressed in follow-up sprint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4261103"/>
            <a:ext cx="2606040" cy="402336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05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Phase 1 live in Mo; validation session complete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25128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726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372600" y="1188720"/>
            <a:ext cx="2606040" cy="65836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823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11+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823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Iterate &amp;
Phase 2 Scope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72600" y="1847088"/>
            <a:ext cx="2606040" cy="2414016"/>
          </a:xfrm>
          <a:prstGeom prst="rect">
            <a:avLst/>
          </a:prstGeom>
          <a:solidFill>
            <a:srgbClr val="ECE8F8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500616" y="205740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286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Address feedback; tune models on BUILT market knowledge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00616" y="260604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286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Phase 1 milestone sign-off by both teams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0616" y="315468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286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Begin scoping Modules 3–5 for Phase 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00616" y="370332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286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Connor's actuals data shared for forecast backtesting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72600" y="4261103"/>
            <a:ext cx="2606040" cy="402336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823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Phase 1 signed off; Phase 2 roadmap agreed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864607"/>
            <a:ext cx="11292840" cy="493776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4919471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Phase 2 (Modules 3–5: Promotional Response, Demand Forecast, Launch Monitoring) begins after Phase 1 sign-off. Automation roadmap (incremental ingest, orchestration shell, file-watch trigger) runs as an Aevah-internal engineering sprint — no BUILT action required.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Kickoff Alignment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C0F0"/>
                </a:solidFill>
                <a:latin typeface="Calibri"/>
              </a:rPr>
              <a:t>The goal of this meeting: leave with a shared understanding of who owns what, what each team is committing to, and a validated path to Phase 1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03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472184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WE NEED TO AGREE IN THIS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5623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9842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Which SPINS fields are we using? What supplemental data (ERP, DW) is in scope for Phase 1?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handoff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3288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deposits the SPINS export? Where? On what cadence? Who confirms receipt?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5351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8036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RACI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8152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Both teams confirm the responsibility matrix — who does what at each stage.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5021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2900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Timeline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3016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Are the week estimates realistic? Brian to flag any constraints (data availability, staff).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50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7763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Stakeholder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17880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else needs to be in the loop? Are there voices we haven't heard from yet?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success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7274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What does a successful Phase 1 look like? How will we know we're ready for Phase 2?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417320"/>
            <a:ext cx="566928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472184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HAPPENS AFTER THIS MEETING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181965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182880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178308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Commitment confirmed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198424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provides written confirmation of SPINS export format and deposit timeline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2331720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2340864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229514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Aevah configures ingest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9631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File-watch trigger set up; QA gates defined against agreed field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2843784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2852928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7104" y="280720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First data deposit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3008376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deposits initial SPINS extract; Aevah runs ingest + QA; report shared with BUILT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3355848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3364992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7104" y="331927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 engineering + model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352044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runs Phase 1 models (cannibalization risk + price elasticity) — no BUILT action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867911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877056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3831335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live demo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7104" y="403250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hosts Mo walkthrough with Brian + Connor; projection validation session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36208" y="437997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438912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47104" y="434340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Feedback + iteration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7104" y="454456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Connor's team reviews findings; UI adjustments made; Phase 2 scoping begins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