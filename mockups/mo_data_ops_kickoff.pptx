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11338560" cy="310896"/>
          </a:xfrm>
          <a:prstGeom prst="rect">
            <a:avLst/>
          </a:prstGeom>
          <a:solidFill>
            <a:srgbClr val="1A34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9592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PHASE 1  ·  NOW THROUGH DEC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11496"/>
            <a:ext cx="11338560" cy="310896"/>
          </a:xfrm>
          <a:prstGeom prst="rect">
            <a:avLst/>
          </a:prstGeom>
          <a:solidFill>
            <a:srgbClr val="28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175504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DAE6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Promotional Response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Demand Forecast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Launch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FA0"/>
                </a:solidFill>
                <a:latin typeface="Calibri"/>
              </a:rPr>
              <a:t>Five stages from your SPINS export to decisions on screen — Aevah automates stages 2–4 so no manual steps are required once data is deposited.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Data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214-column weekly POS extract deposited 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File-watch trigger detects new export; quality gates applied; incremental load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Aevah compresses raw rows into ML-ready feature tables per module — no manual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Models retrain on drift/schedule; scores saved to Aevah; smoke-test gates at each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Two data layers: ML projections (forecast) + live context data (actuals at render 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5156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27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11827"/>
                </a:solidFill>
                <a:latin typeface="Calibri"/>
              </a:rPr>
              <a:t>Every Mo screen draws from two distinct sources: ML scoring tables (what the model forecasts, written in Stage 4) and live Aevah queries (actual component data queried at render time). These have separate lineage and must never be blended.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Roles &amp; Responsibilities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0F0"/>
                </a:solidFill>
                <a:latin typeface="Calibri"/>
              </a:rPr>
              <a:t>What Aevah commits to deliver, what BUILT commits to provide, and the shared milestones where both teams align.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48640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152144"/>
            <a:ext cx="5266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" y="151790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4475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Platform setup, hosting, and data 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8653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Data quality gates at every stage — no bad data reaches the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22128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9696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Feature engineering: raw SPINS rows compressed into ML-ready tables per module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5603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training and scoring: cannibalization risk + price elasticity (Phase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2907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3463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 UI deployment: all screens, filters, and visualizations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3255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8211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monitoring: drift detection and automatic retraining on schedule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60273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9583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Customer-facing overview and reference documentation, updated each session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115568"/>
            <a:ext cx="557784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152144"/>
            <a:ext cx="53583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3368" y="1517904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444752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Weekly SPINS export (214 columns) deposited to shared storage on agreed schedule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865376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792224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ERP / data warehouse access — for Phase 2 data sources and Connor's actuals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3368" y="2212848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59" y="2139696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Stakeholder availability: kickoff, data QA review, demo sessions, and sign-off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2560320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487168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Projection validation: Connor + Brian confirm whether findings match their market knowledge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907791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UI feedback: what information helps the job get done — what to add, change, or remove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3255263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59" y="3182111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Phase 1 milestone sign-off before proceeding to Phase 2 scope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005072"/>
            <a:ext cx="11457432" cy="274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050791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Aevah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70448" y="40507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Brian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40507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Connor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BUILT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51008" y="405079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Milestone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" y="4279392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334255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&amp; weekly deposit to shared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0448" y="433425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334255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08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334255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1–2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572000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4626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Data ingest, quality gates, feature 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452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70448" y="462686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42048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0508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4626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3–4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4864608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9194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Model training, scoring &amp; Mo UI deployment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2452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0448" y="491947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42048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0508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9194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4–6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" y="5157216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2120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Projection review &amp; business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2452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521208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42048" y="52120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8" y="52120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6–8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449824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" y="550468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UI feedback sessions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2452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0448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42048" y="55046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0508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51008" y="550468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7–10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5742432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5488" y="57972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Phase 1 milestone sign-off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70448" y="5797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42048" y="5797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508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51008" y="57972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10–12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61081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R = Responsible (does the work)   A = Accountable (owns the outcome)   C = Consulted   — = Not in scope for this activity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Before/after 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Isolate organic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Demand vs. distrib.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Rule out price effect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Find substitute SKUs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Flag promo periods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competitor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 and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7332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6601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label (Cannibalizing / Watch / Incremental / Neutral) from observable evidence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donors with evidence summary (focal lift, donor decline, distribution delta)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  [FML-10]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 [FML-09]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Comparison pool build · Pairing model · Risk scoring · Publish to Mo UI · Monitor model drift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Review risk labels — do the identified donor pairs make business sense? · Validate threshold cutoffs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 is the optimal price point?"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Price level measure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Demand response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 ARP)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Everyday vs. promo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Quantify promo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Isolate promo demand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Own vs. competitor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$/bar so singles and 12-packs are comparable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log-log regression windows per SKU × account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 own pack sizes of the same flavor (pack-ladder check)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7332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6601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windows where price moved &gt;40% in one week — data artifact guardrail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ε with confidence range (q10 / q50 / q90)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to competitor price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active competitive gaps or pack-ladder compression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4-pack / 12-pack side-by-side in the same account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$/bar normalization · Elasticity regression models · Score publishing · Pack-ladder + competitor comparisons · Publish to Mo UI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Validate elasticity values — do they match BUILT's commercial experience? · Confirm price-point recommendations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depth maximizes return?"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Above-baseline 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Lift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Promo dependency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Quantify discount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Channel response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Pack size behavior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Display vs. 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12-packs show a 30%+ discount cliff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depth where marginal lift no longer justifies additional margin give-up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per event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Lift curve modeling · Depth optimization scoring · Channel × pack separation · Publish to Mo 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(including promo flags) · Review lift projections · Confirm discount depth guidance with trade marketing team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Demand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Price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Promo flag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Per-account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Seasonality features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73075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76732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07822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00507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to non-zero TDP weeks — eliminate false troughs from shelf-presence gaps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5254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27939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268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5371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12-month seasonality index from category raw monthly averages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90118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82803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model learns baseline vs. promo-lifted demand separately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510235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separate forecast per SKU × retailer — Kroger velocity ≠ Target velocity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44982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37667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(ETS) for SKUs with &lt;8 weeks of history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demand if a promotion is planned in the forecast window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Forecast accuracy benchmark: 4% wMAPE vs. 7–10% industry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13-week category norm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lift or drag on the forecast period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Seasonality index · Forecast model training · ETS fallback · Confidence bands · Publish 13-week projections to Mo UI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Connor validates 13-week forecasts against FP&amp;A actuals · Share actuals data for backtesting and accuracy measurement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Distribution growth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Primary ramp metric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Velocity per store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7FA0"/>
                </a:solidFill>
                <a:latin typeface="Calibri"/>
              </a:rPr>
              <a:t>Lifecycle position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44728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48386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79476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372160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06908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399592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SKU's ramp against category norms for the same pack type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434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27024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6177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54456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8920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81888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ramp — avoids penalizing distribution-driven transfer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weeks 8, 13, 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units/store at maturity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scoring readiness — flag for when SKU graduates to active scoring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stocked?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similar BUILT or category launches in same retailer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Data-maturity status — weeks until data gate clears for active scoring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Ramp monitoring model · Category benchmark comparisons · UPC classification gate · Launch status scoring · Publish to Mo UI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Confirm new UPC classifications (new SKU vs. relaunch) · Review launch status assessments with brand 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 Trends &amp; External Signal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Competitive dashboard tiles showing velocity, price, distribution, and macro signals — all queried live, available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39496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1755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06  ·  MO TRENDS — all data queried live, no ML scoring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5389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1 — Brand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45389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units trend — 52-week history + 13-week rolling avg by product/retailer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64792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2 — Demand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82880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13-week forward projection with confidence bands  [ML scoring table]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03703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3 — Pack Crossover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203703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Single vs. multipack demand split across the BUILT product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14600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4 — Price &amp; Promo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78608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ARP trend with promo event overlays and discount depth markers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53512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 — Distribution Arc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2953512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TDP build trajectory and ramp vs. category launch norms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2841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6 — Flavor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32841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Flavor-level velocity comparison across full BUILT flavor 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39312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7 — Macro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370332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FRED GASDESW + UMCSENT — gas prices + U of Michigan consumer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14216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78224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8 — Velocity + Macro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078224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Stacked chart: brand velocity trend alongside macro signal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62272"/>
            <a:ext cx="5394960" cy="329184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17136"/>
            <a:ext cx="51755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Filter bar:  Product · Brand · Channel (FOOD / MASS / C-STORE) · Account · Units / $ 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672584"/>
            <a:ext cx="517550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Demo defaults: BUILT Puff  +  KROGER  +  WALMART    |    MULO excluded from all Trends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1097280"/>
            <a:ext cx="571500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133856"/>
            <a:ext cx="54955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07  ·  EXTERNAL SIGNALS — commercial redistribution required for 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1389888"/>
            <a:ext cx="5715000" cy="237744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1417320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E5E38"/>
                </a:solidFill>
                <a:latin typeface="Calibri"/>
              </a:rPr>
              <a:t>LIVE IN PRODUCTION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1627632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1627632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2784" y="168249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GASDESW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1682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U.S. gas price index (St. Louis Fed)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0" y="195681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26480" y="1956816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2784" y="201168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UMCSENT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201168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U. of Michigan consumer confidence index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26480" y="2377440"/>
            <a:ext cx="5715000" cy="237744"/>
          </a:xfrm>
          <a:prstGeom prst="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36208" y="2414016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4800"/>
                </a:solidFill>
                <a:latin typeface="Calibri"/>
              </a:rPr>
              <a:t>PLANNED — OPEN ITEMS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2615184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2615184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72784" y="267004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Open-Meteo Weather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267004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Regional precip + temperature for seasonal demand context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2944368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26480" y="2944368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72784" y="299923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BLS CPI — Food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299923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CPI food sub-indices for consumer price-pressure signal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3273552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26480" y="3273552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72784" y="332841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Kalshi Markets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332841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Prediction market odds for macro events (recession, rates)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360273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26480" y="3602736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72784" y="365760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Amazon BSR / Helium 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576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Digital shelf velocity proxy for e-commerce demand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931920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26480" y="3931920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72784" y="3986783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EIA / USDA Commodities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75320" y="398678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Cocoa, whey, oat prices — ingredient cost-pressure signal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 1 Project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Duration estimates are a starting point — to be validated with Brian before committing to dates. Durations reflect data readiness, not Aevah engineering capacity.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1292840" cy="54864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0" y="1764791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78D0"/>
                </a:solidFill>
                <a:latin typeface="Calibri"/>
              </a:rPr>
              <a:t>▶</a:t>
            </a:r>
          </a:p>
        </p:txBody>
      </p:sp>
      <p:sp>
        <p:nvSpPr>
          <p:cNvPr id="9" name="Oval 8"/>
          <p:cNvSpPr/>
          <p:nvPr/>
        </p:nvSpPr>
        <p:spPr>
          <a:xfrm>
            <a:off x="1613916" y="1746503"/>
            <a:ext cx="292608" cy="292608"/>
          </a:xfrm>
          <a:prstGeom prst="ellipse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06040" cy="4572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Commitment
&amp; Handoff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2606040" cy="3657600"/>
          </a:xfrm>
          <a:prstGeom prst="rect">
            <a:avLst/>
          </a:prstGeom>
          <a:solidFill>
            <a:srgbClr val="D8E5FF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BUILT confirms SPINS export format and schedule
Aevah confirms storage, file-watch trigger, and QA gate configuration
Both teams agree on data scope and contact points</a:t>
            </a:r>
          </a:p>
        </p:txBody>
      </p:sp>
      <p:sp>
        <p:nvSpPr>
          <p:cNvPr id="16" name="Oval 15"/>
          <p:cNvSpPr/>
          <p:nvPr/>
        </p:nvSpPr>
        <p:spPr>
          <a:xfrm>
            <a:off x="4585716" y="1746503"/>
            <a:ext cx="292608" cy="292608"/>
          </a:xfrm>
          <a:prstGeom prst="ellipse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29000" y="1234440"/>
            <a:ext cx="2606040" cy="45720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3–6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Onboarding
&amp;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691640"/>
            <a:ext cx="2606040" cy="3657600"/>
          </a:xfrm>
          <a:prstGeom prst="rect">
            <a:avLst/>
          </a:prstGeom>
          <a:solidFill>
            <a:srgbClr val="D4F0E4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Aevah: ingest → QA → feature engineering → model training → scoring
Aevah delivers QA report for BUILT review
BUILT validates: does the data look right?</a:t>
            </a:r>
          </a:p>
        </p:txBody>
      </p:sp>
      <p:sp>
        <p:nvSpPr>
          <p:cNvPr id="23" name="Oval 22"/>
          <p:cNvSpPr/>
          <p:nvPr/>
        </p:nvSpPr>
        <p:spPr>
          <a:xfrm>
            <a:off x="7557516" y="1746503"/>
            <a:ext cx="292608" cy="292608"/>
          </a:xfrm>
          <a:prstGeom prst="ellipse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1234440"/>
            <a:ext cx="2606040" cy="45720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7–10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Preview
&amp;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691640"/>
            <a:ext cx="2606040" cy="3657600"/>
          </a:xfrm>
          <a:prstGeom prst="rect">
            <a:avLst/>
          </a:prstGeom>
          <a:solidFill>
            <a:srgbClr val="FFF3D6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Cannibalization Risk + Price Elasticity live in Mo UI
Live demo with Brian + Connor — FOOD-channel accounts
Connor + team provide UI feedback and projection validation</a:t>
            </a:r>
          </a:p>
        </p:txBody>
      </p:sp>
      <p:sp>
        <p:nvSpPr>
          <p:cNvPr id="30" name="Oval 29"/>
          <p:cNvSpPr/>
          <p:nvPr/>
        </p:nvSpPr>
        <p:spPr>
          <a:xfrm>
            <a:off x="10529316" y="1746503"/>
            <a:ext cx="292608" cy="292608"/>
          </a:xfrm>
          <a:prstGeom prst="ellipse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1234440"/>
            <a:ext cx="2606040" cy="457200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823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11+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23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Iterate &amp;
Phase 2 Scope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72600" y="1691640"/>
            <a:ext cx="2606040" cy="3657600"/>
          </a:xfrm>
          <a:prstGeom prst="rect">
            <a:avLst/>
          </a:prstGeom>
          <a:solidFill>
            <a:srgbClr val="ECE8F8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06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Address feedback; tune models based on BUILT market knowledge
Phase 1 milestone sign-off by both teams
Begin scoping Modules 3–5 and automation roadmap for Phase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650992"/>
            <a:ext cx="11292840" cy="4754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70585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Phase 2 (Modules 3–5: Promotional Response, Demand Forecast, Launch Monitoring) begins after Phase 1 sign-off milestone. Automation roadmap (incremental ingest, orchestration shell, file-watch trigger) runs in parallel as an Aevah-internal engineering sprint — no BUILT action required.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Alignment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C0F0"/>
                </a:solidFill>
                <a:latin typeface="Calibri"/>
              </a:rPr>
              <a:t>The goal of this meeting: leave with a shared understanding of who owns what, what each team is committing to, and a validated path to Phase 1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472184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WE NEED TO AGREE IN THIS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5623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842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Which SPINS fields are we using? What supplemental data (ERP, DW) is in scope for Phase 1?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handoff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3288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deposits the SPINS export? Where? On what cadence? Who confirms receipt?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5351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8036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RACI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8152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Both teams confirm the responsibility matrix — who does what at each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021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2900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Timeline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3016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Are the week estimates realistic? Brian to flag any constraints (data availability, staff).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50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17880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else needs to be in the loop? Are there voices we haven't heard from yet?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success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7274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What does a successful Phase 1 look like? How will we know we're ready for Phase 2?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417320"/>
            <a:ext cx="566928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472184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HAPPENS AFTER THIS MEETING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181965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182880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178308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Commitment confirmed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198424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provides written confirmation of SPINS export format and deposit timeline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2331720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2340864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229514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Aevah configures ingest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9631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File-watch trigger set up; QA gates defined against agreed field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2843784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852928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7104" y="280720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First data deposit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3008376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deposits initial SPINS extract; Aevah runs ingest + QA; report shared with BUILT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3355848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7104" y="33192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 engineering + model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352044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runs Phase 1 models (cannibalization risk + price elasticity) — no BUILT action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867911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87705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3831335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live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40325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hosts Mo walkthrough with Brian + Connor; projection validation session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36208" y="437997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438912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7104" y="434340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Feedback + iteration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7104" y="454456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Connor's team reviews findings; UI adjustments made; Phase 2 scoping begins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