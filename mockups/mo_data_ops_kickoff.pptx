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343400"/>
            <a:ext cx="5486400" cy="2743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Cannibalization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Price Elasticity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Promotional 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799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Demand Forecast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4663440"/>
            <a:ext cx="1993391" cy="4572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19" y="4709160"/>
            <a:ext cx="19019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C0F0"/>
                </a:solidFill>
                <a:latin typeface="Calibri"/>
              </a:rPr>
              <a:t>Launch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217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FA0"/>
                </a:solidFill>
                <a:latin typeface="Calibri"/>
              </a:rPr>
              <a:t>Five steps from your SPINS export to decisions on screen — the same sequence runs for every intelligence module.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011680" cy="2560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92807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167128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65176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Brian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953512"/>
            <a:ext cx="17922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8F0"/>
                </a:solidFill>
                <a:latin typeface="Calibri"/>
              </a:rPr>
              <a:t>Your 214-column weekly
POS extract deposited
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92608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83080"/>
            <a:ext cx="2011680" cy="2560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92807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167128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65176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Rob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953512"/>
            <a:ext cx="17922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8F0"/>
                </a:solidFill>
                <a:latin typeface="Calibri"/>
              </a:rPr>
              <a:t>Raw SPINS loaded into
analytic data store;
quality gates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92608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83080"/>
            <a:ext cx="2011680" cy="2560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92807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167128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65176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953512"/>
            <a:ext cx="17922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8F0"/>
                </a:solidFill>
                <a:latin typeface="Calibri"/>
              </a:rPr>
              <a:t>Raw rows compressed
into business-logic
tables per module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92608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83080"/>
            <a:ext cx="2011680" cy="2560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92807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167128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65176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953512"/>
            <a:ext cx="17922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8F0"/>
                </a:solidFill>
                <a:latin typeface="Calibri"/>
              </a:rPr>
              <a:t>Focused models trained;
results written back
as queryable tables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92608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83080"/>
            <a:ext cx="2011680" cy="2560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92807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167128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65176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953512"/>
            <a:ext cx="179222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8F0"/>
                </a:solidFill>
                <a:latin typeface="Calibri"/>
              </a:rPr>
              <a:t>Two data layers:
ML projections +
live context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0584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365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1091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11827"/>
                </a:solidFill>
                <a:latin typeface="Calibri"/>
              </a:rPr>
              <a:t>Every Mo screen draws from two distinct sources: model projection tables (what the ML model forecasts) and live context data (the actual numbers queried at display time). These are kept separate — each has its own query path and lineage.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demand before/after launch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Separate promo from organic demand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Distinguish demand drop from distribution loss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Detect whether price changes explain the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Anchor the before/after comparison 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Identify likely substitute SKUs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confounding promotional periods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same brand, competitor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stores, same window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deterministic label (Cannibalizing / Watch / Incremental / Neutral) from observable evidence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 SKUs with evidence summary (focal lift, donor decline, distribution delta)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with confidence bands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what's the optimal price point?"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price level across accounts and weeks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demand response to price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Separate everyday price from promo price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the magnitude of promotional price drops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promoted demand from baseline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Control for distribution changes that mimic price effects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Separate own-price response from competitive pressure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price-per-bar so single bars and 12-packs are comparable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regression windows per SKU × account (minimum period for stable estimates)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BUILT's own pack sizes of the same flavor (pack-ladder compression check)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7332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6601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regression windows where price moved &gt;40% in one week — likely a data artifact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estimate with confidence range (low / mid / high scenario)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when a competitor changes price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 (10% / 20% / 30%+)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SKUs with active competitive gaps or pack-ladder compression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4pk / 12pk side-by-side in the same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discount depth maximizes return?"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SPINS-attributed demand above non-promo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Denominator for lift ratio calculation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how promo-dependent a SKU 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the price concession driving lift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Response curves differ by channel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12pk cliff behavior differs from single bar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21024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367588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36758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6472" y="367588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Separate display support from pure price promotion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14216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6168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28853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 week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3600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6285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 — lift response curve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91032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83717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1846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511149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single bars and 12-packs have different optimal depths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5896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385816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discount depth where marginal lift no longer justifies additional margin give-up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for each past event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Training history for demand patterns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Normalize velocity to exclude distribution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Capture price-demand relationship in forecast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Separate promoted from non-promoted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Train separate model per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37560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" y="33924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70632" y="33924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2" y="339242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Derive seasonality index and calendar features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3075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76732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07822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400507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velocity to non-zero distribution weeks — eliminate false demand troughs from gaps in shelf presence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5254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27939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 signal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268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553712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a 12-month seasonality index from category-level raw monthly averages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0118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82803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the model learns baseline vs. promo-lifted demand separately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510235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a separate forecast per SKU × retailer — velocity at Kroger ≠ velocity at Target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44982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5376671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for SKUs with fewer than 8 weeks of selling history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projected demand if a promotion is planned in the forecast window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the 13-week category norm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seasonal lift or drag on the forecast period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19751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9751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1975104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distribution build week over week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03704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2585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2585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258568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 — store count × shelf presence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54203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0632" y="25420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2542032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Measure velocity independent of distribution level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770632"/>
            <a:ext cx="45720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28254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825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2825496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Anchor the ramp monitoring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54096"/>
            <a:ext cx="4572000" cy="28346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3108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108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3108960"/>
            <a:ext cx="11155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Track position in the launch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44728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48386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9476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72160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6908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99592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new SKU's ramp trajectory against category norms for the same pack type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434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427024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 — determines scoring timeline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6177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54456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920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818888"/>
            <a:ext cx="42245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the ramp period — avoids penalizing distribution-driven transfer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 8, 13, and 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 per store at maturity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it is stocked?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how similar BUILT or category launches ramped in the same retailer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Cannibalization scoring readiness — flag for when this SKU graduates to active scoring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Agenda &amp;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61848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Data Handoff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18488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Brian confirms 214-column SPINS extract and deposits to MinIO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1408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223113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Ingest &amp; 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31136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Rob ingests to spins_full; Aevah validates field coverage and new UPC gate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34056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8437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Q-Series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843784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Aevah runs Q0–Q22 Druid feature engineering; review output table row counts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46703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45643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P-Series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Aevah trains cannibalization, price elasticity, and rate forecast models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59352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0690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Scoring &amp; 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6908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Aevah scores and publishes to Druid; Mo UI connected and verified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6817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BUILT Walkthrough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681728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Live demo with Brian + Connor — cannibalization + price elasticity suites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84648"/>
            <a:ext cx="3474720" cy="50292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29437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FP&amp;A Handoff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5294376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F0"/>
                </a:solidFill>
                <a:latin typeface="Calibri"/>
              </a:rPr>
              <a:t>Connor receives forecast outputs; actuals data shared for backtesting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