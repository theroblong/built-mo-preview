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0"/>
            <a:ext cx="9144000" cy="365760"/>
          </a:xfrm>
          <a:prstGeom prst="rect">
            <a:avLst/>
          </a:prstGeom>
          <a:noFill/>
        </p:spPr>
        <p:txBody>
          <a:bodyPr wrap="square">
            <a:spAutoFit/>
          </a:bodyPr>
          <a:lstStyle/>
          <a:p>
            <a:pPr algn="l"/>
            <a:r>
              <a:rPr sz="900" b="1" i="0">
                <a:solidFill>
                  <a:srgbClr val="A0C0F0"/>
                </a:solidFill>
                <a:latin typeface="Calibri"/>
              </a:rPr>
              <a:t>MO BY AEVAH  ·  BUILT KICKOFF  ·  AUGUST 2026</a:t>
            </a:r>
          </a:p>
        </p:txBody>
      </p:sp>
      <p:sp>
        <p:nvSpPr>
          <p:cNvPr id="5" name="TextBox 4"/>
          <p:cNvSpPr txBox="1"/>
          <p:nvPr/>
        </p:nvSpPr>
        <p:spPr>
          <a:xfrm>
            <a:off x="457200" y="1234440"/>
            <a:ext cx="9144000" cy="1645920"/>
          </a:xfrm>
          <a:prstGeom prst="rect">
            <a:avLst/>
          </a:prstGeom>
          <a:noFill/>
        </p:spPr>
        <p:txBody>
          <a:bodyPr wrap="square">
            <a:spAutoFit/>
          </a:bodyPr>
          <a:lstStyle/>
          <a:p>
            <a:pPr algn="l"/>
            <a:r>
              <a:rPr sz="4200" b="1" i="0">
                <a:solidFill>
                  <a:srgbClr val="FFFFFF"/>
                </a:solidFill>
                <a:latin typeface="Calibri"/>
              </a:rPr>
              <a:t>How Mo Works
With Your Data</a:t>
            </a:r>
          </a:p>
        </p:txBody>
      </p:sp>
      <p:sp>
        <p:nvSpPr>
          <p:cNvPr id="6" name="TextBox 5"/>
          <p:cNvSpPr txBox="1"/>
          <p:nvPr/>
        </p:nvSpPr>
        <p:spPr>
          <a:xfrm>
            <a:off x="457200" y="3063240"/>
            <a:ext cx="7772400" cy="1097280"/>
          </a:xfrm>
          <a:prstGeom prst="rect">
            <a:avLst/>
          </a:prstGeom>
          <a:noFill/>
        </p:spPr>
        <p:txBody>
          <a:bodyPr wrap="square">
            <a:spAutoFit/>
          </a:bodyPr>
          <a:lstStyle/>
          <a:p>
            <a:pPr algn="l"/>
            <a:r>
              <a:rPr sz="1400" b="0" i="0">
                <a:solidFill>
                  <a:srgbClr val="A0C0F0"/>
                </a:solidFill>
                <a:latin typeface="Calibri"/>
              </a:rPr>
              <a:t>A walkthrough of the process behind each Mo intelligence module — what data it needs, where that data comes from, what operations are performed, and what appears on screen.</a:t>
            </a:r>
          </a:p>
        </p:txBody>
      </p:sp>
      <p:sp>
        <p:nvSpPr>
          <p:cNvPr id="7" name="Rectangle 6"/>
          <p:cNvSpPr/>
          <p:nvPr/>
        </p:nvSpPr>
        <p:spPr>
          <a:xfrm>
            <a:off x="457200" y="4343400"/>
            <a:ext cx="5486400" cy="2743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709160"/>
            <a:ext cx="1901951" cy="365760"/>
          </a:xfrm>
          <a:prstGeom prst="rect">
            <a:avLst/>
          </a:prstGeom>
          <a:noFill/>
        </p:spPr>
        <p:txBody>
          <a:bodyPr wrap="square">
            <a:spAutoFit/>
          </a:bodyPr>
          <a:lstStyle/>
          <a:p>
            <a:pPr algn="ctr"/>
            <a:r>
              <a:rPr sz="1000" b="1" i="0">
                <a:solidFill>
                  <a:srgbClr val="A0C0F0"/>
                </a:solidFill>
                <a:latin typeface="Calibri"/>
              </a:rPr>
              <a:t>Cannibalization Risk</a:t>
            </a:r>
          </a:p>
        </p:txBody>
      </p:sp>
      <p:sp>
        <p:nvSpPr>
          <p:cNvPr id="10" name="Rectangle 9"/>
          <p:cNvSpPr/>
          <p:nvPr/>
        </p:nvSpPr>
        <p:spPr>
          <a:xfrm>
            <a:off x="2560320"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51760" y="4709160"/>
            <a:ext cx="1901951" cy="365760"/>
          </a:xfrm>
          <a:prstGeom prst="rect">
            <a:avLst/>
          </a:prstGeom>
          <a:noFill/>
        </p:spPr>
        <p:txBody>
          <a:bodyPr wrap="square">
            <a:spAutoFit/>
          </a:bodyPr>
          <a:lstStyle/>
          <a:p>
            <a:pPr algn="ctr"/>
            <a:r>
              <a:rPr sz="1000" b="1" i="0">
                <a:solidFill>
                  <a:srgbClr val="A0C0F0"/>
                </a:solidFill>
                <a:latin typeface="Calibri"/>
              </a:rPr>
              <a:t>Price Elasticity</a:t>
            </a:r>
          </a:p>
        </p:txBody>
      </p:sp>
      <p:sp>
        <p:nvSpPr>
          <p:cNvPr id="12" name="Rectangle 11"/>
          <p:cNvSpPr/>
          <p:nvPr/>
        </p:nvSpPr>
        <p:spPr>
          <a:xfrm>
            <a:off x="4663440"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79" y="4709160"/>
            <a:ext cx="1901951" cy="365760"/>
          </a:xfrm>
          <a:prstGeom prst="rect">
            <a:avLst/>
          </a:prstGeom>
          <a:noFill/>
        </p:spPr>
        <p:txBody>
          <a:bodyPr wrap="square">
            <a:spAutoFit/>
          </a:bodyPr>
          <a:lstStyle/>
          <a:p>
            <a:pPr algn="ctr"/>
            <a:r>
              <a:rPr sz="1000" b="1" i="0">
                <a:solidFill>
                  <a:srgbClr val="A0C0F0"/>
                </a:solidFill>
                <a:latin typeface="Calibri"/>
              </a:rPr>
              <a:t>Promotional Response</a:t>
            </a:r>
          </a:p>
        </p:txBody>
      </p:sp>
      <p:sp>
        <p:nvSpPr>
          <p:cNvPr id="14" name="Rectangle 13"/>
          <p:cNvSpPr/>
          <p:nvPr/>
        </p:nvSpPr>
        <p:spPr>
          <a:xfrm>
            <a:off x="6766559"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7999" y="4709160"/>
            <a:ext cx="1901951" cy="365760"/>
          </a:xfrm>
          <a:prstGeom prst="rect">
            <a:avLst/>
          </a:prstGeom>
          <a:noFill/>
        </p:spPr>
        <p:txBody>
          <a:bodyPr wrap="square">
            <a:spAutoFit/>
          </a:bodyPr>
          <a:lstStyle/>
          <a:p>
            <a:pPr algn="ctr"/>
            <a:r>
              <a:rPr sz="1000" b="1" i="0">
                <a:solidFill>
                  <a:srgbClr val="A0C0F0"/>
                </a:solidFill>
                <a:latin typeface="Calibri"/>
              </a:rPr>
              <a:t>Demand Forecast</a:t>
            </a:r>
          </a:p>
        </p:txBody>
      </p:sp>
      <p:sp>
        <p:nvSpPr>
          <p:cNvPr id="16" name="Rectangle 15"/>
          <p:cNvSpPr/>
          <p:nvPr/>
        </p:nvSpPr>
        <p:spPr>
          <a:xfrm>
            <a:off x="8869680"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19" y="4709160"/>
            <a:ext cx="1901951" cy="365760"/>
          </a:xfrm>
          <a:prstGeom prst="rect">
            <a:avLst/>
          </a:prstGeom>
          <a:noFill/>
        </p:spPr>
        <p:txBody>
          <a:bodyPr wrap="square">
            <a:spAutoFit/>
          </a:bodyPr>
          <a:lstStyle/>
          <a:p>
            <a:pPr algn="ctr"/>
            <a:r>
              <a:rPr sz="1000" b="1" i="0">
                <a:solidFill>
                  <a:srgbClr val="A0C0F0"/>
                </a:solidFill>
                <a:latin typeface="Calibri"/>
              </a:rPr>
              <a:t>Launch Monitoring</a:t>
            </a:r>
          </a:p>
        </p:txBody>
      </p:sp>
      <p:sp>
        <p:nvSpPr>
          <p:cNvPr id="18" name="TextBox 17"/>
          <p:cNvSpPr txBox="1"/>
          <p:nvPr/>
        </p:nvSpPr>
        <p:spPr>
          <a:xfrm>
            <a:off x="8229600" y="6217920"/>
            <a:ext cx="3657600" cy="365760"/>
          </a:xfrm>
          <a:prstGeom prst="rect">
            <a:avLst/>
          </a:prstGeom>
          <a:noFill/>
        </p:spPr>
        <p:txBody>
          <a:bodyPr wrap="square">
            <a:spAutoFit/>
          </a:bodyPr>
          <a:lstStyle/>
          <a:p>
            <a:pPr algn="r"/>
            <a:r>
              <a:rPr sz="900" b="0" i="0">
                <a:solidFill>
                  <a:srgbClr val="6B7FA0"/>
                </a:solidFill>
                <a:latin typeface="Calibri"/>
              </a:rPr>
              <a:t>aevah.ai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9144000" cy="548640"/>
          </a:xfrm>
          <a:prstGeom prst="rect">
            <a:avLst/>
          </a:prstGeom>
          <a:noFill/>
        </p:spPr>
        <p:txBody>
          <a:bodyPr wrap="square">
            <a:spAutoFit/>
          </a:bodyPr>
          <a:lstStyle/>
          <a:p>
            <a:pPr algn="l"/>
            <a:r>
              <a:rPr sz="2400" b="1" i="0">
                <a:solidFill>
                  <a:srgbClr val="FFFFFF"/>
                </a:solidFill>
                <a:latin typeface="Calibri"/>
              </a:rPr>
              <a:t>The End-to-End Process</a:t>
            </a:r>
          </a:p>
        </p:txBody>
      </p:sp>
      <p:sp>
        <p:nvSpPr>
          <p:cNvPr id="6" name="TextBox 5"/>
          <p:cNvSpPr txBox="1"/>
          <p:nvPr/>
        </p:nvSpPr>
        <p:spPr>
          <a:xfrm>
            <a:off x="457200" y="1097280"/>
            <a:ext cx="11430000" cy="365760"/>
          </a:xfrm>
          <a:prstGeom prst="rect">
            <a:avLst/>
          </a:prstGeom>
          <a:noFill/>
        </p:spPr>
        <p:txBody>
          <a:bodyPr wrap="square">
            <a:spAutoFit/>
          </a:bodyPr>
          <a:lstStyle/>
          <a:p>
            <a:pPr algn="l"/>
            <a:r>
              <a:rPr sz="1150" b="0" i="0">
                <a:solidFill>
                  <a:srgbClr val="6B7FA0"/>
                </a:solidFill>
                <a:latin typeface="Calibri"/>
              </a:rPr>
              <a:t>Five stages from your SPINS export to decisions on screen — Aevah automates stages 2–4 so no manual steps are required once data is deposited.</a:t>
            </a:r>
          </a:p>
        </p:txBody>
      </p:sp>
      <p:sp>
        <p:nvSpPr>
          <p:cNvPr id="7" name="Rectangle 6"/>
          <p:cNvSpPr/>
          <p:nvPr/>
        </p:nvSpPr>
        <p:spPr>
          <a:xfrm>
            <a:off x="36576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1810512"/>
            <a:ext cx="1792224" cy="256032"/>
          </a:xfrm>
          <a:prstGeom prst="rect">
            <a:avLst/>
          </a:prstGeom>
          <a:noFill/>
        </p:spPr>
        <p:txBody>
          <a:bodyPr wrap="square">
            <a:spAutoFit/>
          </a:bodyPr>
          <a:lstStyle/>
          <a:p>
            <a:pPr algn="l"/>
            <a:r>
              <a:rPr sz="800" b="1" i="0">
                <a:solidFill>
                  <a:srgbClr val="A0C0F0"/>
                </a:solidFill>
                <a:latin typeface="Calibri"/>
              </a:rPr>
              <a:t>STAGE 1</a:t>
            </a:r>
          </a:p>
        </p:txBody>
      </p:sp>
      <p:sp>
        <p:nvSpPr>
          <p:cNvPr id="9" name="TextBox 8"/>
          <p:cNvSpPr txBox="1"/>
          <p:nvPr/>
        </p:nvSpPr>
        <p:spPr>
          <a:xfrm>
            <a:off x="475488" y="2066543"/>
            <a:ext cx="1792224" cy="502920"/>
          </a:xfrm>
          <a:prstGeom prst="rect">
            <a:avLst/>
          </a:prstGeom>
          <a:noFill/>
        </p:spPr>
        <p:txBody>
          <a:bodyPr wrap="square">
            <a:spAutoFit/>
          </a:bodyPr>
          <a:lstStyle/>
          <a:p>
            <a:pPr algn="l"/>
            <a:r>
              <a:rPr sz="1300" b="1" i="0">
                <a:solidFill>
                  <a:srgbClr val="FFFFFF"/>
                </a:solidFill>
                <a:latin typeface="Calibri"/>
              </a:rPr>
              <a:t>SPINS Export</a:t>
            </a:r>
          </a:p>
        </p:txBody>
      </p:sp>
      <p:sp>
        <p:nvSpPr>
          <p:cNvPr id="10" name="TextBox 9"/>
          <p:cNvSpPr txBox="1"/>
          <p:nvPr/>
        </p:nvSpPr>
        <p:spPr>
          <a:xfrm>
            <a:off x="475488" y="2560320"/>
            <a:ext cx="1792224" cy="274320"/>
          </a:xfrm>
          <a:prstGeom prst="rect">
            <a:avLst/>
          </a:prstGeom>
          <a:noFill/>
        </p:spPr>
        <p:txBody>
          <a:bodyPr wrap="square">
            <a:spAutoFit/>
          </a:bodyPr>
          <a:lstStyle/>
          <a:p>
            <a:pPr algn="l"/>
            <a:r>
              <a:rPr sz="850" b="1" i="0">
                <a:solidFill>
                  <a:srgbClr val="A0C0F0"/>
                </a:solidFill>
                <a:latin typeface="Calibri"/>
              </a:rPr>
              <a:t>BUILT Data Team</a:t>
            </a:r>
          </a:p>
        </p:txBody>
      </p:sp>
      <p:sp>
        <p:nvSpPr>
          <p:cNvPr id="11" name="TextBox 10"/>
          <p:cNvSpPr txBox="1"/>
          <p:nvPr/>
        </p:nvSpPr>
        <p:spPr>
          <a:xfrm>
            <a:off x="475488" y="2862072"/>
            <a:ext cx="1792224" cy="1280160"/>
          </a:xfrm>
          <a:prstGeom prst="rect">
            <a:avLst/>
          </a:prstGeom>
          <a:noFill/>
        </p:spPr>
        <p:txBody>
          <a:bodyPr wrap="square">
            <a:spAutoFit/>
          </a:bodyPr>
          <a:lstStyle/>
          <a:p>
            <a:pPr algn="l"/>
            <a:r>
              <a:rPr sz="900" b="0" i="0">
                <a:solidFill>
                  <a:srgbClr val="B0C8F0"/>
                </a:solidFill>
                <a:latin typeface="Calibri"/>
              </a:rPr>
              <a:t>214-column weekly POS extract deposited to shared MinIO storage</a:t>
            </a:r>
          </a:p>
        </p:txBody>
      </p:sp>
      <p:sp>
        <p:nvSpPr>
          <p:cNvPr id="12" name="TextBox 11"/>
          <p:cNvSpPr txBox="1"/>
          <p:nvPr/>
        </p:nvSpPr>
        <p:spPr>
          <a:xfrm>
            <a:off x="2395728" y="2816352"/>
            <a:ext cx="182880" cy="320040"/>
          </a:xfrm>
          <a:prstGeom prst="rect">
            <a:avLst/>
          </a:prstGeom>
          <a:noFill/>
        </p:spPr>
        <p:txBody>
          <a:bodyPr wrap="square">
            <a:spAutoFit/>
          </a:bodyPr>
          <a:lstStyle/>
          <a:p>
            <a:pPr algn="ctr"/>
            <a:r>
              <a:rPr sz="1800" b="1" i="0">
                <a:solidFill>
                  <a:srgbClr val="4078D0"/>
                </a:solidFill>
                <a:latin typeface="Calibri"/>
              </a:rPr>
              <a:t>→</a:t>
            </a:r>
          </a:p>
        </p:txBody>
      </p:sp>
      <p:sp>
        <p:nvSpPr>
          <p:cNvPr id="13" name="Rectangle 12"/>
          <p:cNvSpPr/>
          <p:nvPr/>
        </p:nvSpPr>
        <p:spPr>
          <a:xfrm>
            <a:off x="256032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70048" y="1810512"/>
            <a:ext cx="1792224" cy="256032"/>
          </a:xfrm>
          <a:prstGeom prst="rect">
            <a:avLst/>
          </a:prstGeom>
          <a:noFill/>
        </p:spPr>
        <p:txBody>
          <a:bodyPr wrap="square">
            <a:spAutoFit/>
          </a:bodyPr>
          <a:lstStyle/>
          <a:p>
            <a:pPr algn="l"/>
            <a:r>
              <a:rPr sz="800" b="1" i="0">
                <a:solidFill>
                  <a:srgbClr val="A0C0F0"/>
                </a:solidFill>
                <a:latin typeface="Calibri"/>
              </a:rPr>
              <a:t>STAGE 2</a:t>
            </a:r>
          </a:p>
        </p:txBody>
      </p:sp>
      <p:sp>
        <p:nvSpPr>
          <p:cNvPr id="15" name="TextBox 14"/>
          <p:cNvSpPr txBox="1"/>
          <p:nvPr/>
        </p:nvSpPr>
        <p:spPr>
          <a:xfrm>
            <a:off x="2670048" y="2066543"/>
            <a:ext cx="1792224" cy="502920"/>
          </a:xfrm>
          <a:prstGeom prst="rect">
            <a:avLst/>
          </a:prstGeom>
          <a:noFill/>
        </p:spPr>
        <p:txBody>
          <a:bodyPr wrap="square">
            <a:spAutoFit/>
          </a:bodyPr>
          <a:lstStyle/>
          <a:p>
            <a:pPr algn="l"/>
            <a:r>
              <a:rPr sz="1300" b="1" i="0">
                <a:solidFill>
                  <a:srgbClr val="FFFFFF"/>
                </a:solidFill>
                <a:latin typeface="Calibri"/>
              </a:rPr>
              <a:t>Data Ingest</a:t>
            </a:r>
          </a:p>
        </p:txBody>
      </p:sp>
      <p:sp>
        <p:nvSpPr>
          <p:cNvPr id="16" name="TextBox 15"/>
          <p:cNvSpPr txBox="1"/>
          <p:nvPr/>
        </p:nvSpPr>
        <p:spPr>
          <a:xfrm>
            <a:off x="2670048" y="2560320"/>
            <a:ext cx="1792224" cy="274320"/>
          </a:xfrm>
          <a:prstGeom prst="rect">
            <a:avLst/>
          </a:prstGeom>
          <a:noFill/>
        </p:spPr>
        <p:txBody>
          <a:bodyPr wrap="square">
            <a:spAutoFit/>
          </a:bodyPr>
          <a:lstStyle/>
          <a:p>
            <a:pPr algn="l"/>
            <a:r>
              <a:rPr sz="850" b="1" i="0">
                <a:solidFill>
                  <a:srgbClr val="A0C0F0"/>
                </a:solidFill>
                <a:latin typeface="Calibri"/>
              </a:rPr>
              <a:t>Aevah — automated</a:t>
            </a:r>
          </a:p>
        </p:txBody>
      </p:sp>
      <p:sp>
        <p:nvSpPr>
          <p:cNvPr id="17" name="TextBox 16"/>
          <p:cNvSpPr txBox="1"/>
          <p:nvPr/>
        </p:nvSpPr>
        <p:spPr>
          <a:xfrm>
            <a:off x="2670048" y="2862072"/>
            <a:ext cx="1792224" cy="1280160"/>
          </a:xfrm>
          <a:prstGeom prst="rect">
            <a:avLst/>
          </a:prstGeom>
          <a:noFill/>
        </p:spPr>
        <p:txBody>
          <a:bodyPr wrap="square">
            <a:spAutoFit/>
          </a:bodyPr>
          <a:lstStyle/>
          <a:p>
            <a:pPr algn="l"/>
            <a:r>
              <a:rPr sz="900" b="0" i="0">
                <a:solidFill>
                  <a:srgbClr val="B0C8F0"/>
                </a:solidFill>
                <a:latin typeface="Calibri"/>
              </a:rPr>
              <a:t>File-watch trigger detects new export; quality gates applied; incremental load only</a:t>
            </a:r>
          </a:p>
        </p:txBody>
      </p:sp>
      <p:sp>
        <p:nvSpPr>
          <p:cNvPr id="18" name="TextBox 17"/>
          <p:cNvSpPr txBox="1"/>
          <p:nvPr/>
        </p:nvSpPr>
        <p:spPr>
          <a:xfrm>
            <a:off x="4590288" y="2816352"/>
            <a:ext cx="182880" cy="320040"/>
          </a:xfrm>
          <a:prstGeom prst="rect">
            <a:avLst/>
          </a:prstGeom>
          <a:noFill/>
        </p:spPr>
        <p:txBody>
          <a:bodyPr wrap="square">
            <a:spAutoFit/>
          </a:bodyPr>
          <a:lstStyle/>
          <a:p>
            <a:pPr algn="ctr"/>
            <a:r>
              <a:rPr sz="1800" b="1" i="0">
                <a:solidFill>
                  <a:srgbClr val="4078D0"/>
                </a:solidFill>
                <a:latin typeface="Calibri"/>
              </a:rPr>
              <a:t>→</a:t>
            </a:r>
          </a:p>
        </p:txBody>
      </p:sp>
      <p:sp>
        <p:nvSpPr>
          <p:cNvPr id="19" name="Rectangle 18"/>
          <p:cNvSpPr/>
          <p:nvPr/>
        </p:nvSpPr>
        <p:spPr>
          <a:xfrm>
            <a:off x="475488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64608" y="1810512"/>
            <a:ext cx="1792224" cy="256032"/>
          </a:xfrm>
          <a:prstGeom prst="rect">
            <a:avLst/>
          </a:prstGeom>
          <a:noFill/>
        </p:spPr>
        <p:txBody>
          <a:bodyPr wrap="square">
            <a:spAutoFit/>
          </a:bodyPr>
          <a:lstStyle/>
          <a:p>
            <a:pPr algn="l"/>
            <a:r>
              <a:rPr sz="800" b="1" i="0">
                <a:solidFill>
                  <a:srgbClr val="A0C0F0"/>
                </a:solidFill>
                <a:latin typeface="Calibri"/>
              </a:rPr>
              <a:t>STAGE 3</a:t>
            </a:r>
          </a:p>
        </p:txBody>
      </p:sp>
      <p:sp>
        <p:nvSpPr>
          <p:cNvPr id="21" name="TextBox 20"/>
          <p:cNvSpPr txBox="1"/>
          <p:nvPr/>
        </p:nvSpPr>
        <p:spPr>
          <a:xfrm>
            <a:off x="4864608" y="2066543"/>
            <a:ext cx="1792224" cy="502920"/>
          </a:xfrm>
          <a:prstGeom prst="rect">
            <a:avLst/>
          </a:prstGeom>
          <a:noFill/>
        </p:spPr>
        <p:txBody>
          <a:bodyPr wrap="square">
            <a:spAutoFit/>
          </a:bodyPr>
          <a:lstStyle/>
          <a:p>
            <a:pPr algn="l"/>
            <a:r>
              <a:rPr sz="1300" b="1" i="0">
                <a:solidFill>
                  <a:srgbClr val="FFFFFF"/>
                </a:solidFill>
                <a:latin typeface="Calibri"/>
              </a:rPr>
              <a:t>Feature
Engineering</a:t>
            </a:r>
          </a:p>
        </p:txBody>
      </p:sp>
      <p:sp>
        <p:nvSpPr>
          <p:cNvPr id="22" name="TextBox 21"/>
          <p:cNvSpPr txBox="1"/>
          <p:nvPr/>
        </p:nvSpPr>
        <p:spPr>
          <a:xfrm>
            <a:off x="4864608" y="2560320"/>
            <a:ext cx="1792224" cy="274320"/>
          </a:xfrm>
          <a:prstGeom prst="rect">
            <a:avLst/>
          </a:prstGeom>
          <a:noFill/>
        </p:spPr>
        <p:txBody>
          <a:bodyPr wrap="square">
            <a:spAutoFit/>
          </a:bodyPr>
          <a:lstStyle/>
          <a:p>
            <a:pPr algn="l"/>
            <a:r>
              <a:rPr sz="850" b="1" i="0">
                <a:solidFill>
                  <a:srgbClr val="A0C0F0"/>
                </a:solidFill>
                <a:latin typeface="Calibri"/>
              </a:rPr>
              <a:t>Aevah — automated</a:t>
            </a:r>
          </a:p>
        </p:txBody>
      </p:sp>
      <p:sp>
        <p:nvSpPr>
          <p:cNvPr id="23" name="TextBox 22"/>
          <p:cNvSpPr txBox="1"/>
          <p:nvPr/>
        </p:nvSpPr>
        <p:spPr>
          <a:xfrm>
            <a:off x="4864608" y="2862072"/>
            <a:ext cx="1792224" cy="1280160"/>
          </a:xfrm>
          <a:prstGeom prst="rect">
            <a:avLst/>
          </a:prstGeom>
          <a:noFill/>
        </p:spPr>
        <p:txBody>
          <a:bodyPr wrap="square">
            <a:spAutoFit/>
          </a:bodyPr>
          <a:lstStyle/>
          <a:p>
            <a:pPr algn="l"/>
            <a:r>
              <a:rPr sz="900" b="0" i="0">
                <a:solidFill>
                  <a:srgbClr val="B0C8F0"/>
                </a:solidFill>
                <a:latin typeface="Calibri"/>
              </a:rPr>
              <a:t>Q-series SQL chains compress raw rows into ML-ready feature tables per module</a:t>
            </a:r>
          </a:p>
        </p:txBody>
      </p:sp>
      <p:sp>
        <p:nvSpPr>
          <p:cNvPr id="24" name="TextBox 23"/>
          <p:cNvSpPr txBox="1"/>
          <p:nvPr/>
        </p:nvSpPr>
        <p:spPr>
          <a:xfrm>
            <a:off x="6784848" y="2816352"/>
            <a:ext cx="182880" cy="320040"/>
          </a:xfrm>
          <a:prstGeom prst="rect">
            <a:avLst/>
          </a:prstGeom>
          <a:noFill/>
        </p:spPr>
        <p:txBody>
          <a:bodyPr wrap="square">
            <a:spAutoFit/>
          </a:bodyPr>
          <a:lstStyle/>
          <a:p>
            <a:pPr algn="ctr"/>
            <a:r>
              <a:rPr sz="1800" b="1" i="0">
                <a:solidFill>
                  <a:srgbClr val="4078D0"/>
                </a:solidFill>
                <a:latin typeface="Calibri"/>
              </a:rPr>
              <a:t>→</a:t>
            </a:r>
          </a:p>
        </p:txBody>
      </p:sp>
      <p:sp>
        <p:nvSpPr>
          <p:cNvPr id="25" name="Rectangle 24"/>
          <p:cNvSpPr/>
          <p:nvPr/>
        </p:nvSpPr>
        <p:spPr>
          <a:xfrm>
            <a:off x="694944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9168" y="1810512"/>
            <a:ext cx="1792224" cy="256032"/>
          </a:xfrm>
          <a:prstGeom prst="rect">
            <a:avLst/>
          </a:prstGeom>
          <a:noFill/>
        </p:spPr>
        <p:txBody>
          <a:bodyPr wrap="square">
            <a:spAutoFit/>
          </a:bodyPr>
          <a:lstStyle/>
          <a:p>
            <a:pPr algn="l"/>
            <a:r>
              <a:rPr sz="800" b="1" i="0">
                <a:solidFill>
                  <a:srgbClr val="A0C0F0"/>
                </a:solidFill>
                <a:latin typeface="Calibri"/>
              </a:rPr>
              <a:t>STAGE 4</a:t>
            </a:r>
          </a:p>
        </p:txBody>
      </p:sp>
      <p:sp>
        <p:nvSpPr>
          <p:cNvPr id="27" name="TextBox 26"/>
          <p:cNvSpPr txBox="1"/>
          <p:nvPr/>
        </p:nvSpPr>
        <p:spPr>
          <a:xfrm>
            <a:off x="7059168" y="2066543"/>
            <a:ext cx="1792224" cy="502920"/>
          </a:xfrm>
          <a:prstGeom prst="rect">
            <a:avLst/>
          </a:prstGeom>
          <a:noFill/>
        </p:spPr>
        <p:txBody>
          <a:bodyPr wrap="square">
            <a:spAutoFit/>
          </a:bodyPr>
          <a:lstStyle/>
          <a:p>
            <a:pPr algn="l"/>
            <a:r>
              <a:rPr sz="1300" b="1" i="0">
                <a:solidFill>
                  <a:srgbClr val="FFFFFF"/>
                </a:solidFill>
                <a:latin typeface="Calibri"/>
              </a:rPr>
              <a:t>Model Training
&amp; Scoring</a:t>
            </a:r>
          </a:p>
        </p:txBody>
      </p:sp>
      <p:sp>
        <p:nvSpPr>
          <p:cNvPr id="28" name="TextBox 27"/>
          <p:cNvSpPr txBox="1"/>
          <p:nvPr/>
        </p:nvSpPr>
        <p:spPr>
          <a:xfrm>
            <a:off x="7059168" y="2560320"/>
            <a:ext cx="1792224" cy="274320"/>
          </a:xfrm>
          <a:prstGeom prst="rect">
            <a:avLst/>
          </a:prstGeom>
          <a:noFill/>
        </p:spPr>
        <p:txBody>
          <a:bodyPr wrap="square">
            <a:spAutoFit/>
          </a:bodyPr>
          <a:lstStyle/>
          <a:p>
            <a:pPr algn="l"/>
            <a:r>
              <a:rPr sz="850" b="1" i="0">
                <a:solidFill>
                  <a:srgbClr val="A0C0F0"/>
                </a:solidFill>
                <a:latin typeface="Calibri"/>
              </a:rPr>
              <a:t>Aevah — automated</a:t>
            </a:r>
          </a:p>
        </p:txBody>
      </p:sp>
      <p:sp>
        <p:nvSpPr>
          <p:cNvPr id="29" name="TextBox 28"/>
          <p:cNvSpPr txBox="1"/>
          <p:nvPr/>
        </p:nvSpPr>
        <p:spPr>
          <a:xfrm>
            <a:off x="7059168" y="2862072"/>
            <a:ext cx="1792224" cy="1280160"/>
          </a:xfrm>
          <a:prstGeom prst="rect">
            <a:avLst/>
          </a:prstGeom>
          <a:noFill/>
        </p:spPr>
        <p:txBody>
          <a:bodyPr wrap="square">
            <a:spAutoFit/>
          </a:bodyPr>
          <a:lstStyle/>
          <a:p>
            <a:pPr algn="l"/>
            <a:r>
              <a:rPr sz="900" b="0" i="0">
                <a:solidFill>
                  <a:srgbClr val="B0C8F0"/>
                </a:solidFill>
                <a:latin typeface="Calibri"/>
              </a:rPr>
              <a:t>Models retrain on drift/schedule; scores written to Druid; smoke-test gates at each stage</a:t>
            </a:r>
          </a:p>
        </p:txBody>
      </p:sp>
      <p:sp>
        <p:nvSpPr>
          <p:cNvPr id="30" name="TextBox 29"/>
          <p:cNvSpPr txBox="1"/>
          <p:nvPr/>
        </p:nvSpPr>
        <p:spPr>
          <a:xfrm>
            <a:off x="8979408" y="2816352"/>
            <a:ext cx="182880" cy="320040"/>
          </a:xfrm>
          <a:prstGeom prst="rect">
            <a:avLst/>
          </a:prstGeom>
          <a:noFill/>
        </p:spPr>
        <p:txBody>
          <a:bodyPr wrap="square">
            <a:spAutoFit/>
          </a:bodyPr>
          <a:lstStyle/>
          <a:p>
            <a:pPr algn="ctr"/>
            <a:r>
              <a:rPr sz="1800" b="1" i="0">
                <a:solidFill>
                  <a:srgbClr val="4078D0"/>
                </a:solidFill>
                <a:latin typeface="Calibri"/>
              </a:rPr>
              <a:t>→</a:t>
            </a:r>
          </a:p>
        </p:txBody>
      </p:sp>
      <p:sp>
        <p:nvSpPr>
          <p:cNvPr id="31" name="Rectangle 30"/>
          <p:cNvSpPr/>
          <p:nvPr/>
        </p:nvSpPr>
        <p:spPr>
          <a:xfrm>
            <a:off x="914400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10512"/>
            <a:ext cx="1792224" cy="256032"/>
          </a:xfrm>
          <a:prstGeom prst="rect">
            <a:avLst/>
          </a:prstGeom>
          <a:noFill/>
        </p:spPr>
        <p:txBody>
          <a:bodyPr wrap="square">
            <a:spAutoFit/>
          </a:bodyPr>
          <a:lstStyle/>
          <a:p>
            <a:pPr algn="l"/>
            <a:r>
              <a:rPr sz="800" b="1" i="0">
                <a:solidFill>
                  <a:srgbClr val="A0C0F0"/>
                </a:solidFill>
                <a:latin typeface="Calibri"/>
              </a:rPr>
              <a:t>STAGE 5</a:t>
            </a:r>
          </a:p>
        </p:txBody>
      </p:sp>
      <p:sp>
        <p:nvSpPr>
          <p:cNvPr id="33" name="TextBox 32"/>
          <p:cNvSpPr txBox="1"/>
          <p:nvPr/>
        </p:nvSpPr>
        <p:spPr>
          <a:xfrm>
            <a:off x="9253728" y="2066543"/>
            <a:ext cx="1792224" cy="502920"/>
          </a:xfrm>
          <a:prstGeom prst="rect">
            <a:avLst/>
          </a:prstGeom>
          <a:noFill/>
        </p:spPr>
        <p:txBody>
          <a:bodyPr wrap="square">
            <a:spAutoFit/>
          </a:bodyPr>
          <a:lstStyle/>
          <a:p>
            <a:pPr algn="l"/>
            <a:r>
              <a:rPr sz="1300" b="1" i="0">
                <a:solidFill>
                  <a:srgbClr val="FFFFFF"/>
                </a:solidFill>
                <a:latin typeface="Calibri"/>
              </a:rPr>
              <a:t>Mo UI</a:t>
            </a:r>
          </a:p>
        </p:txBody>
      </p:sp>
      <p:sp>
        <p:nvSpPr>
          <p:cNvPr id="34" name="TextBox 33"/>
          <p:cNvSpPr txBox="1"/>
          <p:nvPr/>
        </p:nvSpPr>
        <p:spPr>
          <a:xfrm>
            <a:off x="9253728" y="2560320"/>
            <a:ext cx="1792224" cy="274320"/>
          </a:xfrm>
          <a:prstGeom prst="rect">
            <a:avLst/>
          </a:prstGeom>
          <a:noFill/>
        </p:spPr>
        <p:txBody>
          <a:bodyPr wrap="square">
            <a:spAutoFit/>
          </a:bodyPr>
          <a:lstStyle/>
          <a:p>
            <a:pPr algn="l"/>
            <a:r>
              <a:rPr sz="850" b="1" i="0">
                <a:solidFill>
                  <a:srgbClr val="A0C0F0"/>
                </a:solidFill>
                <a:latin typeface="Calibri"/>
              </a:rPr>
              <a:t>BUILT Team</a:t>
            </a:r>
          </a:p>
        </p:txBody>
      </p:sp>
      <p:sp>
        <p:nvSpPr>
          <p:cNvPr id="35" name="TextBox 34"/>
          <p:cNvSpPr txBox="1"/>
          <p:nvPr/>
        </p:nvSpPr>
        <p:spPr>
          <a:xfrm>
            <a:off x="9253728" y="2862072"/>
            <a:ext cx="1792224" cy="1280160"/>
          </a:xfrm>
          <a:prstGeom prst="rect">
            <a:avLst/>
          </a:prstGeom>
          <a:noFill/>
        </p:spPr>
        <p:txBody>
          <a:bodyPr wrap="square">
            <a:spAutoFit/>
          </a:bodyPr>
          <a:lstStyle/>
          <a:p>
            <a:pPr algn="l"/>
            <a:r>
              <a:rPr sz="900" b="0" i="0">
                <a:solidFill>
                  <a:srgbClr val="B0C8F0"/>
                </a:solidFill>
                <a:latin typeface="Calibri"/>
              </a:rPr>
              <a:t>Two data layers: ML projections (forecast) + live context data (actuals at render time)</a:t>
            </a:r>
          </a:p>
        </p:txBody>
      </p:sp>
      <p:sp>
        <p:nvSpPr>
          <p:cNvPr id="36" name="Rectangle 35"/>
          <p:cNvSpPr/>
          <p:nvPr/>
        </p:nvSpPr>
        <p:spPr>
          <a:xfrm>
            <a:off x="365760" y="4663440"/>
            <a:ext cx="11430000" cy="1051560"/>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27448"/>
            <a:ext cx="10972800" cy="256032"/>
          </a:xfrm>
          <a:prstGeom prst="rect">
            <a:avLst/>
          </a:prstGeom>
          <a:noFill/>
        </p:spPr>
        <p:txBody>
          <a:bodyPr wrap="square">
            <a:spAutoFit/>
          </a:bodyPr>
          <a:lstStyle/>
          <a:p>
            <a:pPr algn="l"/>
            <a:r>
              <a:rPr sz="800" b="1" i="0">
                <a:solidFill>
                  <a:srgbClr val="4078D0"/>
                </a:solidFill>
                <a:latin typeface="Calibri"/>
              </a:rPr>
              <a:t>KEY PRINCIPLE</a:t>
            </a:r>
          </a:p>
        </p:txBody>
      </p:sp>
      <p:sp>
        <p:nvSpPr>
          <p:cNvPr id="38" name="TextBox 37"/>
          <p:cNvSpPr txBox="1"/>
          <p:nvPr/>
        </p:nvSpPr>
        <p:spPr>
          <a:xfrm>
            <a:off x="548640" y="4983480"/>
            <a:ext cx="10972800" cy="640080"/>
          </a:xfrm>
          <a:prstGeom prst="rect">
            <a:avLst/>
          </a:prstGeom>
          <a:noFill/>
        </p:spPr>
        <p:txBody>
          <a:bodyPr wrap="square">
            <a:spAutoFit/>
          </a:bodyPr>
          <a:lstStyle/>
          <a:p>
            <a:pPr algn="l"/>
            <a:r>
              <a:rPr sz="1050" b="0" i="0">
                <a:solidFill>
                  <a:srgbClr val="111827"/>
                </a:solidFill>
                <a:latin typeface="Calibri"/>
              </a:rPr>
              <a:t>Every Mo screen draws from two distinct sources: ML scoring tables (what the model forecasts, written in Stage 4) and live Druid queries (actual component data queried at render time). These have separate lineage and must never be blended. See: mo_decisions_register — COV-04.</a:t>
            </a:r>
          </a:p>
        </p:txBody>
      </p:sp>
      <p:sp>
        <p:nvSpPr>
          <p:cNvPr id="39" name="TextBox 38"/>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9144000" cy="548640"/>
          </a:xfrm>
          <a:prstGeom prst="rect">
            <a:avLst/>
          </a:prstGeom>
          <a:noFill/>
        </p:spPr>
        <p:txBody>
          <a:bodyPr wrap="square">
            <a:spAutoFit/>
          </a:bodyPr>
          <a:lstStyle/>
          <a:p>
            <a:pPr algn="l"/>
            <a:r>
              <a:rPr sz="2400" b="1" i="0">
                <a:solidFill>
                  <a:srgbClr val="FFFFFF"/>
                </a:solidFill>
                <a:latin typeface="Calibri"/>
              </a:rPr>
              <a:t>Reference Documents</a:t>
            </a:r>
          </a:p>
        </p:txBody>
      </p:sp>
      <p:sp>
        <p:nvSpPr>
          <p:cNvPr id="6" name="TextBox 5"/>
          <p:cNvSpPr txBox="1"/>
          <p:nvPr/>
        </p:nvSpPr>
        <p:spPr>
          <a:xfrm>
            <a:off x="457200" y="658368"/>
            <a:ext cx="10972800" cy="292608"/>
          </a:xfrm>
          <a:prstGeom prst="rect">
            <a:avLst/>
          </a:prstGeom>
          <a:noFill/>
        </p:spPr>
        <p:txBody>
          <a:bodyPr wrap="square">
            <a:spAutoFit/>
          </a:bodyPr>
          <a:lstStyle/>
          <a:p>
            <a:pPr algn="l"/>
            <a:r>
              <a:rPr sz="1100" b="0" i="0">
                <a:solidFill>
                  <a:srgbClr val="A0C0F0"/>
                </a:solidFill>
                <a:latin typeface="Calibri"/>
              </a:rPr>
              <a:t>Four living artifacts — updated as the project evolves. Open any time for the current state of the pipeline, decisions, and automation design.</a:t>
            </a:r>
          </a:p>
        </p:txBody>
      </p:sp>
      <p:sp>
        <p:nvSpPr>
          <p:cNvPr id="7" name="Rectangle 6"/>
          <p:cNvSpPr/>
          <p:nvPr/>
        </p:nvSpPr>
        <p:spPr>
          <a:xfrm>
            <a:off x="384048" y="1188720"/>
            <a:ext cx="2743200" cy="493776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188720"/>
            <a:ext cx="2743200" cy="50292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 y="1280160"/>
            <a:ext cx="2523744" cy="347472"/>
          </a:xfrm>
          <a:prstGeom prst="rect">
            <a:avLst/>
          </a:prstGeom>
          <a:noFill/>
        </p:spPr>
        <p:txBody>
          <a:bodyPr wrap="square">
            <a:spAutoFit/>
          </a:bodyPr>
          <a:lstStyle/>
          <a:p>
            <a:pPr algn="l"/>
            <a:r>
              <a:rPr sz="1150" b="1" i="0">
                <a:solidFill>
                  <a:srgbClr val="FFFFFF"/>
                </a:solidFill>
                <a:latin typeface="Calibri"/>
              </a:rPr>
              <a:t>Customer-Facing Overview</a:t>
            </a:r>
          </a:p>
        </p:txBody>
      </p:sp>
      <p:sp>
        <p:nvSpPr>
          <p:cNvPr id="10" name="Rectangle 9"/>
          <p:cNvSpPr/>
          <p:nvPr/>
        </p:nvSpPr>
        <p:spPr>
          <a:xfrm>
            <a:off x="493776" y="1783080"/>
            <a:ext cx="2523744" cy="256032"/>
          </a:xfrm>
          <a:prstGeom prst="rect">
            <a:avLst/>
          </a:prstGeom>
          <a:solidFill>
            <a:srgbClr val="EE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9656"/>
            <a:ext cx="2414016" cy="201168"/>
          </a:xfrm>
          <a:prstGeom prst="rect">
            <a:avLst/>
          </a:prstGeom>
          <a:noFill/>
        </p:spPr>
        <p:txBody>
          <a:bodyPr wrap="square">
            <a:spAutoFit/>
          </a:bodyPr>
          <a:lstStyle/>
          <a:p>
            <a:pPr algn="l"/>
            <a:r>
              <a:rPr sz="800" b="1" i="0">
                <a:solidFill>
                  <a:srgbClr val="1B3566"/>
                </a:solidFill>
                <a:latin typeface="Calibri"/>
              </a:rPr>
              <a:t>mo_data_ops_customer.html</a:t>
            </a:r>
          </a:p>
        </p:txBody>
      </p:sp>
      <p:sp>
        <p:nvSpPr>
          <p:cNvPr id="12" name="TextBox 11"/>
          <p:cNvSpPr txBox="1"/>
          <p:nvPr/>
        </p:nvSpPr>
        <p:spPr>
          <a:xfrm>
            <a:off x="493776" y="2157984"/>
            <a:ext cx="2523744" cy="1463040"/>
          </a:xfrm>
          <a:prstGeom prst="rect">
            <a:avLst/>
          </a:prstGeom>
          <a:noFill/>
        </p:spPr>
        <p:txBody>
          <a:bodyPr wrap="square">
            <a:spAutoFit/>
          </a:bodyPr>
          <a:lstStyle/>
          <a:p>
            <a:pPr algn="l"/>
            <a:r>
              <a:rPr sz="950" b="0" i="0">
                <a:solidFill>
                  <a:srgbClr val="3A4B6B"/>
                </a:solidFill>
                <a:latin typeface="Calibri"/>
              </a:rPr>
              <a:t>Module-by-module walkthrough for the BUILT team — what data each simulation needs, what operations are performed, and what Mo displays. No implementation detail.</a:t>
            </a:r>
          </a:p>
        </p:txBody>
      </p:sp>
      <p:sp>
        <p:nvSpPr>
          <p:cNvPr id="13" name="TextBox 12"/>
          <p:cNvSpPr txBox="1"/>
          <p:nvPr/>
        </p:nvSpPr>
        <p:spPr>
          <a:xfrm>
            <a:off x="493776" y="3703320"/>
            <a:ext cx="822960" cy="256032"/>
          </a:xfrm>
          <a:prstGeom prst="rect">
            <a:avLst/>
          </a:prstGeom>
          <a:noFill/>
        </p:spPr>
        <p:txBody>
          <a:bodyPr wrap="square">
            <a:spAutoFit/>
          </a:bodyPr>
          <a:lstStyle/>
          <a:p>
            <a:pPr algn="l"/>
            <a:r>
              <a:rPr sz="800" b="1" i="0">
                <a:solidFill>
                  <a:srgbClr val="6B7FA0"/>
                </a:solidFill>
                <a:latin typeface="Calibri"/>
              </a:rPr>
              <a:t>Audience:</a:t>
            </a:r>
          </a:p>
        </p:txBody>
      </p:sp>
      <p:sp>
        <p:nvSpPr>
          <p:cNvPr id="14" name="TextBox 13"/>
          <p:cNvSpPr txBox="1"/>
          <p:nvPr/>
        </p:nvSpPr>
        <p:spPr>
          <a:xfrm>
            <a:off x="1298448" y="3703320"/>
            <a:ext cx="1737360" cy="256032"/>
          </a:xfrm>
          <a:prstGeom prst="rect">
            <a:avLst/>
          </a:prstGeom>
          <a:noFill/>
        </p:spPr>
        <p:txBody>
          <a:bodyPr wrap="square">
            <a:spAutoFit/>
          </a:bodyPr>
          <a:lstStyle/>
          <a:p>
            <a:pPr algn="l"/>
            <a:r>
              <a:rPr sz="800" b="0" i="0">
                <a:solidFill>
                  <a:srgbClr val="111827"/>
                </a:solidFill>
                <a:latin typeface="Calibri"/>
              </a:rPr>
              <a:t>Brian, Connor</a:t>
            </a:r>
          </a:p>
        </p:txBody>
      </p:sp>
      <p:sp>
        <p:nvSpPr>
          <p:cNvPr id="15" name="TextBox 14"/>
          <p:cNvSpPr txBox="1"/>
          <p:nvPr/>
        </p:nvSpPr>
        <p:spPr>
          <a:xfrm>
            <a:off x="493776" y="3995928"/>
            <a:ext cx="822960" cy="256032"/>
          </a:xfrm>
          <a:prstGeom prst="rect">
            <a:avLst/>
          </a:prstGeom>
          <a:noFill/>
        </p:spPr>
        <p:txBody>
          <a:bodyPr wrap="square">
            <a:spAutoFit/>
          </a:bodyPr>
          <a:lstStyle/>
          <a:p>
            <a:pPr algn="l"/>
            <a:r>
              <a:rPr sz="800" b="1" i="0">
                <a:solidFill>
                  <a:srgbClr val="6B7FA0"/>
                </a:solidFill>
                <a:latin typeface="Calibri"/>
              </a:rPr>
              <a:t>Format:</a:t>
            </a:r>
          </a:p>
        </p:txBody>
      </p:sp>
      <p:sp>
        <p:nvSpPr>
          <p:cNvPr id="16" name="TextBox 15"/>
          <p:cNvSpPr txBox="1"/>
          <p:nvPr/>
        </p:nvSpPr>
        <p:spPr>
          <a:xfrm>
            <a:off x="1298448" y="3995928"/>
            <a:ext cx="1737360" cy="256032"/>
          </a:xfrm>
          <a:prstGeom prst="rect">
            <a:avLst/>
          </a:prstGeom>
          <a:noFill/>
        </p:spPr>
        <p:txBody>
          <a:bodyPr wrap="square">
            <a:spAutoFit/>
          </a:bodyPr>
          <a:lstStyle/>
          <a:p>
            <a:pPr algn="l"/>
            <a:r>
              <a:rPr sz="800" b="0" i="0">
                <a:solidFill>
                  <a:srgbClr val="111827"/>
                </a:solidFill>
                <a:latin typeface="Calibri"/>
              </a:rPr>
              <a:t>HTML artifact</a:t>
            </a:r>
          </a:p>
        </p:txBody>
      </p:sp>
      <p:sp>
        <p:nvSpPr>
          <p:cNvPr id="17" name="TextBox 16"/>
          <p:cNvSpPr txBox="1"/>
          <p:nvPr/>
        </p:nvSpPr>
        <p:spPr>
          <a:xfrm>
            <a:off x="493776" y="4288536"/>
            <a:ext cx="822960" cy="256032"/>
          </a:xfrm>
          <a:prstGeom prst="rect">
            <a:avLst/>
          </a:prstGeom>
          <a:noFill/>
        </p:spPr>
        <p:txBody>
          <a:bodyPr wrap="square">
            <a:spAutoFit/>
          </a:bodyPr>
          <a:lstStyle/>
          <a:p>
            <a:pPr algn="l"/>
            <a:r>
              <a:rPr sz="800" b="1" i="0">
                <a:solidFill>
                  <a:srgbClr val="6B7FA0"/>
                </a:solidFill>
                <a:latin typeface="Calibri"/>
              </a:rPr>
              <a:t>Covers:</a:t>
            </a:r>
          </a:p>
        </p:txBody>
      </p:sp>
      <p:sp>
        <p:nvSpPr>
          <p:cNvPr id="18" name="TextBox 17"/>
          <p:cNvSpPr txBox="1"/>
          <p:nvPr/>
        </p:nvSpPr>
        <p:spPr>
          <a:xfrm>
            <a:off x="1298448" y="4288536"/>
            <a:ext cx="1737360" cy="256032"/>
          </a:xfrm>
          <a:prstGeom prst="rect">
            <a:avLst/>
          </a:prstGeom>
          <a:noFill/>
        </p:spPr>
        <p:txBody>
          <a:bodyPr wrap="square">
            <a:spAutoFit/>
          </a:bodyPr>
          <a:lstStyle/>
          <a:p>
            <a:pPr algn="l"/>
            <a:r>
              <a:rPr sz="800" b="0" i="0">
                <a:solidFill>
                  <a:srgbClr val="111827"/>
                </a:solidFill>
                <a:latin typeface="Calibri"/>
              </a:rPr>
              <a:t>All 5 modules</a:t>
            </a:r>
          </a:p>
        </p:txBody>
      </p:sp>
      <p:sp>
        <p:nvSpPr>
          <p:cNvPr id="19" name="TextBox 18"/>
          <p:cNvSpPr txBox="1"/>
          <p:nvPr/>
        </p:nvSpPr>
        <p:spPr>
          <a:xfrm>
            <a:off x="493776" y="5833872"/>
            <a:ext cx="2523744" cy="237744"/>
          </a:xfrm>
          <a:prstGeom prst="rect">
            <a:avLst/>
          </a:prstGeom>
          <a:noFill/>
        </p:spPr>
        <p:txBody>
          <a:bodyPr wrap="square">
            <a:spAutoFit/>
          </a:bodyPr>
          <a:lstStyle/>
          <a:p>
            <a:pPr algn="l"/>
            <a:r>
              <a:rPr sz="750" b="0" i="1">
                <a:solidFill>
                  <a:srgbClr val="6B7FA0"/>
                </a:solidFill>
                <a:latin typeface="Calibri"/>
              </a:rPr>
              <a:t>mockups/  ·  FirstAgent repo</a:t>
            </a:r>
          </a:p>
        </p:txBody>
      </p:sp>
      <p:sp>
        <p:nvSpPr>
          <p:cNvPr id="20" name="Rectangle 19"/>
          <p:cNvSpPr/>
          <p:nvPr/>
        </p:nvSpPr>
        <p:spPr>
          <a:xfrm>
            <a:off x="3273552" y="1188720"/>
            <a:ext cx="2743200" cy="493776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1188720"/>
            <a:ext cx="2743200" cy="5029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83280" y="1280160"/>
            <a:ext cx="2523744" cy="347472"/>
          </a:xfrm>
          <a:prstGeom prst="rect">
            <a:avLst/>
          </a:prstGeom>
          <a:noFill/>
        </p:spPr>
        <p:txBody>
          <a:bodyPr wrap="square">
            <a:spAutoFit/>
          </a:bodyPr>
          <a:lstStyle/>
          <a:p>
            <a:pPr algn="l"/>
            <a:r>
              <a:rPr sz="1150" b="1" i="0">
                <a:solidFill>
                  <a:srgbClr val="FFFFFF"/>
                </a:solidFill>
                <a:latin typeface="Calibri"/>
              </a:rPr>
              <a:t>Technical Pipeline Reference</a:t>
            </a:r>
          </a:p>
        </p:txBody>
      </p:sp>
      <p:sp>
        <p:nvSpPr>
          <p:cNvPr id="23" name="Rectangle 22"/>
          <p:cNvSpPr/>
          <p:nvPr/>
        </p:nvSpPr>
        <p:spPr>
          <a:xfrm>
            <a:off x="3383280" y="1783080"/>
            <a:ext cx="2523744" cy="256032"/>
          </a:xfrm>
          <a:prstGeom prst="rect">
            <a:avLst/>
          </a:prstGeom>
          <a:solidFill>
            <a:srgbClr val="EE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38144" y="1819656"/>
            <a:ext cx="2414016" cy="201168"/>
          </a:xfrm>
          <a:prstGeom prst="rect">
            <a:avLst/>
          </a:prstGeom>
          <a:noFill/>
        </p:spPr>
        <p:txBody>
          <a:bodyPr wrap="square">
            <a:spAutoFit/>
          </a:bodyPr>
          <a:lstStyle/>
          <a:p>
            <a:pPr algn="l"/>
            <a:r>
              <a:rPr sz="800" b="1" i="0">
                <a:solidFill>
                  <a:srgbClr val="1B3566"/>
                </a:solidFill>
                <a:latin typeface="Calibri"/>
              </a:rPr>
              <a:t>mo_data_ops_kickoff.html</a:t>
            </a:r>
          </a:p>
        </p:txBody>
      </p:sp>
      <p:sp>
        <p:nvSpPr>
          <p:cNvPr id="25" name="TextBox 24"/>
          <p:cNvSpPr txBox="1"/>
          <p:nvPr/>
        </p:nvSpPr>
        <p:spPr>
          <a:xfrm>
            <a:off x="3383280" y="2157984"/>
            <a:ext cx="2523744" cy="1463040"/>
          </a:xfrm>
          <a:prstGeom prst="rect">
            <a:avLst/>
          </a:prstGeom>
          <a:noFill/>
        </p:spPr>
        <p:txBody>
          <a:bodyPr wrap="square">
            <a:spAutoFit/>
          </a:bodyPr>
          <a:lstStyle/>
          <a:p>
            <a:pPr algn="l"/>
            <a:r>
              <a:rPr sz="950" b="0" i="0">
                <a:solidFill>
                  <a:srgbClr val="3A4B6B"/>
                </a:solidFill>
                <a:latin typeface="Calibri"/>
              </a:rPr>
              <a:t>Full Q-series and P-series pipeline stages with input/output tables. Source of truth for data lineage, script IDs, and Druid table names.</a:t>
            </a:r>
          </a:p>
        </p:txBody>
      </p:sp>
      <p:sp>
        <p:nvSpPr>
          <p:cNvPr id="26" name="TextBox 25"/>
          <p:cNvSpPr txBox="1"/>
          <p:nvPr/>
        </p:nvSpPr>
        <p:spPr>
          <a:xfrm>
            <a:off x="3383280" y="3703320"/>
            <a:ext cx="822960" cy="256032"/>
          </a:xfrm>
          <a:prstGeom prst="rect">
            <a:avLst/>
          </a:prstGeom>
          <a:noFill/>
        </p:spPr>
        <p:txBody>
          <a:bodyPr wrap="square">
            <a:spAutoFit/>
          </a:bodyPr>
          <a:lstStyle/>
          <a:p>
            <a:pPr algn="l"/>
            <a:r>
              <a:rPr sz="800" b="1" i="0">
                <a:solidFill>
                  <a:srgbClr val="6B7FA0"/>
                </a:solidFill>
                <a:latin typeface="Calibri"/>
              </a:rPr>
              <a:t>Audience:</a:t>
            </a:r>
          </a:p>
        </p:txBody>
      </p:sp>
      <p:sp>
        <p:nvSpPr>
          <p:cNvPr id="27" name="TextBox 26"/>
          <p:cNvSpPr txBox="1"/>
          <p:nvPr/>
        </p:nvSpPr>
        <p:spPr>
          <a:xfrm>
            <a:off x="4187952" y="3703320"/>
            <a:ext cx="1737360" cy="256032"/>
          </a:xfrm>
          <a:prstGeom prst="rect">
            <a:avLst/>
          </a:prstGeom>
          <a:noFill/>
        </p:spPr>
        <p:txBody>
          <a:bodyPr wrap="square">
            <a:spAutoFit/>
          </a:bodyPr>
          <a:lstStyle/>
          <a:p>
            <a:pPr algn="l"/>
            <a:r>
              <a:rPr sz="800" b="0" i="0">
                <a:solidFill>
                  <a:srgbClr val="111827"/>
                </a:solidFill>
                <a:latin typeface="Calibri"/>
              </a:rPr>
              <a:t>Rob, Jason</a:t>
            </a:r>
          </a:p>
        </p:txBody>
      </p:sp>
      <p:sp>
        <p:nvSpPr>
          <p:cNvPr id="28" name="TextBox 27"/>
          <p:cNvSpPr txBox="1"/>
          <p:nvPr/>
        </p:nvSpPr>
        <p:spPr>
          <a:xfrm>
            <a:off x="3383280" y="3995928"/>
            <a:ext cx="822960" cy="256032"/>
          </a:xfrm>
          <a:prstGeom prst="rect">
            <a:avLst/>
          </a:prstGeom>
          <a:noFill/>
        </p:spPr>
        <p:txBody>
          <a:bodyPr wrap="square">
            <a:spAutoFit/>
          </a:bodyPr>
          <a:lstStyle/>
          <a:p>
            <a:pPr algn="l"/>
            <a:r>
              <a:rPr sz="800" b="1" i="0">
                <a:solidFill>
                  <a:srgbClr val="6B7FA0"/>
                </a:solidFill>
                <a:latin typeface="Calibri"/>
              </a:rPr>
              <a:t>Format:</a:t>
            </a:r>
          </a:p>
        </p:txBody>
      </p:sp>
      <p:sp>
        <p:nvSpPr>
          <p:cNvPr id="29" name="TextBox 28"/>
          <p:cNvSpPr txBox="1"/>
          <p:nvPr/>
        </p:nvSpPr>
        <p:spPr>
          <a:xfrm>
            <a:off x="4187952" y="3995928"/>
            <a:ext cx="1737360" cy="256032"/>
          </a:xfrm>
          <a:prstGeom prst="rect">
            <a:avLst/>
          </a:prstGeom>
          <a:noFill/>
        </p:spPr>
        <p:txBody>
          <a:bodyPr wrap="square">
            <a:spAutoFit/>
          </a:bodyPr>
          <a:lstStyle/>
          <a:p>
            <a:pPr algn="l"/>
            <a:r>
              <a:rPr sz="800" b="0" i="0">
                <a:solidFill>
                  <a:srgbClr val="111827"/>
                </a:solidFill>
                <a:latin typeface="Calibri"/>
              </a:rPr>
              <a:t>HTML artifact</a:t>
            </a:r>
          </a:p>
        </p:txBody>
      </p:sp>
      <p:sp>
        <p:nvSpPr>
          <p:cNvPr id="30" name="TextBox 29"/>
          <p:cNvSpPr txBox="1"/>
          <p:nvPr/>
        </p:nvSpPr>
        <p:spPr>
          <a:xfrm>
            <a:off x="3383280" y="4288536"/>
            <a:ext cx="822960" cy="256032"/>
          </a:xfrm>
          <a:prstGeom prst="rect">
            <a:avLst/>
          </a:prstGeom>
          <a:noFill/>
        </p:spPr>
        <p:txBody>
          <a:bodyPr wrap="square">
            <a:spAutoFit/>
          </a:bodyPr>
          <a:lstStyle/>
          <a:p>
            <a:pPr algn="l"/>
            <a:r>
              <a:rPr sz="800" b="1" i="0">
                <a:solidFill>
                  <a:srgbClr val="6B7FA0"/>
                </a:solidFill>
                <a:latin typeface="Calibri"/>
              </a:rPr>
              <a:t>Covers:</a:t>
            </a:r>
          </a:p>
        </p:txBody>
      </p:sp>
      <p:sp>
        <p:nvSpPr>
          <p:cNvPr id="31" name="TextBox 30"/>
          <p:cNvSpPr txBox="1"/>
          <p:nvPr/>
        </p:nvSpPr>
        <p:spPr>
          <a:xfrm>
            <a:off x="4187952" y="4288536"/>
            <a:ext cx="1737360" cy="256032"/>
          </a:xfrm>
          <a:prstGeom prst="rect">
            <a:avLst/>
          </a:prstGeom>
          <a:noFill/>
        </p:spPr>
        <p:txBody>
          <a:bodyPr wrap="square">
            <a:spAutoFit/>
          </a:bodyPr>
          <a:lstStyle/>
          <a:p>
            <a:pPr algn="l"/>
            <a:r>
              <a:rPr sz="800" b="0" i="0">
                <a:solidFill>
                  <a:srgbClr val="111827"/>
                </a:solidFill>
                <a:latin typeface="Calibri"/>
              </a:rPr>
              <a:t>Q0–Q22, P1–P12</a:t>
            </a:r>
          </a:p>
        </p:txBody>
      </p:sp>
      <p:sp>
        <p:nvSpPr>
          <p:cNvPr id="32" name="TextBox 31"/>
          <p:cNvSpPr txBox="1"/>
          <p:nvPr/>
        </p:nvSpPr>
        <p:spPr>
          <a:xfrm>
            <a:off x="3383280" y="5833872"/>
            <a:ext cx="2523744" cy="237744"/>
          </a:xfrm>
          <a:prstGeom prst="rect">
            <a:avLst/>
          </a:prstGeom>
          <a:noFill/>
        </p:spPr>
        <p:txBody>
          <a:bodyPr wrap="square">
            <a:spAutoFit/>
          </a:bodyPr>
          <a:lstStyle/>
          <a:p>
            <a:pPr algn="l"/>
            <a:r>
              <a:rPr sz="750" b="0" i="1">
                <a:solidFill>
                  <a:srgbClr val="6B7FA0"/>
                </a:solidFill>
                <a:latin typeface="Calibri"/>
              </a:rPr>
              <a:t>mockups/  ·  FirstAgent repo</a:t>
            </a:r>
          </a:p>
        </p:txBody>
      </p:sp>
      <p:sp>
        <p:nvSpPr>
          <p:cNvPr id="33" name="Rectangle 32"/>
          <p:cNvSpPr/>
          <p:nvPr/>
        </p:nvSpPr>
        <p:spPr>
          <a:xfrm>
            <a:off x="6163056" y="1188720"/>
            <a:ext cx="2743200" cy="493776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63056" y="1188720"/>
            <a:ext cx="2743200" cy="50292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72784" y="1280160"/>
            <a:ext cx="2523744" cy="347472"/>
          </a:xfrm>
          <a:prstGeom prst="rect">
            <a:avLst/>
          </a:prstGeom>
          <a:noFill/>
        </p:spPr>
        <p:txBody>
          <a:bodyPr wrap="square">
            <a:spAutoFit/>
          </a:bodyPr>
          <a:lstStyle/>
          <a:p>
            <a:pPr algn="l"/>
            <a:r>
              <a:rPr sz="1150" b="1" i="0">
                <a:solidFill>
                  <a:srgbClr val="FFFFFF"/>
                </a:solidFill>
                <a:latin typeface="Calibri"/>
              </a:rPr>
              <a:t>Pipeline Automation Design</a:t>
            </a:r>
          </a:p>
        </p:txBody>
      </p:sp>
      <p:sp>
        <p:nvSpPr>
          <p:cNvPr id="36" name="Rectangle 35"/>
          <p:cNvSpPr/>
          <p:nvPr/>
        </p:nvSpPr>
        <p:spPr>
          <a:xfrm>
            <a:off x="6272784" y="1783080"/>
            <a:ext cx="2523744" cy="256032"/>
          </a:xfrm>
          <a:prstGeom prst="rect">
            <a:avLst/>
          </a:prstGeom>
          <a:solidFill>
            <a:srgbClr val="EE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27648" y="1819656"/>
            <a:ext cx="2414016" cy="201168"/>
          </a:xfrm>
          <a:prstGeom prst="rect">
            <a:avLst/>
          </a:prstGeom>
          <a:noFill/>
        </p:spPr>
        <p:txBody>
          <a:bodyPr wrap="square">
            <a:spAutoFit/>
          </a:bodyPr>
          <a:lstStyle/>
          <a:p>
            <a:pPr algn="l"/>
            <a:r>
              <a:rPr sz="800" b="1" i="0">
                <a:solidFill>
                  <a:srgbClr val="1B3566"/>
                </a:solidFill>
                <a:latin typeface="Calibri"/>
              </a:rPr>
              <a:t>mo_automation_design.html</a:t>
            </a:r>
          </a:p>
        </p:txBody>
      </p:sp>
      <p:sp>
        <p:nvSpPr>
          <p:cNvPr id="38" name="TextBox 37"/>
          <p:cNvSpPr txBox="1"/>
          <p:nvPr/>
        </p:nvSpPr>
        <p:spPr>
          <a:xfrm>
            <a:off x="6272784" y="2157984"/>
            <a:ext cx="2523744" cy="1463040"/>
          </a:xfrm>
          <a:prstGeom prst="rect">
            <a:avLst/>
          </a:prstGeom>
          <a:noFill/>
        </p:spPr>
        <p:txBody>
          <a:bodyPr wrap="square">
            <a:spAutoFit/>
          </a:bodyPr>
          <a:lstStyle/>
          <a:p>
            <a:pPr algn="l"/>
            <a:r>
              <a:rPr sz="950" b="0" i="0">
                <a:solidFill>
                  <a:srgbClr val="3A4B6B"/>
                </a:solidFill>
                <a:latin typeface="Calibri"/>
              </a:rPr>
              <a:t>5-stage automation architecture: trigger layer, per-stage smoke-test gates, rollback guarantee, Druid optimization options, and implementation roadmap (P1–P5).</a:t>
            </a:r>
          </a:p>
        </p:txBody>
      </p:sp>
      <p:sp>
        <p:nvSpPr>
          <p:cNvPr id="39" name="TextBox 38"/>
          <p:cNvSpPr txBox="1"/>
          <p:nvPr/>
        </p:nvSpPr>
        <p:spPr>
          <a:xfrm>
            <a:off x="6272784" y="3703320"/>
            <a:ext cx="822960" cy="256032"/>
          </a:xfrm>
          <a:prstGeom prst="rect">
            <a:avLst/>
          </a:prstGeom>
          <a:noFill/>
        </p:spPr>
        <p:txBody>
          <a:bodyPr wrap="square">
            <a:spAutoFit/>
          </a:bodyPr>
          <a:lstStyle/>
          <a:p>
            <a:pPr algn="l"/>
            <a:r>
              <a:rPr sz="800" b="1" i="0">
                <a:solidFill>
                  <a:srgbClr val="6B7FA0"/>
                </a:solidFill>
                <a:latin typeface="Calibri"/>
              </a:rPr>
              <a:t>Audience:</a:t>
            </a:r>
          </a:p>
        </p:txBody>
      </p:sp>
      <p:sp>
        <p:nvSpPr>
          <p:cNvPr id="40" name="TextBox 39"/>
          <p:cNvSpPr txBox="1"/>
          <p:nvPr/>
        </p:nvSpPr>
        <p:spPr>
          <a:xfrm>
            <a:off x="7077456" y="3703320"/>
            <a:ext cx="1737360" cy="256032"/>
          </a:xfrm>
          <a:prstGeom prst="rect">
            <a:avLst/>
          </a:prstGeom>
          <a:noFill/>
        </p:spPr>
        <p:txBody>
          <a:bodyPr wrap="square">
            <a:spAutoFit/>
          </a:bodyPr>
          <a:lstStyle/>
          <a:p>
            <a:pPr algn="l"/>
            <a:r>
              <a:rPr sz="800" b="0" i="0">
                <a:solidFill>
                  <a:srgbClr val="111827"/>
                </a:solidFill>
                <a:latin typeface="Calibri"/>
              </a:rPr>
              <a:t>Rob, Jason</a:t>
            </a:r>
          </a:p>
        </p:txBody>
      </p:sp>
      <p:sp>
        <p:nvSpPr>
          <p:cNvPr id="41" name="TextBox 40"/>
          <p:cNvSpPr txBox="1"/>
          <p:nvPr/>
        </p:nvSpPr>
        <p:spPr>
          <a:xfrm>
            <a:off x="6272784" y="3995928"/>
            <a:ext cx="822960" cy="256032"/>
          </a:xfrm>
          <a:prstGeom prst="rect">
            <a:avLst/>
          </a:prstGeom>
          <a:noFill/>
        </p:spPr>
        <p:txBody>
          <a:bodyPr wrap="square">
            <a:spAutoFit/>
          </a:bodyPr>
          <a:lstStyle/>
          <a:p>
            <a:pPr algn="l"/>
            <a:r>
              <a:rPr sz="800" b="1" i="0">
                <a:solidFill>
                  <a:srgbClr val="6B7FA0"/>
                </a:solidFill>
                <a:latin typeface="Calibri"/>
              </a:rPr>
              <a:t>Format:</a:t>
            </a:r>
          </a:p>
        </p:txBody>
      </p:sp>
      <p:sp>
        <p:nvSpPr>
          <p:cNvPr id="42" name="TextBox 41"/>
          <p:cNvSpPr txBox="1"/>
          <p:nvPr/>
        </p:nvSpPr>
        <p:spPr>
          <a:xfrm>
            <a:off x="7077456" y="3995928"/>
            <a:ext cx="1737360" cy="256032"/>
          </a:xfrm>
          <a:prstGeom prst="rect">
            <a:avLst/>
          </a:prstGeom>
          <a:noFill/>
        </p:spPr>
        <p:txBody>
          <a:bodyPr wrap="square">
            <a:spAutoFit/>
          </a:bodyPr>
          <a:lstStyle/>
          <a:p>
            <a:pPr algn="l"/>
            <a:r>
              <a:rPr sz="800" b="0" i="0">
                <a:solidFill>
                  <a:srgbClr val="111827"/>
                </a:solidFill>
                <a:latin typeface="Calibri"/>
              </a:rPr>
              <a:t>HTML artifact</a:t>
            </a:r>
          </a:p>
        </p:txBody>
      </p:sp>
      <p:sp>
        <p:nvSpPr>
          <p:cNvPr id="43" name="TextBox 42"/>
          <p:cNvSpPr txBox="1"/>
          <p:nvPr/>
        </p:nvSpPr>
        <p:spPr>
          <a:xfrm>
            <a:off x="6272784" y="4288536"/>
            <a:ext cx="822960" cy="256032"/>
          </a:xfrm>
          <a:prstGeom prst="rect">
            <a:avLst/>
          </a:prstGeom>
          <a:noFill/>
        </p:spPr>
        <p:txBody>
          <a:bodyPr wrap="square">
            <a:spAutoFit/>
          </a:bodyPr>
          <a:lstStyle/>
          <a:p>
            <a:pPr algn="l"/>
            <a:r>
              <a:rPr sz="800" b="1" i="0">
                <a:solidFill>
                  <a:srgbClr val="6B7FA0"/>
                </a:solidFill>
                <a:latin typeface="Calibri"/>
              </a:rPr>
              <a:t>Covers:</a:t>
            </a:r>
          </a:p>
        </p:txBody>
      </p:sp>
      <p:sp>
        <p:nvSpPr>
          <p:cNvPr id="44" name="TextBox 43"/>
          <p:cNvSpPr txBox="1"/>
          <p:nvPr/>
        </p:nvSpPr>
        <p:spPr>
          <a:xfrm>
            <a:off x="7077456" y="4288536"/>
            <a:ext cx="1737360" cy="256032"/>
          </a:xfrm>
          <a:prstGeom prst="rect">
            <a:avLst/>
          </a:prstGeom>
          <a:noFill/>
        </p:spPr>
        <p:txBody>
          <a:bodyPr wrap="square">
            <a:spAutoFit/>
          </a:bodyPr>
          <a:lstStyle/>
          <a:p>
            <a:pPr algn="l"/>
            <a:r>
              <a:rPr sz="800" b="0" i="0">
                <a:solidFill>
                  <a:srgbClr val="111827"/>
                </a:solidFill>
                <a:latin typeface="Calibri"/>
              </a:rPr>
              <a:t>5-stage, gates, Druid</a:t>
            </a:r>
          </a:p>
        </p:txBody>
      </p:sp>
      <p:sp>
        <p:nvSpPr>
          <p:cNvPr id="45" name="TextBox 44"/>
          <p:cNvSpPr txBox="1"/>
          <p:nvPr/>
        </p:nvSpPr>
        <p:spPr>
          <a:xfrm>
            <a:off x="6272784" y="5833872"/>
            <a:ext cx="2523744" cy="237744"/>
          </a:xfrm>
          <a:prstGeom prst="rect">
            <a:avLst/>
          </a:prstGeom>
          <a:noFill/>
        </p:spPr>
        <p:txBody>
          <a:bodyPr wrap="square">
            <a:spAutoFit/>
          </a:bodyPr>
          <a:lstStyle/>
          <a:p>
            <a:pPr algn="l"/>
            <a:r>
              <a:rPr sz="750" b="0" i="1">
                <a:solidFill>
                  <a:srgbClr val="6B7FA0"/>
                </a:solidFill>
                <a:latin typeface="Calibri"/>
              </a:rPr>
              <a:t>mockups/  ·  FirstAgent repo</a:t>
            </a:r>
          </a:p>
        </p:txBody>
      </p:sp>
      <p:sp>
        <p:nvSpPr>
          <p:cNvPr id="46" name="Rectangle 45"/>
          <p:cNvSpPr/>
          <p:nvPr/>
        </p:nvSpPr>
        <p:spPr>
          <a:xfrm>
            <a:off x="9052560" y="1188720"/>
            <a:ext cx="2743200" cy="493776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2560" y="1188720"/>
            <a:ext cx="2743200" cy="502920"/>
          </a:xfrm>
          <a:prstGeom prst="rect">
            <a:avLst/>
          </a:prstGeom>
          <a:solidFill>
            <a:srgbClr val="4B2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62288" y="1280160"/>
            <a:ext cx="2523744" cy="347472"/>
          </a:xfrm>
          <a:prstGeom prst="rect">
            <a:avLst/>
          </a:prstGeom>
          <a:noFill/>
        </p:spPr>
        <p:txBody>
          <a:bodyPr wrap="square">
            <a:spAutoFit/>
          </a:bodyPr>
          <a:lstStyle/>
          <a:p>
            <a:pPr algn="l"/>
            <a:r>
              <a:rPr sz="1150" b="1" i="0">
                <a:solidFill>
                  <a:srgbClr val="FFFFFF"/>
                </a:solidFill>
                <a:latin typeface="Calibri"/>
              </a:rPr>
              <a:t>Decisions &amp; Caveats Register</a:t>
            </a:r>
          </a:p>
        </p:txBody>
      </p:sp>
      <p:sp>
        <p:nvSpPr>
          <p:cNvPr id="49" name="Rectangle 48"/>
          <p:cNvSpPr/>
          <p:nvPr/>
        </p:nvSpPr>
        <p:spPr>
          <a:xfrm>
            <a:off x="9162288" y="1783080"/>
            <a:ext cx="2523744" cy="256032"/>
          </a:xfrm>
          <a:prstGeom prst="rect">
            <a:avLst/>
          </a:prstGeom>
          <a:solidFill>
            <a:srgbClr val="EE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217152" y="1819656"/>
            <a:ext cx="2414016" cy="201168"/>
          </a:xfrm>
          <a:prstGeom prst="rect">
            <a:avLst/>
          </a:prstGeom>
          <a:noFill/>
        </p:spPr>
        <p:txBody>
          <a:bodyPr wrap="square">
            <a:spAutoFit/>
          </a:bodyPr>
          <a:lstStyle/>
          <a:p>
            <a:pPr algn="l"/>
            <a:r>
              <a:rPr sz="800" b="1" i="0">
                <a:solidFill>
                  <a:srgbClr val="1B3566"/>
                </a:solidFill>
                <a:latin typeface="Calibri"/>
              </a:rPr>
              <a:t>mo_decisions_register.html</a:t>
            </a:r>
          </a:p>
        </p:txBody>
      </p:sp>
      <p:sp>
        <p:nvSpPr>
          <p:cNvPr id="51" name="TextBox 50"/>
          <p:cNvSpPr txBox="1"/>
          <p:nvPr/>
        </p:nvSpPr>
        <p:spPr>
          <a:xfrm>
            <a:off x="9162288" y="2157984"/>
            <a:ext cx="2523744" cy="1463040"/>
          </a:xfrm>
          <a:prstGeom prst="rect">
            <a:avLst/>
          </a:prstGeom>
          <a:noFill/>
        </p:spPr>
        <p:txBody>
          <a:bodyPr wrap="square">
            <a:spAutoFit/>
          </a:bodyPr>
          <a:lstStyle/>
          <a:p>
            <a:pPr algn="l"/>
            <a:r>
              <a:rPr sz="950" b="0" i="0">
                <a:solidFill>
                  <a:srgbClr val="3A4B6B"/>
                </a:solidFill>
                <a:latin typeface="Calibri"/>
              </a:rPr>
              <a:t>56-entry living register: null handling, normalization rules, MULO exclusion, known anomalies, model guardrails, key formulas (LaTeX-typeset), external data API rules, and open items. Updated every session.</a:t>
            </a:r>
          </a:p>
        </p:txBody>
      </p:sp>
      <p:sp>
        <p:nvSpPr>
          <p:cNvPr id="52" name="TextBox 51"/>
          <p:cNvSpPr txBox="1"/>
          <p:nvPr/>
        </p:nvSpPr>
        <p:spPr>
          <a:xfrm>
            <a:off x="9162288" y="3703320"/>
            <a:ext cx="822960" cy="256032"/>
          </a:xfrm>
          <a:prstGeom prst="rect">
            <a:avLst/>
          </a:prstGeom>
          <a:noFill/>
        </p:spPr>
        <p:txBody>
          <a:bodyPr wrap="square">
            <a:spAutoFit/>
          </a:bodyPr>
          <a:lstStyle/>
          <a:p>
            <a:pPr algn="l"/>
            <a:r>
              <a:rPr sz="800" b="1" i="0">
                <a:solidFill>
                  <a:srgbClr val="6B7FA0"/>
                </a:solidFill>
                <a:latin typeface="Calibri"/>
              </a:rPr>
              <a:t>Audience:</a:t>
            </a:r>
          </a:p>
        </p:txBody>
      </p:sp>
      <p:sp>
        <p:nvSpPr>
          <p:cNvPr id="53" name="TextBox 52"/>
          <p:cNvSpPr txBox="1"/>
          <p:nvPr/>
        </p:nvSpPr>
        <p:spPr>
          <a:xfrm>
            <a:off x="9966960" y="3703320"/>
            <a:ext cx="1737360" cy="256032"/>
          </a:xfrm>
          <a:prstGeom prst="rect">
            <a:avLst/>
          </a:prstGeom>
          <a:noFill/>
        </p:spPr>
        <p:txBody>
          <a:bodyPr wrap="square">
            <a:spAutoFit/>
          </a:bodyPr>
          <a:lstStyle/>
          <a:p>
            <a:pPr algn="l"/>
            <a:r>
              <a:rPr sz="800" b="0" i="0">
                <a:solidFill>
                  <a:srgbClr val="111827"/>
                </a:solidFill>
                <a:latin typeface="Calibri"/>
              </a:rPr>
              <a:t>Rob, Jason</a:t>
            </a:r>
          </a:p>
        </p:txBody>
      </p:sp>
      <p:sp>
        <p:nvSpPr>
          <p:cNvPr id="54" name="TextBox 53"/>
          <p:cNvSpPr txBox="1"/>
          <p:nvPr/>
        </p:nvSpPr>
        <p:spPr>
          <a:xfrm>
            <a:off x="9162288" y="3995928"/>
            <a:ext cx="822960" cy="256032"/>
          </a:xfrm>
          <a:prstGeom prst="rect">
            <a:avLst/>
          </a:prstGeom>
          <a:noFill/>
        </p:spPr>
        <p:txBody>
          <a:bodyPr wrap="square">
            <a:spAutoFit/>
          </a:bodyPr>
          <a:lstStyle/>
          <a:p>
            <a:pPr algn="l"/>
            <a:r>
              <a:rPr sz="800" b="1" i="0">
                <a:solidFill>
                  <a:srgbClr val="6B7FA0"/>
                </a:solidFill>
                <a:latin typeface="Calibri"/>
              </a:rPr>
              <a:t>Format:</a:t>
            </a:r>
          </a:p>
        </p:txBody>
      </p:sp>
      <p:sp>
        <p:nvSpPr>
          <p:cNvPr id="55" name="TextBox 54"/>
          <p:cNvSpPr txBox="1"/>
          <p:nvPr/>
        </p:nvSpPr>
        <p:spPr>
          <a:xfrm>
            <a:off x="9966960" y="3995928"/>
            <a:ext cx="1737360" cy="256032"/>
          </a:xfrm>
          <a:prstGeom prst="rect">
            <a:avLst/>
          </a:prstGeom>
          <a:noFill/>
        </p:spPr>
        <p:txBody>
          <a:bodyPr wrap="square">
            <a:spAutoFit/>
          </a:bodyPr>
          <a:lstStyle/>
          <a:p>
            <a:pPr algn="l"/>
            <a:r>
              <a:rPr sz="800" b="0" i="0">
                <a:solidFill>
                  <a:srgbClr val="111827"/>
                </a:solidFill>
                <a:latin typeface="Calibri"/>
              </a:rPr>
              <a:t>HTML artifact — living</a:t>
            </a:r>
          </a:p>
        </p:txBody>
      </p:sp>
      <p:sp>
        <p:nvSpPr>
          <p:cNvPr id="56" name="TextBox 55"/>
          <p:cNvSpPr txBox="1"/>
          <p:nvPr/>
        </p:nvSpPr>
        <p:spPr>
          <a:xfrm>
            <a:off x="9162288" y="4288536"/>
            <a:ext cx="822960" cy="256032"/>
          </a:xfrm>
          <a:prstGeom prst="rect">
            <a:avLst/>
          </a:prstGeom>
          <a:noFill/>
        </p:spPr>
        <p:txBody>
          <a:bodyPr wrap="square">
            <a:spAutoFit/>
          </a:bodyPr>
          <a:lstStyle/>
          <a:p>
            <a:pPr algn="l"/>
            <a:r>
              <a:rPr sz="800" b="1" i="0">
                <a:solidFill>
                  <a:srgbClr val="6B7FA0"/>
                </a:solidFill>
                <a:latin typeface="Calibri"/>
              </a:rPr>
              <a:t>Covers:</a:t>
            </a:r>
          </a:p>
        </p:txBody>
      </p:sp>
      <p:sp>
        <p:nvSpPr>
          <p:cNvPr id="57" name="TextBox 56"/>
          <p:cNvSpPr txBox="1"/>
          <p:nvPr/>
        </p:nvSpPr>
        <p:spPr>
          <a:xfrm>
            <a:off x="9966960" y="4288536"/>
            <a:ext cx="1737360" cy="256032"/>
          </a:xfrm>
          <a:prstGeom prst="rect">
            <a:avLst/>
          </a:prstGeom>
          <a:noFill/>
        </p:spPr>
        <p:txBody>
          <a:bodyPr wrap="square">
            <a:spAutoFit/>
          </a:bodyPr>
          <a:lstStyle/>
          <a:p>
            <a:pPr algn="l"/>
            <a:r>
              <a:rPr sz="800" b="0" i="0">
                <a:solidFill>
                  <a:srgbClr val="111827"/>
                </a:solidFill>
                <a:latin typeface="Calibri"/>
              </a:rPr>
              <a:t>NUL/NRM/GEO/ANO/GRD/COV/FML/OPN/EXT</a:t>
            </a:r>
          </a:p>
        </p:txBody>
      </p:sp>
      <p:sp>
        <p:nvSpPr>
          <p:cNvPr id="58" name="TextBox 57"/>
          <p:cNvSpPr txBox="1"/>
          <p:nvPr/>
        </p:nvSpPr>
        <p:spPr>
          <a:xfrm>
            <a:off x="9162288" y="5833872"/>
            <a:ext cx="2523744" cy="237744"/>
          </a:xfrm>
          <a:prstGeom prst="rect">
            <a:avLst/>
          </a:prstGeom>
          <a:noFill/>
        </p:spPr>
        <p:txBody>
          <a:bodyPr wrap="square">
            <a:spAutoFit/>
          </a:bodyPr>
          <a:lstStyle/>
          <a:p>
            <a:pPr algn="l"/>
            <a:r>
              <a:rPr sz="750" b="0" i="1">
                <a:solidFill>
                  <a:srgbClr val="6B7FA0"/>
                </a:solidFill>
                <a:latin typeface="Calibri"/>
              </a:rPr>
              <a:t>mockups/  ·  FirstAgent repo</a:t>
            </a:r>
          </a:p>
        </p:txBody>
      </p:sp>
      <p:sp>
        <p:nvSpPr>
          <p:cNvPr id="59" name="TextBox 58"/>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01</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Cannibalization Risk</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"Is this new SKU pulling demand from an existing one, or adding net-new buyers?"</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Weekly units sold</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Measure demand before/after launch</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Base units (non-promo)</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Separate promo from organic demand</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Distribution — stores selling</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Distinguish demand drop from distribution loss</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Average retail price</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Detect whether price changes explain the shift</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First week selling (launch date)</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Anchor the before/after comparison window</a:t>
            </a:r>
          </a:p>
        </p:txBody>
      </p:sp>
      <p:sp>
        <p:nvSpPr>
          <p:cNvPr id="34" name="Rectangle 33"/>
          <p:cNvSpPr/>
          <p:nvPr/>
        </p:nvSpPr>
        <p:spPr>
          <a:xfrm>
            <a:off x="411480" y="3337560"/>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4632" y="3392424"/>
            <a:ext cx="2194560" cy="228600"/>
          </a:xfrm>
          <a:prstGeom prst="rect">
            <a:avLst/>
          </a:prstGeom>
          <a:noFill/>
        </p:spPr>
        <p:txBody>
          <a:bodyPr wrap="square">
            <a:spAutoFit/>
          </a:bodyPr>
          <a:lstStyle/>
          <a:p>
            <a:pPr algn="l"/>
            <a:r>
              <a:rPr sz="850" b="1" i="0">
                <a:solidFill>
                  <a:srgbClr val="111827"/>
                </a:solidFill>
                <a:latin typeface="Calibri"/>
              </a:rPr>
              <a:t>Pack count, flavor, brand line</a:t>
            </a:r>
          </a:p>
        </p:txBody>
      </p:sp>
      <p:sp>
        <p:nvSpPr>
          <p:cNvPr id="36" name="TextBox 35"/>
          <p:cNvSpPr txBox="1"/>
          <p:nvPr/>
        </p:nvSpPr>
        <p:spPr>
          <a:xfrm>
            <a:off x="2770632" y="339242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7" name="TextBox 36"/>
          <p:cNvSpPr txBox="1"/>
          <p:nvPr/>
        </p:nvSpPr>
        <p:spPr>
          <a:xfrm>
            <a:off x="3776472" y="3392424"/>
            <a:ext cx="1115568" cy="228600"/>
          </a:xfrm>
          <a:prstGeom prst="rect">
            <a:avLst/>
          </a:prstGeom>
          <a:noFill/>
        </p:spPr>
        <p:txBody>
          <a:bodyPr wrap="square">
            <a:spAutoFit/>
          </a:bodyPr>
          <a:lstStyle/>
          <a:p>
            <a:pPr algn="l"/>
            <a:r>
              <a:rPr sz="750" b="0" i="0">
                <a:solidFill>
                  <a:srgbClr val="6B7FA0"/>
                </a:solidFill>
                <a:latin typeface="Calibri"/>
              </a:rPr>
              <a:t>Identify likely substitute SKUs</a:t>
            </a:r>
          </a:p>
        </p:txBody>
      </p:sp>
      <p:sp>
        <p:nvSpPr>
          <p:cNvPr id="38" name="Rectangle 37"/>
          <p:cNvSpPr/>
          <p:nvPr/>
        </p:nvSpPr>
        <p:spPr>
          <a:xfrm>
            <a:off x="411480" y="3621024"/>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4632" y="3675888"/>
            <a:ext cx="2194560" cy="228600"/>
          </a:xfrm>
          <a:prstGeom prst="rect">
            <a:avLst/>
          </a:prstGeom>
          <a:noFill/>
        </p:spPr>
        <p:txBody>
          <a:bodyPr wrap="square">
            <a:spAutoFit/>
          </a:bodyPr>
          <a:lstStyle/>
          <a:p>
            <a:pPr algn="l"/>
            <a:r>
              <a:rPr sz="850" b="1" i="0">
                <a:solidFill>
                  <a:srgbClr val="111827"/>
                </a:solidFill>
                <a:latin typeface="Calibri"/>
              </a:rPr>
              <a:t>Weeks on promotion</a:t>
            </a:r>
          </a:p>
        </p:txBody>
      </p:sp>
      <p:sp>
        <p:nvSpPr>
          <p:cNvPr id="40" name="TextBox 39"/>
          <p:cNvSpPr txBox="1"/>
          <p:nvPr/>
        </p:nvSpPr>
        <p:spPr>
          <a:xfrm>
            <a:off x="2770632" y="367588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41" name="TextBox 40"/>
          <p:cNvSpPr txBox="1"/>
          <p:nvPr/>
        </p:nvSpPr>
        <p:spPr>
          <a:xfrm>
            <a:off x="3776472" y="3675888"/>
            <a:ext cx="1115568" cy="228600"/>
          </a:xfrm>
          <a:prstGeom prst="rect">
            <a:avLst/>
          </a:prstGeom>
          <a:noFill/>
        </p:spPr>
        <p:txBody>
          <a:bodyPr wrap="square">
            <a:spAutoFit/>
          </a:bodyPr>
          <a:lstStyle/>
          <a:p>
            <a:pPr algn="l"/>
            <a:r>
              <a:rPr sz="750" b="0" i="0">
                <a:solidFill>
                  <a:srgbClr val="6B7FA0"/>
                </a:solidFill>
                <a:latin typeface="Calibri"/>
              </a:rPr>
              <a:t>Flag confounding promotional periods</a:t>
            </a:r>
          </a:p>
        </p:txBody>
      </p:sp>
      <p:sp>
        <p:nvSpPr>
          <p:cNvPr id="42" name="Rectangle 41"/>
          <p:cNvSpPr/>
          <p:nvPr/>
        </p:nvSpPr>
        <p:spPr>
          <a:xfrm>
            <a:off x="411480" y="4014216"/>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4050792"/>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44" name="Rectangle 43"/>
          <p:cNvSpPr/>
          <p:nvPr/>
        </p:nvSpPr>
        <p:spPr>
          <a:xfrm>
            <a:off x="502920" y="43616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288536"/>
            <a:ext cx="4224528" cy="274320"/>
          </a:xfrm>
          <a:prstGeom prst="rect">
            <a:avLst/>
          </a:prstGeom>
          <a:noFill/>
        </p:spPr>
        <p:txBody>
          <a:bodyPr wrap="square">
            <a:spAutoFit/>
          </a:bodyPr>
          <a:lstStyle/>
          <a:p>
            <a:pPr algn="l"/>
            <a:r>
              <a:rPr sz="850" b="0" i="0">
                <a:solidFill>
                  <a:srgbClr val="111827"/>
                </a:solidFill>
                <a:latin typeface="Calibri"/>
              </a:rPr>
              <a:t>Build before/after windows (4-week, 13-week, 26-week) around each product launch</a:t>
            </a:r>
          </a:p>
        </p:txBody>
      </p:sp>
      <p:sp>
        <p:nvSpPr>
          <p:cNvPr id="46" name="Rectangle 45"/>
          <p:cNvSpPr/>
          <p:nvPr/>
        </p:nvSpPr>
        <p:spPr>
          <a:xfrm>
            <a:off x="502920" y="463600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562856"/>
            <a:ext cx="4224528" cy="274320"/>
          </a:xfrm>
          <a:prstGeom prst="rect">
            <a:avLst/>
          </a:prstGeom>
          <a:noFill/>
        </p:spPr>
        <p:txBody>
          <a:bodyPr wrap="square">
            <a:spAutoFit/>
          </a:bodyPr>
          <a:lstStyle/>
          <a:p>
            <a:pPr algn="l"/>
            <a:r>
              <a:rPr sz="850" b="0" i="0">
                <a:solidFill>
                  <a:srgbClr val="111827"/>
                </a:solidFill>
                <a:latin typeface="Calibri"/>
              </a:rPr>
              <a:t>Pair each focal SKU with candidate donors — same flavor, same pack family, competitor</a:t>
            </a:r>
          </a:p>
        </p:txBody>
      </p:sp>
      <p:sp>
        <p:nvSpPr>
          <p:cNvPr id="48" name="Rectangle 47"/>
          <p:cNvSpPr/>
          <p:nvPr/>
        </p:nvSpPr>
        <p:spPr>
          <a:xfrm>
            <a:off x="502920" y="491032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 y="4837176"/>
            <a:ext cx="4224528" cy="274320"/>
          </a:xfrm>
          <a:prstGeom prst="rect">
            <a:avLst/>
          </a:prstGeom>
          <a:noFill/>
        </p:spPr>
        <p:txBody>
          <a:bodyPr wrap="square">
            <a:spAutoFit/>
          </a:bodyPr>
          <a:lstStyle/>
          <a:p>
            <a:pPr algn="l"/>
            <a:r>
              <a:rPr sz="850" b="0" i="0">
                <a:solidFill>
                  <a:srgbClr val="111827"/>
                </a:solidFill>
                <a:latin typeface="Calibri"/>
              </a:rPr>
              <a:t>Measure whether focal demand rose while donor demand fell in the same stores and window</a:t>
            </a:r>
          </a:p>
        </p:txBody>
      </p:sp>
      <p:sp>
        <p:nvSpPr>
          <p:cNvPr id="50" name="Rectangle 49"/>
          <p:cNvSpPr/>
          <p:nvPr/>
        </p:nvSpPr>
        <p:spPr>
          <a:xfrm>
            <a:off x="502920" y="518464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5111496"/>
            <a:ext cx="4224528" cy="274320"/>
          </a:xfrm>
          <a:prstGeom prst="rect">
            <a:avLst/>
          </a:prstGeom>
          <a:noFill/>
        </p:spPr>
        <p:txBody>
          <a:bodyPr wrap="square">
            <a:spAutoFit/>
          </a:bodyPr>
          <a:lstStyle/>
          <a:p>
            <a:pPr algn="l"/>
            <a:r>
              <a:rPr sz="850" b="0" i="0">
                <a:solidFill>
                  <a:srgbClr val="111827"/>
                </a:solidFill>
                <a:latin typeface="Calibri"/>
              </a:rPr>
              <a:t>Flag windows contaminated by promotions, distribution ramps, or supply events</a:t>
            </a:r>
          </a:p>
        </p:txBody>
      </p:sp>
      <p:sp>
        <p:nvSpPr>
          <p:cNvPr id="52" name="Rectangle 51"/>
          <p:cNvSpPr/>
          <p:nvPr/>
        </p:nvSpPr>
        <p:spPr>
          <a:xfrm>
            <a:off x="502920" y="545896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385816"/>
            <a:ext cx="4224528" cy="274320"/>
          </a:xfrm>
          <a:prstGeom prst="rect">
            <a:avLst/>
          </a:prstGeom>
          <a:noFill/>
        </p:spPr>
        <p:txBody>
          <a:bodyPr wrap="square">
            <a:spAutoFit/>
          </a:bodyPr>
          <a:lstStyle/>
          <a:p>
            <a:pPr algn="l"/>
            <a:r>
              <a:rPr sz="850" b="0" i="0">
                <a:solidFill>
                  <a:srgbClr val="111827"/>
                </a:solidFill>
                <a:latin typeface="Calibri"/>
              </a:rPr>
              <a:t>Calculate incremental share: net-new demand vs. demand transferred from a donor SKU</a:t>
            </a:r>
          </a:p>
        </p:txBody>
      </p:sp>
      <p:sp>
        <p:nvSpPr>
          <p:cNvPr id="54" name="Rectangle 53"/>
          <p:cNvSpPr/>
          <p:nvPr/>
        </p:nvSpPr>
        <p:spPr>
          <a:xfrm>
            <a:off x="502920" y="57332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 y="5660136"/>
            <a:ext cx="4224528" cy="274320"/>
          </a:xfrm>
          <a:prstGeom prst="rect">
            <a:avLst/>
          </a:prstGeom>
          <a:noFill/>
        </p:spPr>
        <p:txBody>
          <a:bodyPr wrap="square">
            <a:spAutoFit/>
          </a:bodyPr>
          <a:lstStyle/>
          <a:p>
            <a:pPr algn="l"/>
            <a:r>
              <a:rPr sz="850" b="0" i="0">
                <a:solidFill>
                  <a:srgbClr val="111827"/>
                </a:solidFill>
                <a:latin typeface="Calibri"/>
              </a:rPr>
              <a:t>Assign label (Cannibalizing / Watch / Incremental / Neutral) from observable evidence</a:t>
            </a:r>
          </a:p>
        </p:txBody>
      </p:sp>
      <p:sp>
        <p:nvSpPr>
          <p:cNvPr id="56" name="Rectangle 55"/>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58" name="Rectangle 57"/>
          <p:cNvSpPr/>
          <p:nvPr/>
        </p:nvSpPr>
        <p:spPr>
          <a:xfrm>
            <a:off x="5349240" y="1691640"/>
            <a:ext cx="6492240" cy="169164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Risk score + confidence for each focal/donor pair</a:t>
            </a:r>
          </a:p>
        </p:txBody>
      </p:sp>
      <p:sp>
        <p:nvSpPr>
          <p:cNvPr id="60" name="TextBox 59"/>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Status: Cannibalizing · Watch · Incremental · Neutral</a:t>
            </a:r>
          </a:p>
        </p:txBody>
      </p:sp>
      <p:sp>
        <p:nvSpPr>
          <p:cNvPr id="61" name="TextBox 60"/>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Ranked donors with evidence summary (focal lift, donor decline, distribution delta)</a:t>
            </a:r>
          </a:p>
        </p:txBody>
      </p:sp>
      <p:sp>
        <p:nvSpPr>
          <p:cNvPr id="62" name="TextBox 61"/>
          <p:cNvSpPr txBox="1"/>
          <p:nvPr/>
        </p:nvSpPr>
        <p:spPr>
          <a:xfrm>
            <a:off x="5623559" y="2715768"/>
            <a:ext cx="6126479" cy="256032"/>
          </a:xfrm>
          <a:prstGeom prst="rect">
            <a:avLst/>
          </a:prstGeom>
          <a:noFill/>
        </p:spPr>
        <p:txBody>
          <a:bodyPr wrap="square">
            <a:spAutoFit/>
          </a:bodyPr>
          <a:lstStyle/>
          <a:p>
            <a:pPr algn="l"/>
            <a:r>
              <a:rPr sz="950" b="0" i="0">
                <a:solidFill>
                  <a:srgbClr val="0E5E38"/>
                </a:solidFill>
                <a:latin typeface="Calibri"/>
              </a:rPr>
              <a:t>›  Incremental share — net-new demand vs. transferred demand  [FML-10]</a:t>
            </a:r>
          </a:p>
        </p:txBody>
      </p:sp>
      <p:sp>
        <p:nvSpPr>
          <p:cNvPr id="63" name="TextBox 62"/>
          <p:cNvSpPr txBox="1"/>
          <p:nvPr/>
        </p:nvSpPr>
        <p:spPr>
          <a:xfrm>
            <a:off x="5623559" y="3035808"/>
            <a:ext cx="6126479" cy="256032"/>
          </a:xfrm>
          <a:prstGeom prst="rect">
            <a:avLst/>
          </a:prstGeom>
          <a:noFill/>
        </p:spPr>
        <p:txBody>
          <a:bodyPr wrap="square">
            <a:spAutoFit/>
          </a:bodyPr>
          <a:lstStyle/>
          <a:p>
            <a:pPr algn="l"/>
            <a:r>
              <a:rPr sz="950" b="0" i="0">
                <a:solidFill>
                  <a:srgbClr val="0E5E38"/>
                </a:solidFill>
                <a:latin typeface="Calibri"/>
              </a:rPr>
              <a:t>›  Cannibalization rate actuals + 13-week forward projection  [FML-09]</a:t>
            </a:r>
          </a:p>
        </p:txBody>
      </p:sp>
      <p:sp>
        <p:nvSpPr>
          <p:cNvPr id="64" name="Rectangle 63"/>
          <p:cNvSpPr/>
          <p:nvPr/>
        </p:nvSpPr>
        <p:spPr>
          <a:xfrm>
            <a:off x="5349240" y="349300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458968" y="353872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66" name="Rectangle 65"/>
          <p:cNvSpPr/>
          <p:nvPr/>
        </p:nvSpPr>
        <p:spPr>
          <a:xfrm>
            <a:off x="5349240" y="376732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Actual weekly demand trend for focal and donor SKUs</a:t>
            </a:r>
          </a:p>
        </p:txBody>
      </p:sp>
      <p:sp>
        <p:nvSpPr>
          <p:cNvPr id="68" name="TextBox 67"/>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Distribution (TDP) trend — stores stocking each SKU over time  [FML-05]</a:t>
            </a:r>
          </a:p>
        </p:txBody>
      </p:sp>
      <p:sp>
        <p:nvSpPr>
          <p:cNvPr id="69" name="TextBox 68"/>
          <p:cNvSpPr txBox="1"/>
          <p:nvPr/>
        </p:nvSpPr>
        <p:spPr>
          <a:xfrm>
            <a:off x="5623559" y="4471416"/>
            <a:ext cx="6126479" cy="256032"/>
          </a:xfrm>
          <a:prstGeom prst="rect">
            <a:avLst/>
          </a:prstGeom>
          <a:noFill/>
        </p:spPr>
        <p:txBody>
          <a:bodyPr wrap="square">
            <a:spAutoFit/>
          </a:bodyPr>
          <a:lstStyle/>
          <a:p>
            <a:pPr algn="l"/>
            <a:r>
              <a:rPr sz="950" b="0" i="0">
                <a:solidFill>
                  <a:srgbClr val="8A4800"/>
                </a:solidFill>
                <a:latin typeface="Calibri"/>
              </a:rPr>
              <a:t>›  Geography heatmap — which markets show the strongest demand transfer</a:t>
            </a:r>
          </a:p>
        </p:txBody>
      </p:sp>
      <p:sp>
        <p:nvSpPr>
          <p:cNvPr id="70" name="TextBox 69"/>
          <p:cNvSpPr txBox="1"/>
          <p:nvPr/>
        </p:nvSpPr>
        <p:spPr>
          <a:xfrm>
            <a:off x="5623559" y="4791456"/>
            <a:ext cx="6126479" cy="256032"/>
          </a:xfrm>
          <a:prstGeom prst="rect">
            <a:avLst/>
          </a:prstGeom>
          <a:noFill/>
        </p:spPr>
        <p:txBody>
          <a:bodyPr wrap="square">
            <a:spAutoFit/>
          </a:bodyPr>
          <a:lstStyle/>
          <a:p>
            <a:pPr algn="l"/>
            <a:r>
              <a:rPr sz="950" b="0" i="0">
                <a:solidFill>
                  <a:srgbClr val="8A4800"/>
                </a:solidFill>
                <a:latin typeface="Calibri"/>
              </a:rPr>
              <a:t>›  Launch ramp chart — weeks 1–16 of distribution build vs. category norms</a:t>
            </a:r>
          </a:p>
        </p:txBody>
      </p:sp>
      <p:sp>
        <p:nvSpPr>
          <p:cNvPr id="71" name="TextBox 70"/>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02</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Price Elasticity</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"If we change price by X%, how much does demand change — and what is the optimal price point?"</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Average retail price</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Measure price level across accounts and weeks</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Weekly units sold</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Measure demand response to price changes</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Base price (non-promo ARP)</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Separate everyday price from promo price</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Promo discount depth (%)</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Quantify the magnitude of promotional price drops</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Incremental units (promo-driven)</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Isolate promoted demand from baseline</a:t>
            </a:r>
          </a:p>
        </p:txBody>
      </p:sp>
      <p:sp>
        <p:nvSpPr>
          <p:cNvPr id="34" name="Rectangle 33"/>
          <p:cNvSpPr/>
          <p:nvPr/>
        </p:nvSpPr>
        <p:spPr>
          <a:xfrm>
            <a:off x="411480" y="3337560"/>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4632" y="3392424"/>
            <a:ext cx="2194560" cy="228600"/>
          </a:xfrm>
          <a:prstGeom prst="rect">
            <a:avLst/>
          </a:prstGeom>
          <a:noFill/>
        </p:spPr>
        <p:txBody>
          <a:bodyPr wrap="square">
            <a:spAutoFit/>
          </a:bodyPr>
          <a:lstStyle/>
          <a:p>
            <a:pPr algn="l"/>
            <a:r>
              <a:rPr sz="850" b="1" i="0">
                <a:solidFill>
                  <a:srgbClr val="111827"/>
                </a:solidFill>
                <a:latin typeface="Calibri"/>
              </a:rPr>
              <a:t>Distribution (TDP)</a:t>
            </a:r>
          </a:p>
        </p:txBody>
      </p:sp>
      <p:sp>
        <p:nvSpPr>
          <p:cNvPr id="36" name="TextBox 35"/>
          <p:cNvSpPr txBox="1"/>
          <p:nvPr/>
        </p:nvSpPr>
        <p:spPr>
          <a:xfrm>
            <a:off x="2770632" y="339242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7" name="TextBox 36"/>
          <p:cNvSpPr txBox="1"/>
          <p:nvPr/>
        </p:nvSpPr>
        <p:spPr>
          <a:xfrm>
            <a:off x="3776472" y="3392424"/>
            <a:ext cx="1115568" cy="228600"/>
          </a:xfrm>
          <a:prstGeom prst="rect">
            <a:avLst/>
          </a:prstGeom>
          <a:noFill/>
        </p:spPr>
        <p:txBody>
          <a:bodyPr wrap="square">
            <a:spAutoFit/>
          </a:bodyPr>
          <a:lstStyle/>
          <a:p>
            <a:pPr algn="l"/>
            <a:r>
              <a:rPr sz="750" b="0" i="0">
                <a:solidFill>
                  <a:srgbClr val="6B7FA0"/>
                </a:solidFill>
                <a:latin typeface="Calibri"/>
              </a:rPr>
              <a:t>Control for distribution changes that mimic price effects</a:t>
            </a:r>
          </a:p>
        </p:txBody>
      </p:sp>
      <p:sp>
        <p:nvSpPr>
          <p:cNvPr id="38" name="Rectangle 37"/>
          <p:cNvSpPr/>
          <p:nvPr/>
        </p:nvSpPr>
        <p:spPr>
          <a:xfrm>
            <a:off x="411480" y="3621024"/>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4632" y="3675888"/>
            <a:ext cx="2194560" cy="228600"/>
          </a:xfrm>
          <a:prstGeom prst="rect">
            <a:avLst/>
          </a:prstGeom>
          <a:noFill/>
        </p:spPr>
        <p:txBody>
          <a:bodyPr wrap="square">
            <a:spAutoFit/>
          </a:bodyPr>
          <a:lstStyle/>
          <a:p>
            <a:pPr algn="l"/>
            <a:r>
              <a:rPr sz="850" b="1" i="0">
                <a:solidFill>
                  <a:srgbClr val="111827"/>
                </a:solidFill>
                <a:latin typeface="Calibri"/>
              </a:rPr>
              <a:t>Competitor price (same flavor)</a:t>
            </a:r>
          </a:p>
        </p:txBody>
      </p:sp>
      <p:sp>
        <p:nvSpPr>
          <p:cNvPr id="40" name="TextBox 39"/>
          <p:cNvSpPr txBox="1"/>
          <p:nvPr/>
        </p:nvSpPr>
        <p:spPr>
          <a:xfrm>
            <a:off x="2770632" y="367588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41" name="TextBox 40"/>
          <p:cNvSpPr txBox="1"/>
          <p:nvPr/>
        </p:nvSpPr>
        <p:spPr>
          <a:xfrm>
            <a:off x="3776472" y="3675888"/>
            <a:ext cx="1115568" cy="228600"/>
          </a:xfrm>
          <a:prstGeom prst="rect">
            <a:avLst/>
          </a:prstGeom>
          <a:noFill/>
        </p:spPr>
        <p:txBody>
          <a:bodyPr wrap="square">
            <a:spAutoFit/>
          </a:bodyPr>
          <a:lstStyle/>
          <a:p>
            <a:pPr algn="l"/>
            <a:r>
              <a:rPr sz="750" b="0" i="0">
                <a:solidFill>
                  <a:srgbClr val="6B7FA0"/>
                </a:solidFill>
                <a:latin typeface="Calibri"/>
              </a:rPr>
              <a:t>Separate own-price from competitive pressure</a:t>
            </a:r>
          </a:p>
        </p:txBody>
      </p:sp>
      <p:sp>
        <p:nvSpPr>
          <p:cNvPr id="42" name="Rectangle 41"/>
          <p:cNvSpPr/>
          <p:nvPr/>
        </p:nvSpPr>
        <p:spPr>
          <a:xfrm>
            <a:off x="411480" y="4014216"/>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4050792"/>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44" name="Rectangle 43"/>
          <p:cNvSpPr/>
          <p:nvPr/>
        </p:nvSpPr>
        <p:spPr>
          <a:xfrm>
            <a:off x="502920" y="43616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288536"/>
            <a:ext cx="4224528" cy="274320"/>
          </a:xfrm>
          <a:prstGeom prst="rect">
            <a:avLst/>
          </a:prstGeom>
          <a:noFill/>
        </p:spPr>
        <p:txBody>
          <a:bodyPr wrap="square">
            <a:spAutoFit/>
          </a:bodyPr>
          <a:lstStyle/>
          <a:p>
            <a:pPr algn="l"/>
            <a:r>
              <a:rPr sz="850" b="0" i="0">
                <a:solidFill>
                  <a:srgbClr val="111827"/>
                </a:solidFill>
                <a:latin typeface="Calibri"/>
              </a:rPr>
              <a:t>Normalize price to $/bar so singles and 12-packs are comparable  [FML-02]</a:t>
            </a:r>
          </a:p>
        </p:txBody>
      </p:sp>
      <p:sp>
        <p:nvSpPr>
          <p:cNvPr id="46" name="Rectangle 45"/>
          <p:cNvSpPr/>
          <p:nvPr/>
        </p:nvSpPr>
        <p:spPr>
          <a:xfrm>
            <a:off x="502920" y="463600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562856"/>
            <a:ext cx="4224528" cy="274320"/>
          </a:xfrm>
          <a:prstGeom prst="rect">
            <a:avLst/>
          </a:prstGeom>
          <a:noFill/>
        </p:spPr>
        <p:txBody>
          <a:bodyPr wrap="square">
            <a:spAutoFit/>
          </a:bodyPr>
          <a:lstStyle/>
          <a:p>
            <a:pPr algn="l"/>
            <a:r>
              <a:rPr sz="850" b="0" i="0">
                <a:solidFill>
                  <a:srgbClr val="111827"/>
                </a:solidFill>
                <a:latin typeface="Calibri"/>
              </a:rPr>
              <a:t>Build 13-week log-log regression windows per SKU × account  [FML-01]</a:t>
            </a:r>
          </a:p>
        </p:txBody>
      </p:sp>
      <p:sp>
        <p:nvSpPr>
          <p:cNvPr id="48" name="Rectangle 47"/>
          <p:cNvSpPr/>
          <p:nvPr/>
        </p:nvSpPr>
        <p:spPr>
          <a:xfrm>
            <a:off x="502920" y="491032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 y="4837176"/>
            <a:ext cx="4224528" cy="274320"/>
          </a:xfrm>
          <a:prstGeom prst="rect">
            <a:avLst/>
          </a:prstGeom>
          <a:noFill/>
        </p:spPr>
        <p:txBody>
          <a:bodyPr wrap="square">
            <a:spAutoFit/>
          </a:bodyPr>
          <a:lstStyle/>
          <a:p>
            <a:pPr algn="l"/>
            <a:r>
              <a:rPr sz="850" b="0" i="0">
                <a:solidFill>
                  <a:srgbClr val="111827"/>
                </a:solidFill>
                <a:latin typeface="Calibri"/>
              </a:rPr>
              <a:t>Separate promotional price changes from everyday price changes</a:t>
            </a:r>
          </a:p>
        </p:txBody>
      </p:sp>
      <p:sp>
        <p:nvSpPr>
          <p:cNvPr id="50" name="Rectangle 49"/>
          <p:cNvSpPr/>
          <p:nvPr/>
        </p:nvSpPr>
        <p:spPr>
          <a:xfrm>
            <a:off x="502920" y="518464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5111496"/>
            <a:ext cx="4224528" cy="274320"/>
          </a:xfrm>
          <a:prstGeom prst="rect">
            <a:avLst/>
          </a:prstGeom>
          <a:noFill/>
        </p:spPr>
        <p:txBody>
          <a:bodyPr wrap="square">
            <a:spAutoFit/>
          </a:bodyPr>
          <a:lstStyle/>
          <a:p>
            <a:pPr algn="l"/>
            <a:r>
              <a:rPr sz="850" b="0" i="0">
                <a:solidFill>
                  <a:srgbClr val="111827"/>
                </a:solidFill>
                <a:latin typeface="Calibri"/>
              </a:rPr>
              <a:t>Compare BUILT $/bar vs. same-flavor competitor in the same account and week</a:t>
            </a:r>
          </a:p>
        </p:txBody>
      </p:sp>
      <p:sp>
        <p:nvSpPr>
          <p:cNvPr id="52" name="Rectangle 51"/>
          <p:cNvSpPr/>
          <p:nvPr/>
        </p:nvSpPr>
        <p:spPr>
          <a:xfrm>
            <a:off x="502920" y="545896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385816"/>
            <a:ext cx="4224528" cy="274320"/>
          </a:xfrm>
          <a:prstGeom prst="rect">
            <a:avLst/>
          </a:prstGeom>
          <a:noFill/>
        </p:spPr>
        <p:txBody>
          <a:bodyPr wrap="square">
            <a:spAutoFit/>
          </a:bodyPr>
          <a:lstStyle/>
          <a:p>
            <a:pPr algn="l"/>
            <a:r>
              <a:rPr sz="850" b="0" i="0">
                <a:solidFill>
                  <a:srgbClr val="111827"/>
                </a:solidFill>
                <a:latin typeface="Calibri"/>
              </a:rPr>
              <a:t>Compare $/bar across BUILT own pack sizes of the same flavor (pack-ladder check)</a:t>
            </a:r>
          </a:p>
        </p:txBody>
      </p:sp>
      <p:sp>
        <p:nvSpPr>
          <p:cNvPr id="54" name="Rectangle 53"/>
          <p:cNvSpPr/>
          <p:nvPr/>
        </p:nvSpPr>
        <p:spPr>
          <a:xfrm>
            <a:off x="502920" y="57332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 y="5660136"/>
            <a:ext cx="4224528" cy="274320"/>
          </a:xfrm>
          <a:prstGeom prst="rect">
            <a:avLst/>
          </a:prstGeom>
          <a:noFill/>
        </p:spPr>
        <p:txBody>
          <a:bodyPr wrap="square">
            <a:spAutoFit/>
          </a:bodyPr>
          <a:lstStyle/>
          <a:p>
            <a:pPr algn="l"/>
            <a:r>
              <a:rPr sz="850" b="0" i="0">
                <a:solidFill>
                  <a:srgbClr val="111827"/>
                </a:solidFill>
                <a:latin typeface="Calibri"/>
              </a:rPr>
              <a:t>Reject windows where price moved &gt;40% in one week — data artifact guardrail  [GRD-01]</a:t>
            </a:r>
          </a:p>
        </p:txBody>
      </p:sp>
      <p:sp>
        <p:nvSpPr>
          <p:cNvPr id="56" name="Rectangle 55"/>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58" name="Rectangle 57"/>
          <p:cNvSpPr/>
          <p:nvPr/>
        </p:nvSpPr>
        <p:spPr>
          <a:xfrm>
            <a:off x="5349240" y="1691640"/>
            <a:ext cx="6492240" cy="169164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Own-price elasticity ε with confidence range (q10 / q50 / q90)  [FML-01]</a:t>
            </a:r>
          </a:p>
        </p:txBody>
      </p:sp>
      <p:sp>
        <p:nvSpPr>
          <p:cNvPr id="60" name="TextBox 59"/>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Cross-price elasticity — demand response to competitor price changes</a:t>
            </a:r>
          </a:p>
        </p:txBody>
      </p:sp>
      <p:sp>
        <p:nvSpPr>
          <p:cNvPr id="61" name="TextBox 60"/>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Promo elasticity curve — lift at each discount depth  [FML-04]</a:t>
            </a:r>
          </a:p>
        </p:txBody>
      </p:sp>
      <p:sp>
        <p:nvSpPr>
          <p:cNvPr id="62" name="TextBox 61"/>
          <p:cNvSpPr txBox="1"/>
          <p:nvPr/>
        </p:nvSpPr>
        <p:spPr>
          <a:xfrm>
            <a:off x="5623559" y="2715768"/>
            <a:ext cx="6126479" cy="256032"/>
          </a:xfrm>
          <a:prstGeom prst="rect">
            <a:avLst/>
          </a:prstGeom>
          <a:noFill/>
        </p:spPr>
        <p:txBody>
          <a:bodyPr wrap="square">
            <a:spAutoFit/>
          </a:bodyPr>
          <a:lstStyle/>
          <a:p>
            <a:pPr algn="l"/>
            <a:r>
              <a:rPr sz="950" b="0" i="0">
                <a:solidFill>
                  <a:srgbClr val="0E5E38"/>
                </a:solidFill>
                <a:latin typeface="Calibri"/>
              </a:rPr>
              <a:t>›  What-if demand curves — projected units at alternative price points</a:t>
            </a:r>
          </a:p>
        </p:txBody>
      </p:sp>
      <p:sp>
        <p:nvSpPr>
          <p:cNvPr id="63" name="TextBox 62"/>
          <p:cNvSpPr txBox="1"/>
          <p:nvPr/>
        </p:nvSpPr>
        <p:spPr>
          <a:xfrm>
            <a:off x="5623559" y="3035808"/>
            <a:ext cx="6126479" cy="256032"/>
          </a:xfrm>
          <a:prstGeom prst="rect">
            <a:avLst/>
          </a:prstGeom>
          <a:noFill/>
        </p:spPr>
        <p:txBody>
          <a:bodyPr wrap="square">
            <a:spAutoFit/>
          </a:bodyPr>
          <a:lstStyle/>
          <a:p>
            <a:pPr algn="l"/>
            <a:r>
              <a:rPr sz="950" b="0" i="0">
                <a:solidFill>
                  <a:srgbClr val="0E5E38"/>
                </a:solidFill>
                <a:latin typeface="Calibri"/>
              </a:rPr>
              <a:t>›  Pricing event queue — active competitive gaps or pack-ladder compression</a:t>
            </a:r>
          </a:p>
        </p:txBody>
      </p:sp>
      <p:sp>
        <p:nvSpPr>
          <p:cNvPr id="64" name="Rectangle 63"/>
          <p:cNvSpPr/>
          <p:nvPr/>
        </p:nvSpPr>
        <p:spPr>
          <a:xfrm>
            <a:off x="5349240" y="349300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458968" y="353872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66" name="Rectangle 65"/>
          <p:cNvSpPr/>
          <p:nvPr/>
        </p:nvSpPr>
        <p:spPr>
          <a:xfrm>
            <a:off x="5349240" y="376732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Current $/bar and 52-week price trend by retailer account</a:t>
            </a:r>
          </a:p>
        </p:txBody>
      </p:sp>
      <p:sp>
        <p:nvSpPr>
          <p:cNvPr id="68" name="TextBox 67"/>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Pack price ladder — single / 4pk / 12pk side-by-side in the same account</a:t>
            </a:r>
          </a:p>
        </p:txBody>
      </p:sp>
      <p:sp>
        <p:nvSpPr>
          <p:cNvPr id="69" name="TextBox 68"/>
          <p:cNvSpPr txBox="1"/>
          <p:nvPr/>
        </p:nvSpPr>
        <p:spPr>
          <a:xfrm>
            <a:off x="5623559" y="4471416"/>
            <a:ext cx="6126479" cy="256032"/>
          </a:xfrm>
          <a:prstGeom prst="rect">
            <a:avLst/>
          </a:prstGeom>
          <a:noFill/>
        </p:spPr>
        <p:txBody>
          <a:bodyPr wrap="square">
            <a:spAutoFit/>
          </a:bodyPr>
          <a:lstStyle/>
          <a:p>
            <a:pPr algn="l"/>
            <a:r>
              <a:rPr sz="950" b="0" i="0">
                <a:solidFill>
                  <a:srgbClr val="8A4800"/>
                </a:solidFill>
                <a:latin typeface="Calibri"/>
              </a:rPr>
              <a:t>›  Competitive price gap chart — BUILT vs. Tier 1 competitor in the same flavor</a:t>
            </a:r>
          </a:p>
        </p:txBody>
      </p:sp>
      <p:sp>
        <p:nvSpPr>
          <p:cNvPr id="70" name="TextBox 69"/>
          <p:cNvSpPr txBox="1"/>
          <p:nvPr/>
        </p:nvSpPr>
        <p:spPr>
          <a:xfrm>
            <a:off x="5623559" y="4791456"/>
            <a:ext cx="6126479" cy="256032"/>
          </a:xfrm>
          <a:prstGeom prst="rect">
            <a:avLst/>
          </a:prstGeom>
          <a:noFill/>
        </p:spPr>
        <p:txBody>
          <a:bodyPr wrap="square">
            <a:spAutoFit/>
          </a:bodyPr>
          <a:lstStyle/>
          <a:p>
            <a:pPr algn="l"/>
            <a:r>
              <a:rPr sz="950" b="0" i="0">
                <a:solidFill>
                  <a:srgbClr val="8A4800"/>
                </a:solidFill>
                <a:latin typeface="Calibri"/>
              </a:rPr>
              <a:t>›  Category benchmark — BUILT $/bar vs. MULO FOOD category average  [GEO-01]</a:t>
            </a:r>
          </a:p>
        </p:txBody>
      </p:sp>
      <p:sp>
        <p:nvSpPr>
          <p:cNvPr id="71" name="TextBox 70"/>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03</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Promotional Response</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"How much incremental demand does a promotion generate — and what depth maximizes return?"</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Incremental units</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SPINS-attributed demand above non-promo baseline</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Base units (non-promo)</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Denominator for promo lift ratio  [FML-03]</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 units sold on promotion</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Measure how promo-dependent a SKU is</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Promo discount depth (%)</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Quantify the price concession driving lift</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Channel (grocery / mass / c-store)</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Response curves differ by channel</a:t>
            </a:r>
          </a:p>
        </p:txBody>
      </p:sp>
      <p:sp>
        <p:nvSpPr>
          <p:cNvPr id="34" name="Rectangle 33"/>
          <p:cNvSpPr/>
          <p:nvPr/>
        </p:nvSpPr>
        <p:spPr>
          <a:xfrm>
            <a:off x="411480" y="3337560"/>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4632" y="3392424"/>
            <a:ext cx="2194560" cy="228600"/>
          </a:xfrm>
          <a:prstGeom prst="rect">
            <a:avLst/>
          </a:prstGeom>
          <a:noFill/>
        </p:spPr>
        <p:txBody>
          <a:bodyPr wrap="square">
            <a:spAutoFit/>
          </a:bodyPr>
          <a:lstStyle/>
          <a:p>
            <a:pPr algn="l"/>
            <a:r>
              <a:rPr sz="850" b="1" i="0">
                <a:solidFill>
                  <a:srgbClr val="111827"/>
                </a:solidFill>
                <a:latin typeface="Calibri"/>
              </a:rPr>
              <a:t>Pack count</a:t>
            </a:r>
          </a:p>
        </p:txBody>
      </p:sp>
      <p:sp>
        <p:nvSpPr>
          <p:cNvPr id="36" name="TextBox 35"/>
          <p:cNvSpPr txBox="1"/>
          <p:nvPr/>
        </p:nvSpPr>
        <p:spPr>
          <a:xfrm>
            <a:off x="2770632" y="339242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7" name="TextBox 36"/>
          <p:cNvSpPr txBox="1"/>
          <p:nvPr/>
        </p:nvSpPr>
        <p:spPr>
          <a:xfrm>
            <a:off x="3776472" y="3392424"/>
            <a:ext cx="1115568" cy="228600"/>
          </a:xfrm>
          <a:prstGeom prst="rect">
            <a:avLst/>
          </a:prstGeom>
          <a:noFill/>
        </p:spPr>
        <p:txBody>
          <a:bodyPr wrap="square">
            <a:spAutoFit/>
          </a:bodyPr>
          <a:lstStyle/>
          <a:p>
            <a:pPr algn="l"/>
            <a:r>
              <a:rPr sz="750" b="0" i="0">
                <a:solidFill>
                  <a:srgbClr val="6B7FA0"/>
                </a:solidFill>
                <a:latin typeface="Calibri"/>
              </a:rPr>
              <a:t>12pk cliff behavior differs from single bar</a:t>
            </a:r>
          </a:p>
        </p:txBody>
      </p:sp>
      <p:sp>
        <p:nvSpPr>
          <p:cNvPr id="38" name="Rectangle 37"/>
          <p:cNvSpPr/>
          <p:nvPr/>
        </p:nvSpPr>
        <p:spPr>
          <a:xfrm>
            <a:off x="411480" y="3621024"/>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4632" y="3675888"/>
            <a:ext cx="2194560" cy="228600"/>
          </a:xfrm>
          <a:prstGeom prst="rect">
            <a:avLst/>
          </a:prstGeom>
          <a:noFill/>
        </p:spPr>
        <p:txBody>
          <a:bodyPr wrap="square">
            <a:spAutoFit/>
          </a:bodyPr>
          <a:lstStyle/>
          <a:p>
            <a:pPr algn="l"/>
            <a:r>
              <a:rPr sz="850" b="1" i="0">
                <a:solidFill>
                  <a:srgbClr val="111827"/>
                </a:solidFill>
                <a:latin typeface="Calibri"/>
              </a:rPr>
              <a:t>Distribution on promo (TDP, Any Promo)</a:t>
            </a:r>
          </a:p>
        </p:txBody>
      </p:sp>
      <p:sp>
        <p:nvSpPr>
          <p:cNvPr id="40" name="TextBox 39"/>
          <p:cNvSpPr txBox="1"/>
          <p:nvPr/>
        </p:nvSpPr>
        <p:spPr>
          <a:xfrm>
            <a:off x="2770632" y="367588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41" name="TextBox 40"/>
          <p:cNvSpPr txBox="1"/>
          <p:nvPr/>
        </p:nvSpPr>
        <p:spPr>
          <a:xfrm>
            <a:off x="3776472" y="3675888"/>
            <a:ext cx="1115568" cy="228600"/>
          </a:xfrm>
          <a:prstGeom prst="rect">
            <a:avLst/>
          </a:prstGeom>
          <a:noFill/>
        </p:spPr>
        <p:txBody>
          <a:bodyPr wrap="square">
            <a:spAutoFit/>
          </a:bodyPr>
          <a:lstStyle/>
          <a:p>
            <a:pPr algn="l"/>
            <a:r>
              <a:rPr sz="750" b="0" i="0">
                <a:solidFill>
                  <a:srgbClr val="6B7FA0"/>
                </a:solidFill>
                <a:latin typeface="Calibri"/>
              </a:rPr>
              <a:t>Separate display from pure price promo</a:t>
            </a:r>
          </a:p>
        </p:txBody>
      </p:sp>
      <p:sp>
        <p:nvSpPr>
          <p:cNvPr id="42" name="Rectangle 41"/>
          <p:cNvSpPr/>
          <p:nvPr/>
        </p:nvSpPr>
        <p:spPr>
          <a:xfrm>
            <a:off x="411480" y="4014216"/>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4050792"/>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44" name="Rectangle 43"/>
          <p:cNvSpPr/>
          <p:nvPr/>
        </p:nvSpPr>
        <p:spPr>
          <a:xfrm>
            <a:off x="502920" y="43616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288536"/>
            <a:ext cx="4224528" cy="274320"/>
          </a:xfrm>
          <a:prstGeom prst="rect">
            <a:avLst/>
          </a:prstGeom>
          <a:noFill/>
        </p:spPr>
        <p:txBody>
          <a:bodyPr wrap="square">
            <a:spAutoFit/>
          </a:bodyPr>
          <a:lstStyle/>
          <a:p>
            <a:pPr algn="l"/>
            <a:r>
              <a:rPr sz="850" b="0" i="0">
                <a:solidFill>
                  <a:srgbClr val="111827"/>
                </a:solidFill>
                <a:latin typeface="Calibri"/>
              </a:rPr>
              <a:t>Calculate promo lift ratio: incremental units ÷ base units, per SKU × account × event  [FML-03]</a:t>
            </a:r>
          </a:p>
        </p:txBody>
      </p:sp>
      <p:sp>
        <p:nvSpPr>
          <p:cNvPr id="46" name="Rectangle 45"/>
          <p:cNvSpPr/>
          <p:nvPr/>
        </p:nvSpPr>
        <p:spPr>
          <a:xfrm>
            <a:off x="502920" y="463600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562856"/>
            <a:ext cx="4224528" cy="274320"/>
          </a:xfrm>
          <a:prstGeom prst="rect">
            <a:avLst/>
          </a:prstGeom>
          <a:noFill/>
        </p:spPr>
        <p:txBody>
          <a:bodyPr wrap="square">
            <a:spAutoFit/>
          </a:bodyPr>
          <a:lstStyle/>
          <a:p>
            <a:pPr algn="l"/>
            <a:r>
              <a:rPr sz="850" b="0" i="0">
                <a:solidFill>
                  <a:srgbClr val="111827"/>
                </a:solidFill>
                <a:latin typeface="Calibri"/>
              </a:rPr>
              <a:t>Group events into discount depth buckets (0–10%, 10–20%, 20–30%, 30%+)</a:t>
            </a:r>
          </a:p>
        </p:txBody>
      </p:sp>
      <p:sp>
        <p:nvSpPr>
          <p:cNvPr id="48" name="Rectangle 47"/>
          <p:cNvSpPr/>
          <p:nvPr/>
        </p:nvSpPr>
        <p:spPr>
          <a:xfrm>
            <a:off x="502920" y="491032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 y="4837176"/>
            <a:ext cx="4224528" cy="274320"/>
          </a:xfrm>
          <a:prstGeom prst="rect">
            <a:avLst/>
          </a:prstGeom>
          <a:noFill/>
        </p:spPr>
        <p:txBody>
          <a:bodyPr wrap="square">
            <a:spAutoFit/>
          </a:bodyPr>
          <a:lstStyle/>
          <a:p>
            <a:pPr algn="l"/>
            <a:r>
              <a:rPr sz="850" b="0" i="0">
                <a:solidFill>
                  <a:srgbClr val="111827"/>
                </a:solidFill>
                <a:latin typeface="Calibri"/>
              </a:rPr>
              <a:t>Separate response curves by channel — grocery and c-store show distinct lift profiles</a:t>
            </a:r>
          </a:p>
        </p:txBody>
      </p:sp>
      <p:sp>
        <p:nvSpPr>
          <p:cNvPr id="50" name="Rectangle 49"/>
          <p:cNvSpPr/>
          <p:nvPr/>
        </p:nvSpPr>
        <p:spPr>
          <a:xfrm>
            <a:off x="502920" y="518464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5111496"/>
            <a:ext cx="4224528" cy="274320"/>
          </a:xfrm>
          <a:prstGeom prst="rect">
            <a:avLst/>
          </a:prstGeom>
          <a:noFill/>
        </p:spPr>
        <p:txBody>
          <a:bodyPr wrap="square">
            <a:spAutoFit/>
          </a:bodyPr>
          <a:lstStyle/>
          <a:p>
            <a:pPr algn="l"/>
            <a:r>
              <a:rPr sz="850" b="0" i="0">
                <a:solidFill>
                  <a:srgbClr val="111827"/>
                </a:solidFill>
                <a:latin typeface="Calibri"/>
              </a:rPr>
              <a:t>Separate response curves by pack size — 12-packs show a 30%+ discount cliff</a:t>
            </a:r>
          </a:p>
        </p:txBody>
      </p:sp>
      <p:sp>
        <p:nvSpPr>
          <p:cNvPr id="52" name="Rectangle 51"/>
          <p:cNvSpPr/>
          <p:nvPr/>
        </p:nvSpPr>
        <p:spPr>
          <a:xfrm>
            <a:off x="502920" y="545896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385816"/>
            <a:ext cx="4224528" cy="274320"/>
          </a:xfrm>
          <a:prstGeom prst="rect">
            <a:avLst/>
          </a:prstGeom>
          <a:noFill/>
        </p:spPr>
        <p:txBody>
          <a:bodyPr wrap="square">
            <a:spAutoFit/>
          </a:bodyPr>
          <a:lstStyle/>
          <a:p>
            <a:pPr algn="l"/>
            <a:r>
              <a:rPr sz="850" b="0" i="0">
                <a:solidFill>
                  <a:srgbClr val="111827"/>
                </a:solidFill>
                <a:latin typeface="Calibri"/>
              </a:rPr>
              <a:t>Identify the depth where marginal lift no longer justifies additional margin give-up</a:t>
            </a:r>
          </a:p>
        </p:txBody>
      </p:sp>
      <p:sp>
        <p:nvSpPr>
          <p:cNvPr id="54" name="Rectangle 53"/>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56" name="Rectangle 55"/>
          <p:cNvSpPr/>
          <p:nvPr/>
        </p:nvSpPr>
        <p:spPr>
          <a:xfrm>
            <a:off x="5349240" y="1691640"/>
            <a:ext cx="6492240" cy="105156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Expected lift % at each discount depth for this SKU × channel × pack size</a:t>
            </a:r>
          </a:p>
        </p:txBody>
      </p:sp>
      <p:sp>
        <p:nvSpPr>
          <p:cNvPr id="58" name="TextBox 57"/>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Optimal discount depth recommendation — where lift peaks before the cliff</a:t>
            </a:r>
          </a:p>
        </p:txBody>
      </p:sp>
      <p:sp>
        <p:nvSpPr>
          <p:cNvPr id="59" name="TextBox 58"/>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Incremental vs. cannibalized demand breakdown at each discount level</a:t>
            </a:r>
          </a:p>
        </p:txBody>
      </p:sp>
      <p:sp>
        <p:nvSpPr>
          <p:cNvPr id="60" name="Rectangle 59"/>
          <p:cNvSpPr/>
          <p:nvPr/>
        </p:nvSpPr>
        <p:spPr>
          <a:xfrm>
            <a:off x="5349240" y="285292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58968" y="289864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62" name="Rectangle 61"/>
          <p:cNvSpPr/>
          <p:nvPr/>
        </p:nvSpPr>
        <p:spPr>
          <a:xfrm>
            <a:off x="5349240" y="312724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23559" y="3191256"/>
            <a:ext cx="6126479" cy="256032"/>
          </a:xfrm>
          <a:prstGeom prst="rect">
            <a:avLst/>
          </a:prstGeom>
          <a:noFill/>
        </p:spPr>
        <p:txBody>
          <a:bodyPr wrap="square">
            <a:spAutoFit/>
          </a:bodyPr>
          <a:lstStyle/>
          <a:p>
            <a:pPr algn="l"/>
            <a:r>
              <a:rPr sz="950" b="0" i="0">
                <a:solidFill>
                  <a:srgbClr val="8A4800"/>
                </a:solidFill>
                <a:latin typeface="Calibri"/>
              </a:rPr>
              <a:t>›  Historical promo events — discount depth, timing, and observed lift per event</a:t>
            </a:r>
          </a:p>
        </p:txBody>
      </p:sp>
      <p:sp>
        <p:nvSpPr>
          <p:cNvPr id="64" name="TextBox 63"/>
          <p:cNvSpPr txBox="1"/>
          <p:nvPr/>
        </p:nvSpPr>
        <p:spPr>
          <a:xfrm>
            <a:off x="5623559" y="3511296"/>
            <a:ext cx="6126479" cy="256032"/>
          </a:xfrm>
          <a:prstGeom prst="rect">
            <a:avLst/>
          </a:prstGeom>
          <a:noFill/>
        </p:spPr>
        <p:txBody>
          <a:bodyPr wrap="square">
            <a:spAutoFit/>
          </a:bodyPr>
          <a:lstStyle/>
          <a:p>
            <a:pPr algn="l"/>
            <a:r>
              <a:rPr sz="950" b="0" i="0">
                <a:solidFill>
                  <a:srgbClr val="8A4800"/>
                </a:solidFill>
                <a:latin typeface="Calibri"/>
              </a:rPr>
              <a:t>›  Lift trend by event type — TPR vs. display vs. feature support</a:t>
            </a:r>
          </a:p>
        </p:txBody>
      </p:sp>
      <p:sp>
        <p:nvSpPr>
          <p:cNvPr id="65" name="TextBox 64"/>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 weeks on promo trend — is this SKU becoming promo-dependent?</a:t>
            </a:r>
          </a:p>
        </p:txBody>
      </p:sp>
      <p:sp>
        <p:nvSpPr>
          <p:cNvPr id="66" name="TextBox 65"/>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Channel comparison — lift curve across grocery / mass / c-store for this SKU</a:t>
            </a:r>
          </a:p>
        </p:txBody>
      </p:sp>
      <p:sp>
        <p:nvSpPr>
          <p:cNvPr id="67" name="TextBox 66"/>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04</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Demand Velocity &amp; Forecast</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"What will this SKU sell in the next 13 weeks, by retailer account?"</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52-week weekly units sold</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Training history for demand patterns</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Distribution (stores selling)</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Normalize velocity to exclude distribution gaps</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Average retail price</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Capture price-demand relationship in forecast</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 weeks on promotion</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Separate promoted from non-promoted baseline</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Retail account</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Train a separate model per account</a:t>
            </a:r>
          </a:p>
        </p:txBody>
      </p:sp>
      <p:sp>
        <p:nvSpPr>
          <p:cNvPr id="34" name="Rectangle 33"/>
          <p:cNvSpPr/>
          <p:nvPr/>
        </p:nvSpPr>
        <p:spPr>
          <a:xfrm>
            <a:off x="411480" y="3337560"/>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4632" y="3392424"/>
            <a:ext cx="2194560" cy="228600"/>
          </a:xfrm>
          <a:prstGeom prst="rect">
            <a:avLst/>
          </a:prstGeom>
          <a:noFill/>
        </p:spPr>
        <p:txBody>
          <a:bodyPr wrap="square">
            <a:spAutoFit/>
          </a:bodyPr>
          <a:lstStyle/>
          <a:p>
            <a:pPr algn="l"/>
            <a:r>
              <a:rPr sz="850" b="1" i="0">
                <a:solidFill>
                  <a:srgbClr val="111827"/>
                </a:solidFill>
                <a:latin typeface="Calibri"/>
              </a:rPr>
              <a:t>Week end date</a:t>
            </a:r>
          </a:p>
        </p:txBody>
      </p:sp>
      <p:sp>
        <p:nvSpPr>
          <p:cNvPr id="36" name="TextBox 35"/>
          <p:cNvSpPr txBox="1"/>
          <p:nvPr/>
        </p:nvSpPr>
        <p:spPr>
          <a:xfrm>
            <a:off x="2770632" y="339242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7" name="TextBox 36"/>
          <p:cNvSpPr txBox="1"/>
          <p:nvPr/>
        </p:nvSpPr>
        <p:spPr>
          <a:xfrm>
            <a:off x="3776472" y="3392424"/>
            <a:ext cx="1115568" cy="228600"/>
          </a:xfrm>
          <a:prstGeom prst="rect">
            <a:avLst/>
          </a:prstGeom>
          <a:noFill/>
        </p:spPr>
        <p:txBody>
          <a:bodyPr wrap="square">
            <a:spAutoFit/>
          </a:bodyPr>
          <a:lstStyle/>
          <a:p>
            <a:pPr algn="l"/>
            <a:r>
              <a:rPr sz="750" b="0" i="0">
                <a:solidFill>
                  <a:srgbClr val="6B7FA0"/>
                </a:solidFill>
                <a:latin typeface="Calibri"/>
              </a:rPr>
              <a:t>Derive seasonality index and calendar features</a:t>
            </a:r>
          </a:p>
        </p:txBody>
      </p:sp>
      <p:sp>
        <p:nvSpPr>
          <p:cNvPr id="38" name="Rectangle 37"/>
          <p:cNvSpPr/>
          <p:nvPr/>
        </p:nvSpPr>
        <p:spPr>
          <a:xfrm>
            <a:off x="411480" y="3730752"/>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3767328"/>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40" name="Rectangle 39"/>
          <p:cNvSpPr/>
          <p:nvPr/>
        </p:nvSpPr>
        <p:spPr>
          <a:xfrm>
            <a:off x="502920" y="4078224"/>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512" y="4005072"/>
            <a:ext cx="4224528" cy="274320"/>
          </a:xfrm>
          <a:prstGeom prst="rect">
            <a:avLst/>
          </a:prstGeom>
          <a:noFill/>
        </p:spPr>
        <p:txBody>
          <a:bodyPr wrap="square">
            <a:spAutoFit/>
          </a:bodyPr>
          <a:lstStyle/>
          <a:p>
            <a:pPr algn="l"/>
            <a:r>
              <a:rPr sz="850" b="0" i="0">
                <a:solidFill>
                  <a:srgbClr val="111827"/>
                </a:solidFill>
                <a:latin typeface="Calibri"/>
              </a:rPr>
              <a:t>Normalize to non-zero TDP weeks — eliminate false troughs from shelf-presence gaps  [FML-05]</a:t>
            </a:r>
          </a:p>
        </p:txBody>
      </p:sp>
      <p:sp>
        <p:nvSpPr>
          <p:cNvPr id="42" name="Rectangle 41"/>
          <p:cNvSpPr/>
          <p:nvPr/>
        </p:nvSpPr>
        <p:spPr>
          <a:xfrm>
            <a:off x="502920" y="4352544"/>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512" y="4279392"/>
            <a:ext cx="4224528" cy="274320"/>
          </a:xfrm>
          <a:prstGeom prst="rect">
            <a:avLst/>
          </a:prstGeom>
          <a:noFill/>
        </p:spPr>
        <p:txBody>
          <a:bodyPr wrap="square">
            <a:spAutoFit/>
          </a:bodyPr>
          <a:lstStyle/>
          <a:p>
            <a:pPr algn="l"/>
            <a:r>
              <a:rPr sz="850" b="0" i="0">
                <a:solidFill>
                  <a:srgbClr val="111827"/>
                </a:solidFill>
                <a:latin typeface="Calibri"/>
              </a:rPr>
              <a:t>Compute rolling averages (4-week, 13-week) to smooth noise while preserving trend</a:t>
            </a:r>
          </a:p>
        </p:txBody>
      </p:sp>
      <p:sp>
        <p:nvSpPr>
          <p:cNvPr id="44" name="Rectangle 43"/>
          <p:cNvSpPr/>
          <p:nvPr/>
        </p:nvSpPr>
        <p:spPr>
          <a:xfrm>
            <a:off x="502920" y="4626864"/>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553712"/>
            <a:ext cx="4224528" cy="274320"/>
          </a:xfrm>
          <a:prstGeom prst="rect">
            <a:avLst/>
          </a:prstGeom>
          <a:noFill/>
        </p:spPr>
        <p:txBody>
          <a:bodyPr wrap="square">
            <a:spAutoFit/>
          </a:bodyPr>
          <a:lstStyle/>
          <a:p>
            <a:pPr algn="l"/>
            <a:r>
              <a:rPr sz="850" b="0" i="0">
                <a:solidFill>
                  <a:srgbClr val="111827"/>
                </a:solidFill>
                <a:latin typeface="Calibri"/>
              </a:rPr>
              <a:t>Build 12-month seasonality index from category raw monthly averages (not STL)  [FML-08 / NRM-04]</a:t>
            </a:r>
          </a:p>
        </p:txBody>
      </p:sp>
      <p:sp>
        <p:nvSpPr>
          <p:cNvPr id="46" name="Rectangle 45"/>
          <p:cNvSpPr/>
          <p:nvPr/>
        </p:nvSpPr>
        <p:spPr>
          <a:xfrm>
            <a:off x="502920" y="4901183"/>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828031"/>
            <a:ext cx="4224528" cy="274320"/>
          </a:xfrm>
          <a:prstGeom prst="rect">
            <a:avLst/>
          </a:prstGeom>
          <a:noFill/>
        </p:spPr>
        <p:txBody>
          <a:bodyPr wrap="square">
            <a:spAutoFit/>
          </a:bodyPr>
          <a:lstStyle/>
          <a:p>
            <a:pPr algn="l"/>
            <a:r>
              <a:rPr sz="850" b="0" i="0">
                <a:solidFill>
                  <a:srgbClr val="111827"/>
                </a:solidFill>
                <a:latin typeface="Calibri"/>
              </a:rPr>
              <a:t>Flag promo weeks so model learns baseline vs. promo-lifted demand separately</a:t>
            </a:r>
          </a:p>
        </p:txBody>
      </p:sp>
      <p:sp>
        <p:nvSpPr>
          <p:cNvPr id="48" name="Rectangle 47"/>
          <p:cNvSpPr/>
          <p:nvPr/>
        </p:nvSpPr>
        <p:spPr>
          <a:xfrm>
            <a:off x="502920" y="5175503"/>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 y="5102351"/>
            <a:ext cx="4224528" cy="274320"/>
          </a:xfrm>
          <a:prstGeom prst="rect">
            <a:avLst/>
          </a:prstGeom>
          <a:noFill/>
        </p:spPr>
        <p:txBody>
          <a:bodyPr wrap="square">
            <a:spAutoFit/>
          </a:bodyPr>
          <a:lstStyle/>
          <a:p>
            <a:pPr algn="l"/>
            <a:r>
              <a:rPr sz="850" b="0" i="0">
                <a:solidFill>
                  <a:srgbClr val="111827"/>
                </a:solidFill>
                <a:latin typeface="Calibri"/>
              </a:rPr>
              <a:t>Train separate forecast per SKU × retailer — Kroger velocity ≠ Target velocity</a:t>
            </a:r>
          </a:p>
        </p:txBody>
      </p:sp>
      <p:sp>
        <p:nvSpPr>
          <p:cNvPr id="50" name="Rectangle 49"/>
          <p:cNvSpPr/>
          <p:nvPr/>
        </p:nvSpPr>
        <p:spPr>
          <a:xfrm>
            <a:off x="502920" y="5449823"/>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5376671"/>
            <a:ext cx="4224528" cy="274320"/>
          </a:xfrm>
          <a:prstGeom prst="rect">
            <a:avLst/>
          </a:prstGeom>
          <a:noFill/>
        </p:spPr>
        <p:txBody>
          <a:bodyPr wrap="square">
            <a:spAutoFit/>
          </a:bodyPr>
          <a:lstStyle/>
          <a:p>
            <a:pPr algn="l"/>
            <a:r>
              <a:rPr sz="850" b="0" i="0">
                <a:solidFill>
                  <a:srgbClr val="111827"/>
                </a:solidFill>
                <a:latin typeface="Calibri"/>
              </a:rPr>
              <a:t>Fall back to exponential smoothing (ETS) for SKUs with &lt;8 weeks of history</a:t>
            </a:r>
          </a:p>
        </p:txBody>
      </p:sp>
      <p:sp>
        <p:nvSpPr>
          <p:cNvPr id="52" name="Rectangle 51"/>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54" name="Rectangle 53"/>
          <p:cNvSpPr/>
          <p:nvPr/>
        </p:nvSpPr>
        <p:spPr>
          <a:xfrm>
            <a:off x="5349240" y="1691640"/>
            <a:ext cx="6492240" cy="137160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13-week demand forecast per SKU × retailer account</a:t>
            </a:r>
          </a:p>
        </p:txBody>
      </p:sp>
      <p:sp>
        <p:nvSpPr>
          <p:cNvPr id="56" name="TextBox 55"/>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Confidence bands (low / base / high scenario)</a:t>
            </a:r>
          </a:p>
        </p:txBody>
      </p:sp>
      <p:sp>
        <p:nvSpPr>
          <p:cNvPr id="57" name="TextBox 56"/>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Promo-uplift scenario — demand if a promotion is planned in the forecast window</a:t>
            </a:r>
          </a:p>
        </p:txBody>
      </p:sp>
      <p:sp>
        <p:nvSpPr>
          <p:cNvPr id="58" name="TextBox 57"/>
          <p:cNvSpPr txBox="1"/>
          <p:nvPr/>
        </p:nvSpPr>
        <p:spPr>
          <a:xfrm>
            <a:off x="5623559" y="2715768"/>
            <a:ext cx="6126479" cy="256032"/>
          </a:xfrm>
          <a:prstGeom prst="rect">
            <a:avLst/>
          </a:prstGeom>
          <a:noFill/>
        </p:spPr>
        <p:txBody>
          <a:bodyPr wrap="square">
            <a:spAutoFit/>
          </a:bodyPr>
          <a:lstStyle/>
          <a:p>
            <a:pPr algn="l"/>
            <a:r>
              <a:rPr sz="950" b="0" i="0">
                <a:solidFill>
                  <a:srgbClr val="0E5E38"/>
                </a:solidFill>
                <a:latin typeface="Calibri"/>
              </a:rPr>
              <a:t>›  Forecast accuracy benchmark: 4% wMAPE vs. 7–10% industry baseline  [FML-07]</a:t>
            </a:r>
          </a:p>
        </p:txBody>
      </p:sp>
      <p:sp>
        <p:nvSpPr>
          <p:cNvPr id="59" name="Rectangle 58"/>
          <p:cNvSpPr/>
          <p:nvPr/>
        </p:nvSpPr>
        <p:spPr>
          <a:xfrm>
            <a:off x="5349240" y="317296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58968" y="321868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61" name="Rectangle 60"/>
          <p:cNvSpPr/>
          <p:nvPr/>
        </p:nvSpPr>
        <p:spPr>
          <a:xfrm>
            <a:off x="5349240" y="344728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23559" y="3511296"/>
            <a:ext cx="6126479" cy="256032"/>
          </a:xfrm>
          <a:prstGeom prst="rect">
            <a:avLst/>
          </a:prstGeom>
          <a:noFill/>
        </p:spPr>
        <p:txBody>
          <a:bodyPr wrap="square">
            <a:spAutoFit/>
          </a:bodyPr>
          <a:lstStyle/>
          <a:p>
            <a:pPr algn="l"/>
            <a:r>
              <a:rPr sz="950" b="0" i="0">
                <a:solidFill>
                  <a:srgbClr val="8A4800"/>
                </a:solidFill>
                <a:latin typeface="Calibri"/>
              </a:rPr>
              <a:t>›  52-week actual demand trend by SKU and retailer account</a:t>
            </a:r>
          </a:p>
        </p:txBody>
      </p:sp>
      <p:sp>
        <p:nvSpPr>
          <p:cNvPr id="63" name="TextBox 62"/>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Distribution (stores stocking) trend over the same period</a:t>
            </a:r>
          </a:p>
        </p:txBody>
      </p:sp>
      <p:sp>
        <p:nvSpPr>
          <p:cNvPr id="64" name="TextBox 63"/>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Category average velocity — how this SKU compares to 13-week category norm  [FML-06]</a:t>
            </a:r>
          </a:p>
        </p:txBody>
      </p:sp>
      <p:sp>
        <p:nvSpPr>
          <p:cNvPr id="65" name="TextBox 64"/>
          <p:cNvSpPr txBox="1"/>
          <p:nvPr/>
        </p:nvSpPr>
        <p:spPr>
          <a:xfrm>
            <a:off x="5623559" y="4471416"/>
            <a:ext cx="6126479" cy="256032"/>
          </a:xfrm>
          <a:prstGeom prst="rect">
            <a:avLst/>
          </a:prstGeom>
          <a:noFill/>
        </p:spPr>
        <p:txBody>
          <a:bodyPr wrap="square">
            <a:spAutoFit/>
          </a:bodyPr>
          <a:lstStyle/>
          <a:p>
            <a:pPr algn="l"/>
            <a:r>
              <a:rPr sz="950" b="0" i="0">
                <a:solidFill>
                  <a:srgbClr val="8A4800"/>
                </a:solidFill>
                <a:latin typeface="Calibri"/>
              </a:rPr>
              <a:t>›  Seasonal index overlay — expected lift or drag on the forecast period  [ANO-04]</a:t>
            </a:r>
          </a:p>
        </p:txBody>
      </p:sp>
      <p:sp>
        <p:nvSpPr>
          <p:cNvPr id="66" name="TextBox 65"/>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05</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Distribution &amp; Launch Monitoring</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"Is this new product ramping as expected — in enough stores, with the right velocity?"</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 of stores selling</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Measure distribution build week over week</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Total distribution points (TDP)</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Primary ramp metric — store count × shelf presence</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Avg weekly units per store selling</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Velocity independent of distribution level  [FML-06]</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First week selling</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Anchor the ramp monitoring window</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Number of weeks selling</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Track position in the launch lifecycle</a:t>
            </a:r>
          </a:p>
        </p:txBody>
      </p:sp>
      <p:sp>
        <p:nvSpPr>
          <p:cNvPr id="34" name="Rectangle 33"/>
          <p:cNvSpPr/>
          <p:nvPr/>
        </p:nvSpPr>
        <p:spPr>
          <a:xfrm>
            <a:off x="411480" y="3447288"/>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3483864"/>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36" name="Rectangle 35"/>
          <p:cNvSpPr/>
          <p:nvPr/>
        </p:nvSpPr>
        <p:spPr>
          <a:xfrm>
            <a:off x="502920" y="379476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 y="3721608"/>
            <a:ext cx="4224528" cy="274320"/>
          </a:xfrm>
          <a:prstGeom prst="rect">
            <a:avLst/>
          </a:prstGeom>
          <a:noFill/>
        </p:spPr>
        <p:txBody>
          <a:bodyPr wrap="square">
            <a:spAutoFit/>
          </a:bodyPr>
          <a:lstStyle/>
          <a:p>
            <a:pPr algn="l"/>
            <a:r>
              <a:rPr sz="850" b="0" i="0">
                <a:solidFill>
                  <a:srgbClr val="111827"/>
                </a:solidFill>
                <a:latin typeface="Calibri"/>
              </a:rPr>
              <a:t>Track weeks 1–16 of distribution build and velocity ramp for each new BUILT UPC</a:t>
            </a:r>
          </a:p>
        </p:txBody>
      </p:sp>
      <p:sp>
        <p:nvSpPr>
          <p:cNvPr id="38" name="Rectangle 37"/>
          <p:cNvSpPr/>
          <p:nvPr/>
        </p:nvSpPr>
        <p:spPr>
          <a:xfrm>
            <a:off x="502920" y="406908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3995928"/>
            <a:ext cx="4224528" cy="274320"/>
          </a:xfrm>
          <a:prstGeom prst="rect">
            <a:avLst/>
          </a:prstGeom>
          <a:noFill/>
        </p:spPr>
        <p:txBody>
          <a:bodyPr wrap="square">
            <a:spAutoFit/>
          </a:bodyPr>
          <a:lstStyle/>
          <a:p>
            <a:pPr algn="l"/>
            <a:r>
              <a:rPr sz="850" b="0" i="0">
                <a:solidFill>
                  <a:srgbClr val="111827"/>
                </a:solidFill>
                <a:latin typeface="Calibri"/>
              </a:rPr>
              <a:t>Compare each SKU's ramp against category norms for the same pack type</a:t>
            </a:r>
          </a:p>
        </p:txBody>
      </p:sp>
      <p:sp>
        <p:nvSpPr>
          <p:cNvPr id="40" name="Rectangle 39"/>
          <p:cNvSpPr/>
          <p:nvPr/>
        </p:nvSpPr>
        <p:spPr>
          <a:xfrm>
            <a:off x="502920" y="434340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512" y="4270248"/>
            <a:ext cx="4224528" cy="274320"/>
          </a:xfrm>
          <a:prstGeom prst="rect">
            <a:avLst/>
          </a:prstGeom>
          <a:noFill/>
        </p:spPr>
        <p:txBody>
          <a:bodyPr wrap="square">
            <a:spAutoFit/>
          </a:bodyPr>
          <a:lstStyle/>
          <a:p>
            <a:pPr algn="l"/>
            <a:r>
              <a:rPr sz="850" b="0" i="0">
                <a:solidFill>
                  <a:srgbClr val="111827"/>
                </a:solidFill>
                <a:latin typeface="Calibri"/>
              </a:rPr>
              <a:t>Classify new UPCs: new pack size, new flavor, or duplicate/relaunch  [QS1 gate / GRD-04]</a:t>
            </a:r>
          </a:p>
        </p:txBody>
      </p:sp>
      <p:sp>
        <p:nvSpPr>
          <p:cNvPr id="42" name="Rectangle 41"/>
          <p:cNvSpPr/>
          <p:nvPr/>
        </p:nvSpPr>
        <p:spPr>
          <a:xfrm>
            <a:off x="502920" y="461772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512" y="4544568"/>
            <a:ext cx="4224528" cy="274320"/>
          </a:xfrm>
          <a:prstGeom prst="rect">
            <a:avLst/>
          </a:prstGeom>
          <a:noFill/>
        </p:spPr>
        <p:txBody>
          <a:bodyPr wrap="square">
            <a:spAutoFit/>
          </a:bodyPr>
          <a:lstStyle/>
          <a:p>
            <a:pPr algn="l"/>
            <a:r>
              <a:rPr sz="850" b="0" i="0">
                <a:solidFill>
                  <a:srgbClr val="111827"/>
                </a:solidFill>
                <a:latin typeface="Calibri"/>
              </a:rPr>
              <a:t>Flag underperformance at 4, 8, and 13 weeks post-launch vs. expected ramp curve</a:t>
            </a:r>
          </a:p>
        </p:txBody>
      </p:sp>
      <p:sp>
        <p:nvSpPr>
          <p:cNvPr id="44" name="Rectangle 43"/>
          <p:cNvSpPr/>
          <p:nvPr/>
        </p:nvSpPr>
        <p:spPr>
          <a:xfrm>
            <a:off x="502920" y="489204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818888"/>
            <a:ext cx="4224528" cy="274320"/>
          </a:xfrm>
          <a:prstGeom prst="rect">
            <a:avLst/>
          </a:prstGeom>
          <a:noFill/>
        </p:spPr>
        <p:txBody>
          <a:bodyPr wrap="square">
            <a:spAutoFit/>
          </a:bodyPr>
          <a:lstStyle/>
          <a:p>
            <a:pPr algn="l"/>
            <a:r>
              <a:rPr sz="850" b="0" i="0">
                <a:solidFill>
                  <a:srgbClr val="111827"/>
                </a:solidFill>
                <a:latin typeface="Calibri"/>
              </a:rPr>
              <a:t>Suppress cannibalization scoring during ramp — avoids penalizing distribution-driven transfer  [GRD-02]</a:t>
            </a:r>
          </a:p>
        </p:txBody>
      </p:sp>
      <p:sp>
        <p:nvSpPr>
          <p:cNvPr id="46" name="Rectangle 45"/>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48" name="Rectangle 47"/>
          <p:cNvSpPr/>
          <p:nvPr/>
        </p:nvSpPr>
        <p:spPr>
          <a:xfrm>
            <a:off x="5349240" y="1691640"/>
            <a:ext cx="6492240" cy="137160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Launch status at current week: On Track · Watch · Underperforming</a:t>
            </a:r>
          </a:p>
        </p:txBody>
      </p:sp>
      <p:sp>
        <p:nvSpPr>
          <p:cNvPr id="50" name="TextBox 49"/>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Expected ramp curve — where this SKU should be at weeks 8, 13, 16</a:t>
            </a:r>
          </a:p>
        </p:txBody>
      </p:sp>
      <p:sp>
        <p:nvSpPr>
          <p:cNvPr id="51" name="TextBox 50"/>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Predicted full-distribution velocity — expected units/store at maturity</a:t>
            </a:r>
          </a:p>
        </p:txBody>
      </p:sp>
      <p:sp>
        <p:nvSpPr>
          <p:cNvPr id="52" name="TextBox 51"/>
          <p:cNvSpPr txBox="1"/>
          <p:nvPr/>
        </p:nvSpPr>
        <p:spPr>
          <a:xfrm>
            <a:off x="5623559" y="2715768"/>
            <a:ext cx="6126479" cy="256032"/>
          </a:xfrm>
          <a:prstGeom prst="rect">
            <a:avLst/>
          </a:prstGeom>
          <a:noFill/>
        </p:spPr>
        <p:txBody>
          <a:bodyPr wrap="square">
            <a:spAutoFit/>
          </a:bodyPr>
          <a:lstStyle/>
          <a:p>
            <a:pPr algn="l"/>
            <a:r>
              <a:rPr sz="950" b="0" i="0">
                <a:solidFill>
                  <a:srgbClr val="0E5E38"/>
                </a:solidFill>
                <a:latin typeface="Calibri"/>
              </a:rPr>
              <a:t>›  Cannibalization scoring readiness — flag for when SKU graduates to active scoring</a:t>
            </a:r>
          </a:p>
        </p:txBody>
      </p:sp>
      <p:sp>
        <p:nvSpPr>
          <p:cNvPr id="53" name="Rectangle 52"/>
          <p:cNvSpPr/>
          <p:nvPr/>
        </p:nvSpPr>
        <p:spPr>
          <a:xfrm>
            <a:off x="5349240" y="317296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58968" y="321868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55" name="Rectangle 54"/>
          <p:cNvSpPr/>
          <p:nvPr/>
        </p:nvSpPr>
        <p:spPr>
          <a:xfrm>
            <a:off x="5349240" y="344728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623559" y="3511296"/>
            <a:ext cx="6126479" cy="256032"/>
          </a:xfrm>
          <a:prstGeom prst="rect">
            <a:avLst/>
          </a:prstGeom>
          <a:noFill/>
        </p:spPr>
        <p:txBody>
          <a:bodyPr wrap="square">
            <a:spAutoFit/>
          </a:bodyPr>
          <a:lstStyle/>
          <a:p>
            <a:pPr algn="l"/>
            <a:r>
              <a:rPr sz="950" b="0" i="0">
                <a:solidFill>
                  <a:srgbClr val="8A4800"/>
                </a:solidFill>
                <a:latin typeface="Calibri"/>
              </a:rPr>
              <a:t>›  Actual TDP ramp week by week since first week selling</a:t>
            </a:r>
          </a:p>
        </p:txBody>
      </p:sp>
      <p:sp>
        <p:nvSpPr>
          <p:cNvPr id="57" name="TextBox 56"/>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Actual velocity per store — is the product pulling through where it is stocked?</a:t>
            </a:r>
          </a:p>
        </p:txBody>
      </p:sp>
      <p:sp>
        <p:nvSpPr>
          <p:cNvPr id="58" name="TextBox 57"/>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Comparable launch benchmarks — similar BUILT or category launches in same retailer</a:t>
            </a:r>
          </a:p>
        </p:txBody>
      </p:sp>
      <p:sp>
        <p:nvSpPr>
          <p:cNvPr id="59" name="TextBox 58"/>
          <p:cNvSpPr txBox="1"/>
          <p:nvPr/>
        </p:nvSpPr>
        <p:spPr>
          <a:xfrm>
            <a:off x="5623559" y="4471416"/>
            <a:ext cx="6126479" cy="256032"/>
          </a:xfrm>
          <a:prstGeom prst="rect">
            <a:avLst/>
          </a:prstGeom>
          <a:noFill/>
        </p:spPr>
        <p:txBody>
          <a:bodyPr wrap="square">
            <a:spAutoFit/>
          </a:bodyPr>
          <a:lstStyle/>
          <a:p>
            <a:pPr algn="l"/>
            <a:r>
              <a:rPr sz="950" b="0" i="0">
                <a:solidFill>
                  <a:srgbClr val="8A4800"/>
                </a:solidFill>
                <a:latin typeface="Calibri"/>
              </a:rPr>
              <a:t>›  Data-maturity status — weeks until QS1 gate clears for active scoring  [GRD-04]</a:t>
            </a:r>
          </a:p>
        </p:txBody>
      </p:sp>
      <p:sp>
        <p:nvSpPr>
          <p:cNvPr id="60" name="TextBox 59"/>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4592"/>
            <a:ext cx="9144000" cy="548640"/>
          </a:xfrm>
          <a:prstGeom prst="rect">
            <a:avLst/>
          </a:prstGeom>
          <a:noFill/>
        </p:spPr>
        <p:txBody>
          <a:bodyPr wrap="square">
            <a:spAutoFit/>
          </a:bodyPr>
          <a:lstStyle/>
          <a:p>
            <a:pPr algn="l"/>
            <a:r>
              <a:rPr sz="2200" b="1" i="0">
                <a:solidFill>
                  <a:srgbClr val="FFFFFF"/>
                </a:solidFill>
                <a:latin typeface="Calibri"/>
              </a:rPr>
              <a:t>Mo Trends &amp; External Signal Integration</a:t>
            </a:r>
          </a:p>
        </p:txBody>
      </p:sp>
      <p:sp>
        <p:nvSpPr>
          <p:cNvPr id="6" name="TextBox 5"/>
          <p:cNvSpPr txBox="1"/>
          <p:nvPr/>
        </p:nvSpPr>
        <p:spPr>
          <a:xfrm>
            <a:off x="457200" y="658368"/>
            <a:ext cx="10972800" cy="292608"/>
          </a:xfrm>
          <a:prstGeom prst="rect">
            <a:avLst/>
          </a:prstGeom>
          <a:noFill/>
        </p:spPr>
        <p:txBody>
          <a:bodyPr wrap="square">
            <a:spAutoFit/>
          </a:bodyPr>
          <a:lstStyle/>
          <a:p>
            <a:pPr algn="l"/>
            <a:r>
              <a:rPr sz="1050" b="0" i="0">
                <a:solidFill>
                  <a:srgbClr val="A0C0F0"/>
                </a:solidFill>
                <a:latin typeface="Calibri"/>
              </a:rPr>
              <a:t>Sections 06 + 07 of the customer overview — competitive dashboard tiles and external macro/market data feeds (FRED + roadmap).</a:t>
            </a:r>
          </a:p>
        </p:txBody>
      </p:sp>
      <p:sp>
        <p:nvSpPr>
          <p:cNvPr id="7" name="Rectangle 6"/>
          <p:cNvSpPr/>
          <p:nvPr/>
        </p:nvSpPr>
        <p:spPr>
          <a:xfrm>
            <a:off x="365760" y="1097280"/>
            <a:ext cx="5394960" cy="292608"/>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1133856"/>
            <a:ext cx="5175504" cy="219456"/>
          </a:xfrm>
          <a:prstGeom prst="rect">
            <a:avLst/>
          </a:prstGeom>
          <a:noFill/>
        </p:spPr>
        <p:txBody>
          <a:bodyPr wrap="square">
            <a:spAutoFit/>
          </a:bodyPr>
          <a:lstStyle/>
          <a:p>
            <a:pPr algn="l"/>
            <a:r>
              <a:rPr sz="800" b="1" i="0">
                <a:solidFill>
                  <a:srgbClr val="A0C0F0"/>
                </a:solidFill>
                <a:latin typeface="Calibri"/>
              </a:rPr>
              <a:t>06  ·  MO TRENDS — all data queried live from Druid, no ML scoring table</a:t>
            </a:r>
          </a:p>
        </p:txBody>
      </p:sp>
      <p:sp>
        <p:nvSpPr>
          <p:cNvPr id="9" name="Rectangle 8"/>
          <p:cNvSpPr/>
          <p:nvPr/>
        </p:nvSpPr>
        <p:spPr>
          <a:xfrm>
            <a:off x="365760" y="1389888"/>
            <a:ext cx="5394960" cy="37490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53896"/>
            <a:ext cx="1965960" cy="283463"/>
          </a:xfrm>
          <a:prstGeom prst="rect">
            <a:avLst/>
          </a:prstGeom>
          <a:noFill/>
        </p:spPr>
        <p:txBody>
          <a:bodyPr wrap="square">
            <a:spAutoFit/>
          </a:bodyPr>
          <a:lstStyle/>
          <a:p>
            <a:pPr algn="l"/>
            <a:r>
              <a:rPr sz="850" b="1" i="0">
                <a:solidFill>
                  <a:srgbClr val="111827"/>
                </a:solidFill>
                <a:latin typeface="Calibri"/>
              </a:rPr>
              <a:t>1 — Brand Velocity</a:t>
            </a:r>
          </a:p>
        </p:txBody>
      </p:sp>
      <p:sp>
        <p:nvSpPr>
          <p:cNvPr id="11" name="TextBox 10"/>
          <p:cNvSpPr txBox="1"/>
          <p:nvPr/>
        </p:nvSpPr>
        <p:spPr>
          <a:xfrm>
            <a:off x="2468879" y="1453896"/>
            <a:ext cx="3200400" cy="283463"/>
          </a:xfrm>
          <a:prstGeom prst="rect">
            <a:avLst/>
          </a:prstGeom>
          <a:noFill/>
        </p:spPr>
        <p:txBody>
          <a:bodyPr wrap="square">
            <a:spAutoFit/>
          </a:bodyPr>
          <a:lstStyle/>
          <a:p>
            <a:pPr algn="l"/>
            <a:r>
              <a:rPr sz="800" b="0" i="0">
                <a:solidFill>
                  <a:srgbClr val="6B7FA0"/>
                </a:solidFill>
                <a:latin typeface="Calibri"/>
              </a:rPr>
              <a:t>Weekly units trend — 52-week history + 13-week rolling avg by product/retailer</a:t>
            </a:r>
          </a:p>
        </p:txBody>
      </p:sp>
      <p:sp>
        <p:nvSpPr>
          <p:cNvPr id="12" name="Rectangle 11"/>
          <p:cNvSpPr/>
          <p:nvPr/>
        </p:nvSpPr>
        <p:spPr>
          <a:xfrm>
            <a:off x="365760" y="1764792"/>
            <a:ext cx="5394960" cy="37490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28800"/>
            <a:ext cx="1965960" cy="283463"/>
          </a:xfrm>
          <a:prstGeom prst="rect">
            <a:avLst/>
          </a:prstGeom>
          <a:noFill/>
        </p:spPr>
        <p:txBody>
          <a:bodyPr wrap="square">
            <a:spAutoFit/>
          </a:bodyPr>
          <a:lstStyle/>
          <a:p>
            <a:pPr algn="l"/>
            <a:r>
              <a:rPr sz="850" b="1" i="0">
                <a:solidFill>
                  <a:srgbClr val="111827"/>
                </a:solidFill>
                <a:latin typeface="Calibri"/>
              </a:rPr>
              <a:t>2 — Demand Forecast</a:t>
            </a:r>
          </a:p>
        </p:txBody>
      </p:sp>
      <p:sp>
        <p:nvSpPr>
          <p:cNvPr id="14" name="TextBox 13"/>
          <p:cNvSpPr txBox="1"/>
          <p:nvPr/>
        </p:nvSpPr>
        <p:spPr>
          <a:xfrm>
            <a:off x="2468879" y="1828800"/>
            <a:ext cx="3200400" cy="283463"/>
          </a:xfrm>
          <a:prstGeom prst="rect">
            <a:avLst/>
          </a:prstGeom>
          <a:noFill/>
        </p:spPr>
        <p:txBody>
          <a:bodyPr wrap="square">
            <a:spAutoFit/>
          </a:bodyPr>
          <a:lstStyle/>
          <a:p>
            <a:pPr algn="l"/>
            <a:r>
              <a:rPr sz="800" b="0" i="0">
                <a:solidFill>
                  <a:srgbClr val="6B7FA0"/>
                </a:solidFill>
                <a:latin typeface="Calibri"/>
              </a:rPr>
              <a:t>13-week forward projection with confidence bands  [ML scoring table]</a:t>
            </a:r>
          </a:p>
        </p:txBody>
      </p:sp>
      <p:sp>
        <p:nvSpPr>
          <p:cNvPr id="15" name="Rectangle 14"/>
          <p:cNvSpPr/>
          <p:nvPr/>
        </p:nvSpPr>
        <p:spPr>
          <a:xfrm>
            <a:off x="365760" y="2139696"/>
            <a:ext cx="5394960" cy="37490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203703"/>
            <a:ext cx="1965960" cy="283463"/>
          </a:xfrm>
          <a:prstGeom prst="rect">
            <a:avLst/>
          </a:prstGeom>
          <a:noFill/>
        </p:spPr>
        <p:txBody>
          <a:bodyPr wrap="square">
            <a:spAutoFit/>
          </a:bodyPr>
          <a:lstStyle/>
          <a:p>
            <a:pPr algn="l"/>
            <a:r>
              <a:rPr sz="850" b="1" i="0">
                <a:solidFill>
                  <a:srgbClr val="111827"/>
                </a:solidFill>
                <a:latin typeface="Calibri"/>
              </a:rPr>
              <a:t>3 — Pack Crossover</a:t>
            </a:r>
          </a:p>
        </p:txBody>
      </p:sp>
      <p:sp>
        <p:nvSpPr>
          <p:cNvPr id="17" name="TextBox 16"/>
          <p:cNvSpPr txBox="1"/>
          <p:nvPr/>
        </p:nvSpPr>
        <p:spPr>
          <a:xfrm>
            <a:off x="2468879" y="2203703"/>
            <a:ext cx="3200400" cy="283463"/>
          </a:xfrm>
          <a:prstGeom prst="rect">
            <a:avLst/>
          </a:prstGeom>
          <a:noFill/>
        </p:spPr>
        <p:txBody>
          <a:bodyPr wrap="square">
            <a:spAutoFit/>
          </a:bodyPr>
          <a:lstStyle/>
          <a:p>
            <a:pPr algn="l"/>
            <a:r>
              <a:rPr sz="800" b="0" i="0">
                <a:solidFill>
                  <a:srgbClr val="6B7FA0"/>
                </a:solidFill>
                <a:latin typeface="Calibri"/>
              </a:rPr>
              <a:t>Single vs. multipack demand split across the BUILT product line</a:t>
            </a:r>
          </a:p>
        </p:txBody>
      </p:sp>
      <p:sp>
        <p:nvSpPr>
          <p:cNvPr id="18" name="Rectangle 17"/>
          <p:cNvSpPr/>
          <p:nvPr/>
        </p:nvSpPr>
        <p:spPr>
          <a:xfrm>
            <a:off x="365760" y="2514600"/>
            <a:ext cx="5394960" cy="37490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578608"/>
            <a:ext cx="1965960" cy="283463"/>
          </a:xfrm>
          <a:prstGeom prst="rect">
            <a:avLst/>
          </a:prstGeom>
          <a:noFill/>
        </p:spPr>
        <p:txBody>
          <a:bodyPr wrap="square">
            <a:spAutoFit/>
          </a:bodyPr>
          <a:lstStyle/>
          <a:p>
            <a:pPr algn="l"/>
            <a:r>
              <a:rPr sz="850" b="1" i="0">
                <a:solidFill>
                  <a:srgbClr val="111827"/>
                </a:solidFill>
                <a:latin typeface="Calibri"/>
              </a:rPr>
              <a:t>4 — Price &amp; Promo</a:t>
            </a:r>
          </a:p>
        </p:txBody>
      </p:sp>
      <p:sp>
        <p:nvSpPr>
          <p:cNvPr id="20" name="TextBox 19"/>
          <p:cNvSpPr txBox="1"/>
          <p:nvPr/>
        </p:nvSpPr>
        <p:spPr>
          <a:xfrm>
            <a:off x="2468879" y="2578608"/>
            <a:ext cx="3200400" cy="283463"/>
          </a:xfrm>
          <a:prstGeom prst="rect">
            <a:avLst/>
          </a:prstGeom>
          <a:noFill/>
        </p:spPr>
        <p:txBody>
          <a:bodyPr wrap="square">
            <a:spAutoFit/>
          </a:bodyPr>
          <a:lstStyle/>
          <a:p>
            <a:pPr algn="l"/>
            <a:r>
              <a:rPr sz="800" b="0" i="0">
                <a:solidFill>
                  <a:srgbClr val="6B7FA0"/>
                </a:solidFill>
                <a:latin typeface="Calibri"/>
              </a:rPr>
              <a:t>ARP trend with promo event overlays and discount depth markers</a:t>
            </a:r>
          </a:p>
        </p:txBody>
      </p:sp>
      <p:sp>
        <p:nvSpPr>
          <p:cNvPr id="21" name="Rectangle 20"/>
          <p:cNvSpPr/>
          <p:nvPr/>
        </p:nvSpPr>
        <p:spPr>
          <a:xfrm>
            <a:off x="365760" y="2889504"/>
            <a:ext cx="5394960" cy="37490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953512"/>
            <a:ext cx="1965960" cy="283463"/>
          </a:xfrm>
          <a:prstGeom prst="rect">
            <a:avLst/>
          </a:prstGeom>
          <a:noFill/>
        </p:spPr>
        <p:txBody>
          <a:bodyPr wrap="square">
            <a:spAutoFit/>
          </a:bodyPr>
          <a:lstStyle/>
          <a:p>
            <a:pPr algn="l"/>
            <a:r>
              <a:rPr sz="850" b="1" i="0">
                <a:solidFill>
                  <a:srgbClr val="111827"/>
                </a:solidFill>
                <a:latin typeface="Calibri"/>
              </a:rPr>
              <a:t>5 — Distribution Arc</a:t>
            </a:r>
          </a:p>
        </p:txBody>
      </p:sp>
      <p:sp>
        <p:nvSpPr>
          <p:cNvPr id="23" name="TextBox 22"/>
          <p:cNvSpPr txBox="1"/>
          <p:nvPr/>
        </p:nvSpPr>
        <p:spPr>
          <a:xfrm>
            <a:off x="2468879" y="2953512"/>
            <a:ext cx="3200400" cy="283463"/>
          </a:xfrm>
          <a:prstGeom prst="rect">
            <a:avLst/>
          </a:prstGeom>
          <a:noFill/>
        </p:spPr>
        <p:txBody>
          <a:bodyPr wrap="square">
            <a:spAutoFit/>
          </a:bodyPr>
          <a:lstStyle/>
          <a:p>
            <a:pPr algn="l"/>
            <a:r>
              <a:rPr sz="800" b="0" i="0">
                <a:solidFill>
                  <a:srgbClr val="6B7FA0"/>
                </a:solidFill>
                <a:latin typeface="Calibri"/>
              </a:rPr>
              <a:t>TDP build trajectory and ramp vs. category launch norms  [FML-05]</a:t>
            </a:r>
          </a:p>
        </p:txBody>
      </p:sp>
      <p:sp>
        <p:nvSpPr>
          <p:cNvPr id="24" name="Rectangle 23"/>
          <p:cNvSpPr/>
          <p:nvPr/>
        </p:nvSpPr>
        <p:spPr>
          <a:xfrm>
            <a:off x="365760" y="3264408"/>
            <a:ext cx="5394960" cy="37490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328416"/>
            <a:ext cx="1965960" cy="283463"/>
          </a:xfrm>
          <a:prstGeom prst="rect">
            <a:avLst/>
          </a:prstGeom>
          <a:noFill/>
        </p:spPr>
        <p:txBody>
          <a:bodyPr wrap="square">
            <a:spAutoFit/>
          </a:bodyPr>
          <a:lstStyle/>
          <a:p>
            <a:pPr algn="l"/>
            <a:r>
              <a:rPr sz="850" b="1" i="0">
                <a:solidFill>
                  <a:srgbClr val="111827"/>
                </a:solidFill>
                <a:latin typeface="Calibri"/>
              </a:rPr>
              <a:t>6 — Flavor Demand</a:t>
            </a:r>
          </a:p>
        </p:txBody>
      </p:sp>
      <p:sp>
        <p:nvSpPr>
          <p:cNvPr id="26" name="TextBox 25"/>
          <p:cNvSpPr txBox="1"/>
          <p:nvPr/>
        </p:nvSpPr>
        <p:spPr>
          <a:xfrm>
            <a:off x="2468879" y="3328416"/>
            <a:ext cx="3200400" cy="283463"/>
          </a:xfrm>
          <a:prstGeom prst="rect">
            <a:avLst/>
          </a:prstGeom>
          <a:noFill/>
        </p:spPr>
        <p:txBody>
          <a:bodyPr wrap="square">
            <a:spAutoFit/>
          </a:bodyPr>
          <a:lstStyle/>
          <a:p>
            <a:pPr algn="l"/>
            <a:r>
              <a:rPr sz="800" b="0" i="0">
                <a:solidFill>
                  <a:srgbClr val="6B7FA0"/>
                </a:solidFill>
                <a:latin typeface="Calibri"/>
              </a:rPr>
              <a:t>Flavor-level velocity comparison across full BUILT flavor range</a:t>
            </a:r>
          </a:p>
        </p:txBody>
      </p:sp>
      <p:sp>
        <p:nvSpPr>
          <p:cNvPr id="27" name="Rectangle 26"/>
          <p:cNvSpPr/>
          <p:nvPr/>
        </p:nvSpPr>
        <p:spPr>
          <a:xfrm>
            <a:off x="365760" y="3639312"/>
            <a:ext cx="5394960" cy="37490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703320"/>
            <a:ext cx="1965960" cy="283463"/>
          </a:xfrm>
          <a:prstGeom prst="rect">
            <a:avLst/>
          </a:prstGeom>
          <a:noFill/>
        </p:spPr>
        <p:txBody>
          <a:bodyPr wrap="square">
            <a:spAutoFit/>
          </a:bodyPr>
          <a:lstStyle/>
          <a:p>
            <a:pPr algn="l"/>
            <a:r>
              <a:rPr sz="850" b="1" i="0">
                <a:solidFill>
                  <a:srgbClr val="111827"/>
                </a:solidFill>
                <a:latin typeface="Calibri"/>
              </a:rPr>
              <a:t>7 — Macro Context</a:t>
            </a:r>
          </a:p>
        </p:txBody>
      </p:sp>
      <p:sp>
        <p:nvSpPr>
          <p:cNvPr id="29" name="TextBox 28"/>
          <p:cNvSpPr txBox="1"/>
          <p:nvPr/>
        </p:nvSpPr>
        <p:spPr>
          <a:xfrm>
            <a:off x="2468879" y="3703320"/>
            <a:ext cx="3200400" cy="283463"/>
          </a:xfrm>
          <a:prstGeom prst="rect">
            <a:avLst/>
          </a:prstGeom>
          <a:noFill/>
        </p:spPr>
        <p:txBody>
          <a:bodyPr wrap="square">
            <a:spAutoFit/>
          </a:bodyPr>
          <a:lstStyle/>
          <a:p>
            <a:pPr algn="l"/>
            <a:r>
              <a:rPr sz="800" b="0" i="0">
                <a:solidFill>
                  <a:srgbClr val="6B7FA0"/>
                </a:solidFill>
                <a:latin typeface="Calibri"/>
              </a:rPr>
              <a:t>FRED GASDESW + UMCSENT — gas prices + U of Michigan consumer confidence</a:t>
            </a:r>
          </a:p>
        </p:txBody>
      </p:sp>
      <p:sp>
        <p:nvSpPr>
          <p:cNvPr id="30" name="Rectangle 29"/>
          <p:cNvSpPr/>
          <p:nvPr/>
        </p:nvSpPr>
        <p:spPr>
          <a:xfrm>
            <a:off x="365760" y="4014216"/>
            <a:ext cx="5394960" cy="37490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078224"/>
            <a:ext cx="1965960" cy="283463"/>
          </a:xfrm>
          <a:prstGeom prst="rect">
            <a:avLst/>
          </a:prstGeom>
          <a:noFill/>
        </p:spPr>
        <p:txBody>
          <a:bodyPr wrap="square">
            <a:spAutoFit/>
          </a:bodyPr>
          <a:lstStyle/>
          <a:p>
            <a:pPr algn="l"/>
            <a:r>
              <a:rPr sz="850" b="1" i="0">
                <a:solidFill>
                  <a:srgbClr val="111827"/>
                </a:solidFill>
                <a:latin typeface="Calibri"/>
              </a:rPr>
              <a:t>8 — Velocity + Macro</a:t>
            </a:r>
          </a:p>
        </p:txBody>
      </p:sp>
      <p:sp>
        <p:nvSpPr>
          <p:cNvPr id="32" name="TextBox 31"/>
          <p:cNvSpPr txBox="1"/>
          <p:nvPr/>
        </p:nvSpPr>
        <p:spPr>
          <a:xfrm>
            <a:off x="2468879" y="4078224"/>
            <a:ext cx="3200400" cy="283463"/>
          </a:xfrm>
          <a:prstGeom prst="rect">
            <a:avLst/>
          </a:prstGeom>
          <a:noFill/>
        </p:spPr>
        <p:txBody>
          <a:bodyPr wrap="square">
            <a:spAutoFit/>
          </a:bodyPr>
          <a:lstStyle/>
          <a:p>
            <a:pPr algn="l"/>
            <a:r>
              <a:rPr sz="800" b="0" i="0">
                <a:solidFill>
                  <a:srgbClr val="6B7FA0"/>
                </a:solidFill>
                <a:latin typeface="Calibri"/>
              </a:rPr>
              <a:t>Stacked chart: brand velocity trend alongside macro signal overlay</a:t>
            </a:r>
          </a:p>
        </p:txBody>
      </p:sp>
      <p:sp>
        <p:nvSpPr>
          <p:cNvPr id="33" name="Rectangle 32"/>
          <p:cNvSpPr/>
          <p:nvPr/>
        </p:nvSpPr>
        <p:spPr>
          <a:xfrm>
            <a:off x="365760" y="4462272"/>
            <a:ext cx="5394960" cy="329184"/>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5488" y="4517136"/>
            <a:ext cx="5175504" cy="237744"/>
          </a:xfrm>
          <a:prstGeom prst="rect">
            <a:avLst/>
          </a:prstGeom>
          <a:noFill/>
        </p:spPr>
        <p:txBody>
          <a:bodyPr wrap="square">
            <a:spAutoFit/>
          </a:bodyPr>
          <a:lstStyle/>
          <a:p>
            <a:pPr algn="l"/>
            <a:r>
              <a:rPr sz="850" b="0" i="0">
                <a:solidFill>
                  <a:srgbClr val="111827"/>
                </a:solidFill>
                <a:latin typeface="Calibri"/>
              </a:rPr>
              <a:t>Filter bar:  Product · Brand · Channel (FOOD / MASS / C-STORE) · Account · Units / $ toggle</a:t>
            </a:r>
          </a:p>
        </p:txBody>
      </p:sp>
      <p:sp>
        <p:nvSpPr>
          <p:cNvPr id="35" name="TextBox 34"/>
          <p:cNvSpPr txBox="1"/>
          <p:nvPr/>
        </p:nvSpPr>
        <p:spPr>
          <a:xfrm>
            <a:off x="475488" y="4672584"/>
            <a:ext cx="5175504" cy="146304"/>
          </a:xfrm>
          <a:prstGeom prst="rect">
            <a:avLst/>
          </a:prstGeom>
          <a:noFill/>
        </p:spPr>
        <p:txBody>
          <a:bodyPr wrap="square">
            <a:spAutoFit/>
          </a:bodyPr>
          <a:lstStyle/>
          <a:p>
            <a:pPr algn="l"/>
            <a:r>
              <a:rPr sz="750" b="0" i="1">
                <a:solidFill>
                  <a:srgbClr val="6B7FA0"/>
                </a:solidFill>
                <a:latin typeface="Calibri"/>
              </a:rPr>
              <a:t>Demo defaults: BUILT Puff  +  KROGER  +  WALMART    |    MULO excluded from all Trends views  [GEO-01]</a:t>
            </a:r>
          </a:p>
        </p:txBody>
      </p:sp>
      <p:sp>
        <p:nvSpPr>
          <p:cNvPr id="36" name="Rectangle 35"/>
          <p:cNvSpPr/>
          <p:nvPr/>
        </p:nvSpPr>
        <p:spPr>
          <a:xfrm>
            <a:off x="6126480" y="1097280"/>
            <a:ext cx="5715000" cy="292608"/>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6208" y="1133856"/>
            <a:ext cx="5495544" cy="219456"/>
          </a:xfrm>
          <a:prstGeom prst="rect">
            <a:avLst/>
          </a:prstGeom>
          <a:noFill/>
        </p:spPr>
        <p:txBody>
          <a:bodyPr wrap="square">
            <a:spAutoFit/>
          </a:bodyPr>
          <a:lstStyle/>
          <a:p>
            <a:pPr algn="l"/>
            <a:r>
              <a:rPr sz="800" b="1" i="0">
                <a:solidFill>
                  <a:srgbClr val="FFFFFF"/>
                </a:solidFill>
                <a:latin typeface="Calibri"/>
              </a:rPr>
              <a:t>07  ·  EXTERNAL SIGNALS — commercial redistribution required for all  [EXT-02]</a:t>
            </a:r>
          </a:p>
        </p:txBody>
      </p:sp>
      <p:sp>
        <p:nvSpPr>
          <p:cNvPr id="38" name="Rectangle 37"/>
          <p:cNvSpPr/>
          <p:nvPr/>
        </p:nvSpPr>
        <p:spPr>
          <a:xfrm>
            <a:off x="6126480" y="1389888"/>
            <a:ext cx="5715000" cy="237744"/>
          </a:xfrm>
          <a:prstGeom prst="rect">
            <a:avLst/>
          </a:prstGeom>
          <a:solidFill>
            <a:srgbClr val="D4F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36208" y="1417320"/>
            <a:ext cx="5495544" cy="182880"/>
          </a:xfrm>
          <a:prstGeom prst="rect">
            <a:avLst/>
          </a:prstGeom>
          <a:noFill/>
        </p:spPr>
        <p:txBody>
          <a:bodyPr wrap="square">
            <a:spAutoFit/>
          </a:bodyPr>
          <a:lstStyle/>
          <a:p>
            <a:pPr algn="l"/>
            <a:r>
              <a:rPr sz="750" b="1" i="0">
                <a:solidFill>
                  <a:srgbClr val="0E5E38"/>
                </a:solidFill>
                <a:latin typeface="Calibri"/>
              </a:rPr>
              <a:t>LIVE IN PRODUCTION</a:t>
            </a:r>
          </a:p>
        </p:txBody>
      </p:sp>
      <p:sp>
        <p:nvSpPr>
          <p:cNvPr id="40" name="Rectangle 39"/>
          <p:cNvSpPr/>
          <p:nvPr/>
        </p:nvSpPr>
        <p:spPr>
          <a:xfrm>
            <a:off x="6126480" y="1627632"/>
            <a:ext cx="5715000" cy="32918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1627632"/>
            <a:ext cx="64008" cy="329184"/>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72784" y="1682496"/>
            <a:ext cx="1920240" cy="237744"/>
          </a:xfrm>
          <a:prstGeom prst="rect">
            <a:avLst/>
          </a:prstGeom>
          <a:noFill/>
        </p:spPr>
        <p:txBody>
          <a:bodyPr wrap="square">
            <a:spAutoFit/>
          </a:bodyPr>
          <a:lstStyle/>
          <a:p>
            <a:pPr algn="l"/>
            <a:r>
              <a:rPr sz="900" b="1" i="0">
                <a:solidFill>
                  <a:srgbClr val="111827"/>
                </a:solidFill>
                <a:latin typeface="Calibri"/>
              </a:rPr>
              <a:t>FRED — GASDESW</a:t>
            </a:r>
          </a:p>
        </p:txBody>
      </p:sp>
      <p:sp>
        <p:nvSpPr>
          <p:cNvPr id="43" name="TextBox 42"/>
          <p:cNvSpPr txBox="1"/>
          <p:nvPr/>
        </p:nvSpPr>
        <p:spPr>
          <a:xfrm>
            <a:off x="8275320" y="1682496"/>
            <a:ext cx="3474720" cy="237744"/>
          </a:xfrm>
          <a:prstGeom prst="rect">
            <a:avLst/>
          </a:prstGeom>
          <a:noFill/>
        </p:spPr>
        <p:txBody>
          <a:bodyPr wrap="square">
            <a:spAutoFit/>
          </a:bodyPr>
          <a:lstStyle/>
          <a:p>
            <a:pPr algn="l"/>
            <a:r>
              <a:rPr sz="800" b="0" i="0">
                <a:solidFill>
                  <a:srgbClr val="6B7FA0"/>
                </a:solidFill>
                <a:latin typeface="Calibri"/>
              </a:rPr>
              <a:t>Weekly U.S. gas price index (St. Louis Fed)  ·  EXT-01</a:t>
            </a:r>
          </a:p>
        </p:txBody>
      </p:sp>
      <p:sp>
        <p:nvSpPr>
          <p:cNvPr id="44" name="Rectangle 43"/>
          <p:cNvSpPr/>
          <p:nvPr/>
        </p:nvSpPr>
        <p:spPr>
          <a:xfrm>
            <a:off x="6126480" y="1956816"/>
            <a:ext cx="5715000" cy="32918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26480" y="1956816"/>
            <a:ext cx="64008" cy="329184"/>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72784" y="2011680"/>
            <a:ext cx="1920240" cy="237744"/>
          </a:xfrm>
          <a:prstGeom prst="rect">
            <a:avLst/>
          </a:prstGeom>
          <a:noFill/>
        </p:spPr>
        <p:txBody>
          <a:bodyPr wrap="square">
            <a:spAutoFit/>
          </a:bodyPr>
          <a:lstStyle/>
          <a:p>
            <a:pPr algn="l"/>
            <a:r>
              <a:rPr sz="900" b="1" i="0">
                <a:solidFill>
                  <a:srgbClr val="111827"/>
                </a:solidFill>
                <a:latin typeface="Calibri"/>
              </a:rPr>
              <a:t>FRED — UMCSENT</a:t>
            </a:r>
          </a:p>
        </p:txBody>
      </p:sp>
      <p:sp>
        <p:nvSpPr>
          <p:cNvPr id="47" name="TextBox 46"/>
          <p:cNvSpPr txBox="1"/>
          <p:nvPr/>
        </p:nvSpPr>
        <p:spPr>
          <a:xfrm>
            <a:off x="8275320" y="2011680"/>
            <a:ext cx="3474720" cy="237744"/>
          </a:xfrm>
          <a:prstGeom prst="rect">
            <a:avLst/>
          </a:prstGeom>
          <a:noFill/>
        </p:spPr>
        <p:txBody>
          <a:bodyPr wrap="square">
            <a:spAutoFit/>
          </a:bodyPr>
          <a:lstStyle/>
          <a:p>
            <a:pPr algn="l"/>
            <a:r>
              <a:rPr sz="800" b="0" i="0">
                <a:solidFill>
                  <a:srgbClr val="6B7FA0"/>
                </a:solidFill>
                <a:latin typeface="Calibri"/>
              </a:rPr>
              <a:t>U. of Michigan consumer confidence index  ·  EXT-01</a:t>
            </a:r>
          </a:p>
        </p:txBody>
      </p:sp>
      <p:sp>
        <p:nvSpPr>
          <p:cNvPr id="48" name="Rectangle 47"/>
          <p:cNvSpPr/>
          <p:nvPr/>
        </p:nvSpPr>
        <p:spPr>
          <a:xfrm>
            <a:off x="6126480" y="2377440"/>
            <a:ext cx="5715000" cy="237744"/>
          </a:xfrm>
          <a:prstGeom prst="rect">
            <a:avLst/>
          </a:prstGeom>
          <a:solidFill>
            <a:srgbClr val="FFF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8" y="2414016"/>
            <a:ext cx="5495544" cy="182880"/>
          </a:xfrm>
          <a:prstGeom prst="rect">
            <a:avLst/>
          </a:prstGeom>
          <a:noFill/>
        </p:spPr>
        <p:txBody>
          <a:bodyPr wrap="square">
            <a:spAutoFit/>
          </a:bodyPr>
          <a:lstStyle/>
          <a:p>
            <a:pPr algn="l"/>
            <a:r>
              <a:rPr sz="750" b="1" i="0">
                <a:solidFill>
                  <a:srgbClr val="8A4800"/>
                </a:solidFill>
                <a:latin typeface="Calibri"/>
              </a:rPr>
              <a:t>PLANNED — OPEN ITEMS  (EXT-04 through EXT-08)</a:t>
            </a:r>
          </a:p>
        </p:txBody>
      </p:sp>
      <p:sp>
        <p:nvSpPr>
          <p:cNvPr id="50" name="Rectangle 49"/>
          <p:cNvSpPr/>
          <p:nvPr/>
        </p:nvSpPr>
        <p:spPr>
          <a:xfrm>
            <a:off x="6126480" y="2615184"/>
            <a:ext cx="5715000" cy="32918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26480" y="2615184"/>
            <a:ext cx="64008" cy="329184"/>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72784" y="2670048"/>
            <a:ext cx="1920240" cy="237744"/>
          </a:xfrm>
          <a:prstGeom prst="rect">
            <a:avLst/>
          </a:prstGeom>
          <a:noFill/>
        </p:spPr>
        <p:txBody>
          <a:bodyPr wrap="square">
            <a:spAutoFit/>
          </a:bodyPr>
          <a:lstStyle/>
          <a:p>
            <a:pPr algn="l"/>
            <a:r>
              <a:rPr sz="900" b="1" i="0">
                <a:solidFill>
                  <a:srgbClr val="111827"/>
                </a:solidFill>
                <a:latin typeface="Calibri"/>
              </a:rPr>
              <a:t>Open-Meteo Weather</a:t>
            </a:r>
          </a:p>
        </p:txBody>
      </p:sp>
      <p:sp>
        <p:nvSpPr>
          <p:cNvPr id="53" name="TextBox 52"/>
          <p:cNvSpPr txBox="1"/>
          <p:nvPr/>
        </p:nvSpPr>
        <p:spPr>
          <a:xfrm>
            <a:off x="8275320" y="2670048"/>
            <a:ext cx="3474720" cy="237744"/>
          </a:xfrm>
          <a:prstGeom prst="rect">
            <a:avLst/>
          </a:prstGeom>
          <a:noFill/>
        </p:spPr>
        <p:txBody>
          <a:bodyPr wrap="square">
            <a:spAutoFit/>
          </a:bodyPr>
          <a:lstStyle/>
          <a:p>
            <a:pPr algn="l"/>
            <a:r>
              <a:rPr sz="800" b="0" i="0">
                <a:solidFill>
                  <a:srgbClr val="6B7FA0"/>
                </a:solidFill>
                <a:latin typeface="Calibri"/>
              </a:rPr>
              <a:t>Regional precip + temperature for seasonal demand context  ·  EXT-04</a:t>
            </a:r>
          </a:p>
        </p:txBody>
      </p:sp>
      <p:sp>
        <p:nvSpPr>
          <p:cNvPr id="54" name="Rectangle 53"/>
          <p:cNvSpPr/>
          <p:nvPr/>
        </p:nvSpPr>
        <p:spPr>
          <a:xfrm>
            <a:off x="6126480" y="2944368"/>
            <a:ext cx="5715000" cy="32918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26480" y="2944368"/>
            <a:ext cx="64008" cy="329184"/>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72784" y="2999232"/>
            <a:ext cx="1920240" cy="237744"/>
          </a:xfrm>
          <a:prstGeom prst="rect">
            <a:avLst/>
          </a:prstGeom>
          <a:noFill/>
        </p:spPr>
        <p:txBody>
          <a:bodyPr wrap="square">
            <a:spAutoFit/>
          </a:bodyPr>
          <a:lstStyle/>
          <a:p>
            <a:pPr algn="l"/>
            <a:r>
              <a:rPr sz="900" b="1" i="0">
                <a:solidFill>
                  <a:srgbClr val="111827"/>
                </a:solidFill>
                <a:latin typeface="Calibri"/>
              </a:rPr>
              <a:t>BLS CPI — Food</a:t>
            </a:r>
          </a:p>
        </p:txBody>
      </p:sp>
      <p:sp>
        <p:nvSpPr>
          <p:cNvPr id="57" name="TextBox 56"/>
          <p:cNvSpPr txBox="1"/>
          <p:nvPr/>
        </p:nvSpPr>
        <p:spPr>
          <a:xfrm>
            <a:off x="8275320" y="2999232"/>
            <a:ext cx="3474720" cy="237744"/>
          </a:xfrm>
          <a:prstGeom prst="rect">
            <a:avLst/>
          </a:prstGeom>
          <a:noFill/>
        </p:spPr>
        <p:txBody>
          <a:bodyPr wrap="square">
            <a:spAutoFit/>
          </a:bodyPr>
          <a:lstStyle/>
          <a:p>
            <a:pPr algn="l"/>
            <a:r>
              <a:rPr sz="800" b="0" i="0">
                <a:solidFill>
                  <a:srgbClr val="6B7FA0"/>
                </a:solidFill>
                <a:latin typeface="Calibri"/>
              </a:rPr>
              <a:t>CPI food sub-indices for consumer price-pressure signal  ·  EXT-05</a:t>
            </a:r>
          </a:p>
        </p:txBody>
      </p:sp>
      <p:sp>
        <p:nvSpPr>
          <p:cNvPr id="58" name="Rectangle 57"/>
          <p:cNvSpPr/>
          <p:nvPr/>
        </p:nvSpPr>
        <p:spPr>
          <a:xfrm>
            <a:off x="6126480" y="3273552"/>
            <a:ext cx="5715000" cy="32918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26480" y="3273552"/>
            <a:ext cx="64008" cy="329184"/>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72784" y="3328416"/>
            <a:ext cx="1920240" cy="237744"/>
          </a:xfrm>
          <a:prstGeom prst="rect">
            <a:avLst/>
          </a:prstGeom>
          <a:noFill/>
        </p:spPr>
        <p:txBody>
          <a:bodyPr wrap="square">
            <a:spAutoFit/>
          </a:bodyPr>
          <a:lstStyle/>
          <a:p>
            <a:pPr algn="l"/>
            <a:r>
              <a:rPr sz="900" b="1" i="0">
                <a:solidFill>
                  <a:srgbClr val="111827"/>
                </a:solidFill>
                <a:latin typeface="Calibri"/>
              </a:rPr>
              <a:t>Kalshi Markets</a:t>
            </a:r>
          </a:p>
        </p:txBody>
      </p:sp>
      <p:sp>
        <p:nvSpPr>
          <p:cNvPr id="61" name="TextBox 60"/>
          <p:cNvSpPr txBox="1"/>
          <p:nvPr/>
        </p:nvSpPr>
        <p:spPr>
          <a:xfrm>
            <a:off x="8275320" y="3328416"/>
            <a:ext cx="3474720" cy="237744"/>
          </a:xfrm>
          <a:prstGeom prst="rect">
            <a:avLst/>
          </a:prstGeom>
          <a:noFill/>
        </p:spPr>
        <p:txBody>
          <a:bodyPr wrap="square">
            <a:spAutoFit/>
          </a:bodyPr>
          <a:lstStyle/>
          <a:p>
            <a:pPr algn="l"/>
            <a:r>
              <a:rPr sz="800" b="0" i="0">
                <a:solidFill>
                  <a:srgbClr val="6B7FA0"/>
                </a:solidFill>
                <a:latin typeface="Calibri"/>
              </a:rPr>
              <a:t>Prediction market odds for macro events (recession, rates)  ·  EXT-06</a:t>
            </a:r>
          </a:p>
        </p:txBody>
      </p:sp>
      <p:sp>
        <p:nvSpPr>
          <p:cNvPr id="62" name="Rectangle 61"/>
          <p:cNvSpPr/>
          <p:nvPr/>
        </p:nvSpPr>
        <p:spPr>
          <a:xfrm>
            <a:off x="6126480" y="3602736"/>
            <a:ext cx="5715000" cy="32918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0" y="3602736"/>
            <a:ext cx="64008" cy="329184"/>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272784" y="3657600"/>
            <a:ext cx="1920240" cy="237744"/>
          </a:xfrm>
          <a:prstGeom prst="rect">
            <a:avLst/>
          </a:prstGeom>
          <a:noFill/>
        </p:spPr>
        <p:txBody>
          <a:bodyPr wrap="square">
            <a:spAutoFit/>
          </a:bodyPr>
          <a:lstStyle/>
          <a:p>
            <a:pPr algn="l"/>
            <a:r>
              <a:rPr sz="900" b="1" i="0">
                <a:solidFill>
                  <a:srgbClr val="111827"/>
                </a:solidFill>
                <a:latin typeface="Calibri"/>
              </a:rPr>
              <a:t>Amazon BSR / Helium 10</a:t>
            </a:r>
          </a:p>
        </p:txBody>
      </p:sp>
      <p:sp>
        <p:nvSpPr>
          <p:cNvPr id="65" name="TextBox 64"/>
          <p:cNvSpPr txBox="1"/>
          <p:nvPr/>
        </p:nvSpPr>
        <p:spPr>
          <a:xfrm>
            <a:off x="8275320" y="3657600"/>
            <a:ext cx="3474720" cy="237744"/>
          </a:xfrm>
          <a:prstGeom prst="rect">
            <a:avLst/>
          </a:prstGeom>
          <a:noFill/>
        </p:spPr>
        <p:txBody>
          <a:bodyPr wrap="square">
            <a:spAutoFit/>
          </a:bodyPr>
          <a:lstStyle/>
          <a:p>
            <a:pPr algn="l"/>
            <a:r>
              <a:rPr sz="800" b="0" i="0">
                <a:solidFill>
                  <a:srgbClr val="6B7FA0"/>
                </a:solidFill>
                <a:latin typeface="Calibri"/>
              </a:rPr>
              <a:t>Digital shelf velocity proxy for e-commerce demand  ·  EXT-07</a:t>
            </a:r>
          </a:p>
        </p:txBody>
      </p:sp>
      <p:sp>
        <p:nvSpPr>
          <p:cNvPr id="66" name="Rectangle 65"/>
          <p:cNvSpPr/>
          <p:nvPr/>
        </p:nvSpPr>
        <p:spPr>
          <a:xfrm>
            <a:off x="6126480" y="3931920"/>
            <a:ext cx="5715000" cy="32918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126480" y="3931920"/>
            <a:ext cx="64008" cy="329184"/>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72784" y="3986783"/>
            <a:ext cx="1920240" cy="237744"/>
          </a:xfrm>
          <a:prstGeom prst="rect">
            <a:avLst/>
          </a:prstGeom>
          <a:noFill/>
        </p:spPr>
        <p:txBody>
          <a:bodyPr wrap="square">
            <a:spAutoFit/>
          </a:bodyPr>
          <a:lstStyle/>
          <a:p>
            <a:pPr algn="l"/>
            <a:r>
              <a:rPr sz="900" b="1" i="0">
                <a:solidFill>
                  <a:srgbClr val="111827"/>
                </a:solidFill>
                <a:latin typeface="Calibri"/>
              </a:rPr>
              <a:t>EIA / USDA Commodities</a:t>
            </a:r>
          </a:p>
        </p:txBody>
      </p:sp>
      <p:sp>
        <p:nvSpPr>
          <p:cNvPr id="69" name="TextBox 68"/>
          <p:cNvSpPr txBox="1"/>
          <p:nvPr/>
        </p:nvSpPr>
        <p:spPr>
          <a:xfrm>
            <a:off x="8275320" y="3986783"/>
            <a:ext cx="3474720" cy="237744"/>
          </a:xfrm>
          <a:prstGeom prst="rect">
            <a:avLst/>
          </a:prstGeom>
          <a:noFill/>
        </p:spPr>
        <p:txBody>
          <a:bodyPr wrap="square">
            <a:spAutoFit/>
          </a:bodyPr>
          <a:lstStyle/>
          <a:p>
            <a:pPr algn="l"/>
            <a:r>
              <a:rPr sz="800" b="0" i="0">
                <a:solidFill>
                  <a:srgbClr val="6B7FA0"/>
                </a:solidFill>
                <a:latin typeface="Calibri"/>
              </a:rPr>
              <a:t>Cocoa, whey, oat prices — ingredient cost-pressure signal  ·  EXT-08</a:t>
            </a:r>
          </a:p>
        </p:txBody>
      </p:sp>
      <p:sp>
        <p:nvSpPr>
          <p:cNvPr id="70" name="Rectangle 69"/>
          <p:cNvSpPr/>
          <p:nvPr/>
        </p:nvSpPr>
        <p:spPr>
          <a:xfrm>
            <a:off x="6126480" y="4315968"/>
            <a:ext cx="5715000" cy="402336"/>
          </a:xfrm>
          <a:prstGeom prst="rect">
            <a:avLst/>
          </a:prstGeom>
          <a:solidFill>
            <a:srgbClr val="FEF0F0"/>
          </a:solidFill>
          <a:ln w="6350">
            <a:solidFill>
              <a:srgbClr val="DD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36208" y="4370831"/>
            <a:ext cx="5495544" cy="310896"/>
          </a:xfrm>
          <a:prstGeom prst="rect">
            <a:avLst/>
          </a:prstGeom>
          <a:noFill/>
        </p:spPr>
        <p:txBody>
          <a:bodyPr wrap="square">
            <a:spAutoFit/>
          </a:bodyPr>
          <a:lstStyle/>
          <a:p>
            <a:pPr algn="l"/>
            <a:r>
              <a:rPr sz="800" b="0" i="0">
                <a:solidFill>
                  <a:srgbClr val="8B1A1A"/>
                </a:solidFill>
                <a:latin typeface="Calibri"/>
              </a:rPr>
              <a:t>Licensing rule: all signals must permit commercial redistribution before integration  [EXT-02]
Google Trends / pytrends: internal analysis only — never redistribute  [EXT-03]</a:t>
            </a:r>
          </a:p>
        </p:txBody>
      </p:sp>
      <p:sp>
        <p:nvSpPr>
          <p:cNvPr id="72" name="TextBox 71"/>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9144000" cy="548640"/>
          </a:xfrm>
          <a:prstGeom prst="rect">
            <a:avLst/>
          </a:prstGeom>
          <a:noFill/>
        </p:spPr>
        <p:txBody>
          <a:bodyPr wrap="square">
            <a:spAutoFit/>
          </a:bodyPr>
          <a:lstStyle/>
          <a:p>
            <a:pPr algn="l"/>
            <a:r>
              <a:rPr sz="2400" b="1" i="0">
                <a:solidFill>
                  <a:srgbClr val="FFFFFF"/>
                </a:solidFill>
                <a:latin typeface="Calibri"/>
              </a:rPr>
              <a:t>Automation Roadmap</a:t>
            </a:r>
          </a:p>
        </p:txBody>
      </p:sp>
      <p:sp>
        <p:nvSpPr>
          <p:cNvPr id="6" name="TextBox 5"/>
          <p:cNvSpPr txBox="1"/>
          <p:nvPr/>
        </p:nvSpPr>
        <p:spPr>
          <a:xfrm>
            <a:off x="457200" y="658368"/>
            <a:ext cx="10972800" cy="292608"/>
          </a:xfrm>
          <a:prstGeom prst="rect">
            <a:avLst/>
          </a:prstGeom>
          <a:noFill/>
        </p:spPr>
        <p:txBody>
          <a:bodyPr wrap="square">
            <a:spAutoFit/>
          </a:bodyPr>
          <a:lstStyle/>
          <a:p>
            <a:pPr algn="l"/>
            <a:r>
              <a:rPr sz="1100" b="0" i="0">
                <a:solidFill>
                  <a:srgbClr val="A0C0F0"/>
                </a:solidFill>
                <a:latin typeface="Calibri"/>
              </a:rPr>
              <a:t>Five priorities to remove manual steps from the pipeline — ordered by impact-to-risk ratio. No changes implemented yet; design only.</a:t>
            </a:r>
          </a:p>
        </p:txBody>
      </p:sp>
      <p:sp>
        <p:nvSpPr>
          <p:cNvPr id="7" name="Rectangle 6"/>
          <p:cNvSpPr/>
          <p:nvPr/>
        </p:nvSpPr>
        <p:spPr>
          <a:xfrm>
            <a:off x="347472"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7472" y="1170432"/>
            <a:ext cx="2103120" cy="45720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261872"/>
            <a:ext cx="1920239" cy="292608"/>
          </a:xfrm>
          <a:prstGeom prst="rect">
            <a:avLst/>
          </a:prstGeom>
          <a:noFill/>
        </p:spPr>
        <p:txBody>
          <a:bodyPr wrap="square">
            <a:spAutoFit/>
          </a:bodyPr>
          <a:lstStyle/>
          <a:p>
            <a:pPr algn="l"/>
            <a:r>
              <a:rPr sz="800" b="1" i="0">
                <a:solidFill>
                  <a:srgbClr val="FFFFFF"/>
                </a:solidFill>
                <a:latin typeface="Calibri"/>
              </a:rPr>
              <a:t>P1  ·  Low risk · High impact</a:t>
            </a:r>
          </a:p>
        </p:txBody>
      </p:sp>
      <p:sp>
        <p:nvSpPr>
          <p:cNvPr id="10" name="Rectangle 9"/>
          <p:cNvSpPr/>
          <p:nvPr/>
        </p:nvSpPr>
        <p:spPr>
          <a:xfrm>
            <a:off x="457200" y="1719072"/>
            <a:ext cx="1883663" cy="54864"/>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847088"/>
            <a:ext cx="1883663" cy="640080"/>
          </a:xfrm>
          <a:prstGeom prst="rect">
            <a:avLst/>
          </a:prstGeom>
          <a:noFill/>
        </p:spPr>
        <p:txBody>
          <a:bodyPr wrap="square">
            <a:spAutoFit/>
          </a:bodyPr>
          <a:lstStyle/>
          <a:p>
            <a:pPr algn="l"/>
            <a:r>
              <a:rPr sz="1100" b="1" i="0">
                <a:solidFill>
                  <a:srgbClr val="111827"/>
                </a:solidFill>
                <a:latin typeface="Calibri"/>
              </a:rPr>
              <a:t>Incremental Ingest Watermark</a:t>
            </a:r>
          </a:p>
        </p:txBody>
      </p:sp>
      <p:sp>
        <p:nvSpPr>
          <p:cNvPr id="12" name="TextBox 11"/>
          <p:cNvSpPr txBox="1"/>
          <p:nvPr/>
        </p:nvSpPr>
        <p:spPr>
          <a:xfrm>
            <a:off x="457200" y="2523744"/>
            <a:ext cx="1883663" cy="2852928"/>
          </a:xfrm>
          <a:prstGeom prst="rect">
            <a:avLst/>
          </a:prstGeom>
          <a:noFill/>
        </p:spPr>
        <p:txBody>
          <a:bodyPr wrap="square">
            <a:spAutoFit/>
          </a:bodyPr>
          <a:lstStyle/>
          <a:p>
            <a:pPr algn="l"/>
            <a:r>
              <a:rPr sz="850" b="0" i="0">
                <a:solidFill>
                  <a:srgbClr val="6B7FA0"/>
                </a:solidFill>
                <a:latin typeface="Calibri"/>
              </a:rPr>
              <a:t>Load only new weeks via OVERWRITE WHERE — never re-process full history. Requires a watermark metadata store and verification that all Q-series queries are window-safe.</a:t>
            </a:r>
          </a:p>
        </p:txBody>
      </p:sp>
      <p:sp>
        <p:nvSpPr>
          <p:cNvPr id="13" name="Rectangle 12"/>
          <p:cNvSpPr/>
          <p:nvPr/>
        </p:nvSpPr>
        <p:spPr>
          <a:xfrm>
            <a:off x="2587751"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87751" y="1170432"/>
            <a:ext cx="2103120" cy="4572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9191" y="1261872"/>
            <a:ext cx="1920239" cy="292608"/>
          </a:xfrm>
          <a:prstGeom prst="rect">
            <a:avLst/>
          </a:prstGeom>
          <a:noFill/>
        </p:spPr>
        <p:txBody>
          <a:bodyPr wrap="square">
            <a:spAutoFit/>
          </a:bodyPr>
          <a:lstStyle/>
          <a:p>
            <a:pPr algn="l"/>
            <a:r>
              <a:rPr sz="800" b="1" i="0">
                <a:solidFill>
                  <a:srgbClr val="FFFFFF"/>
                </a:solidFill>
                <a:latin typeface="Calibri"/>
              </a:rPr>
              <a:t>P2  ·  Foundation for P3</a:t>
            </a:r>
          </a:p>
        </p:txBody>
      </p:sp>
      <p:sp>
        <p:nvSpPr>
          <p:cNvPr id="16" name="Rectangle 15"/>
          <p:cNvSpPr/>
          <p:nvPr/>
        </p:nvSpPr>
        <p:spPr>
          <a:xfrm>
            <a:off x="2697479" y="1719072"/>
            <a:ext cx="1883663" cy="54864"/>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97479" y="1847088"/>
            <a:ext cx="1883663" cy="640080"/>
          </a:xfrm>
          <a:prstGeom prst="rect">
            <a:avLst/>
          </a:prstGeom>
          <a:noFill/>
        </p:spPr>
        <p:txBody>
          <a:bodyPr wrap="square">
            <a:spAutoFit/>
          </a:bodyPr>
          <a:lstStyle/>
          <a:p>
            <a:pPr algn="l"/>
            <a:r>
              <a:rPr sz="1100" b="1" i="0">
                <a:solidFill>
                  <a:srgbClr val="111827"/>
                </a:solidFill>
                <a:latin typeface="Calibri"/>
              </a:rPr>
              <a:t>Shell Orchestration — run_data_ops.sh</a:t>
            </a:r>
          </a:p>
        </p:txBody>
      </p:sp>
      <p:sp>
        <p:nvSpPr>
          <p:cNvPr id="18" name="TextBox 17"/>
          <p:cNvSpPr txBox="1"/>
          <p:nvPr/>
        </p:nvSpPr>
        <p:spPr>
          <a:xfrm>
            <a:off x="2697479" y="2523744"/>
            <a:ext cx="1883663" cy="2852928"/>
          </a:xfrm>
          <a:prstGeom prst="rect">
            <a:avLst/>
          </a:prstGeom>
          <a:noFill/>
        </p:spPr>
        <p:txBody>
          <a:bodyPr wrap="square">
            <a:spAutoFit/>
          </a:bodyPr>
          <a:lstStyle/>
          <a:p>
            <a:pPr algn="l"/>
            <a:r>
              <a:rPr sz="850" b="0" i="0">
                <a:solidFill>
                  <a:srgbClr val="6B7FA0"/>
                </a:solidFill>
                <a:latin typeface="Calibri"/>
              </a:rPr>
              <a:t>Chain Q-series and P-series scripts with per-stage gate assertions and halt-on-failure logic. Same pattern as run_fpa_report.sh. Manual execution first; trigger integration added in P3.</a:t>
            </a:r>
          </a:p>
        </p:txBody>
      </p:sp>
      <p:sp>
        <p:nvSpPr>
          <p:cNvPr id="19" name="Rectangle 18"/>
          <p:cNvSpPr/>
          <p:nvPr/>
        </p:nvSpPr>
        <p:spPr>
          <a:xfrm>
            <a:off x="4828031"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28031" y="1170432"/>
            <a:ext cx="2103120" cy="4572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19471" y="1261872"/>
            <a:ext cx="1920239" cy="292608"/>
          </a:xfrm>
          <a:prstGeom prst="rect">
            <a:avLst/>
          </a:prstGeom>
          <a:noFill/>
        </p:spPr>
        <p:txBody>
          <a:bodyPr wrap="square">
            <a:spAutoFit/>
          </a:bodyPr>
          <a:lstStyle/>
          <a:p>
            <a:pPr algn="l"/>
            <a:r>
              <a:rPr sz="800" b="1" i="0">
                <a:solidFill>
                  <a:srgbClr val="FFFFFF"/>
                </a:solidFill>
                <a:latin typeface="Calibri"/>
              </a:rPr>
              <a:t>P3  ·  Requires P2</a:t>
            </a:r>
          </a:p>
        </p:txBody>
      </p:sp>
      <p:sp>
        <p:nvSpPr>
          <p:cNvPr id="22" name="Rectangle 21"/>
          <p:cNvSpPr/>
          <p:nvPr/>
        </p:nvSpPr>
        <p:spPr>
          <a:xfrm>
            <a:off x="4937759" y="1719072"/>
            <a:ext cx="1883663" cy="54864"/>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59" y="1847088"/>
            <a:ext cx="1883663" cy="640080"/>
          </a:xfrm>
          <a:prstGeom prst="rect">
            <a:avLst/>
          </a:prstGeom>
          <a:noFill/>
        </p:spPr>
        <p:txBody>
          <a:bodyPr wrap="square">
            <a:spAutoFit/>
          </a:bodyPr>
          <a:lstStyle/>
          <a:p>
            <a:pPr algn="l"/>
            <a:r>
              <a:rPr sz="1100" b="1" i="0">
                <a:solidFill>
                  <a:srgbClr val="111827"/>
                </a:solidFill>
                <a:latin typeface="Calibri"/>
              </a:rPr>
              <a:t>File-Watch Trigger — MinIO bucket event</a:t>
            </a:r>
          </a:p>
        </p:txBody>
      </p:sp>
      <p:sp>
        <p:nvSpPr>
          <p:cNvPr id="24" name="TextBox 23"/>
          <p:cNvSpPr txBox="1"/>
          <p:nvPr/>
        </p:nvSpPr>
        <p:spPr>
          <a:xfrm>
            <a:off x="4937759" y="2523744"/>
            <a:ext cx="1883663" cy="2852928"/>
          </a:xfrm>
          <a:prstGeom prst="rect">
            <a:avLst/>
          </a:prstGeom>
          <a:noFill/>
        </p:spPr>
        <p:txBody>
          <a:bodyPr wrap="square">
            <a:spAutoFit/>
          </a:bodyPr>
          <a:lstStyle/>
          <a:p>
            <a:pPr algn="l"/>
            <a:r>
              <a:rPr sz="850" b="0" i="0">
                <a:solidFill>
                  <a:srgbClr val="6B7FA0"/>
                </a:solidFill>
                <a:latin typeface="Calibri"/>
              </a:rPr>
              <a:t>Wire MinIO bucket notification to fire run_data_ops.sh when a new SPINS export lands. Aevah owns the entire run from deposit to scored output — no manual step required.</a:t>
            </a:r>
          </a:p>
        </p:txBody>
      </p:sp>
      <p:sp>
        <p:nvSpPr>
          <p:cNvPr id="25" name="Rectangle 24"/>
          <p:cNvSpPr/>
          <p:nvPr/>
        </p:nvSpPr>
        <p:spPr>
          <a:xfrm>
            <a:off x="7068312"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68312" y="1170432"/>
            <a:ext cx="2103120" cy="457200"/>
          </a:xfrm>
          <a:prstGeom prst="rect">
            <a:avLst/>
          </a:prstGeom>
          <a:solidFill>
            <a:srgbClr val="4B2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59751" y="1261872"/>
            <a:ext cx="1920239" cy="292608"/>
          </a:xfrm>
          <a:prstGeom prst="rect">
            <a:avLst/>
          </a:prstGeom>
          <a:noFill/>
        </p:spPr>
        <p:txBody>
          <a:bodyPr wrap="square">
            <a:spAutoFit/>
          </a:bodyPr>
          <a:lstStyle/>
          <a:p>
            <a:pPr algn="l"/>
            <a:r>
              <a:rPr sz="800" b="1" i="0">
                <a:solidFill>
                  <a:srgbClr val="FFFFFF"/>
                </a:solidFill>
                <a:latin typeface="Calibri"/>
              </a:rPr>
              <a:t>P4  ·  Testing</a:t>
            </a:r>
          </a:p>
        </p:txBody>
      </p:sp>
      <p:sp>
        <p:nvSpPr>
          <p:cNvPr id="28" name="Rectangle 27"/>
          <p:cNvSpPr/>
          <p:nvPr/>
        </p:nvSpPr>
        <p:spPr>
          <a:xfrm>
            <a:off x="7178040" y="1719072"/>
            <a:ext cx="1883663" cy="54864"/>
          </a:xfrm>
          <a:prstGeom prst="rect">
            <a:avLst/>
          </a:prstGeom>
          <a:solidFill>
            <a:srgbClr val="4B2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78040" y="1847088"/>
            <a:ext cx="1883663" cy="640080"/>
          </a:xfrm>
          <a:prstGeom prst="rect">
            <a:avLst/>
          </a:prstGeom>
          <a:noFill/>
        </p:spPr>
        <p:txBody>
          <a:bodyPr wrap="square">
            <a:spAutoFit/>
          </a:bodyPr>
          <a:lstStyle/>
          <a:p>
            <a:pPr algn="l"/>
            <a:r>
              <a:rPr sz="1100" b="1" i="0">
                <a:solidFill>
                  <a:srgbClr val="111827"/>
                </a:solidFill>
                <a:latin typeface="Calibri"/>
              </a:rPr>
              <a:t>Smoke Test Suite — pinned test cases</a:t>
            </a:r>
          </a:p>
        </p:txBody>
      </p:sp>
      <p:sp>
        <p:nvSpPr>
          <p:cNvPr id="30" name="TextBox 29"/>
          <p:cNvSpPr txBox="1"/>
          <p:nvPr/>
        </p:nvSpPr>
        <p:spPr>
          <a:xfrm>
            <a:off x="7178040" y="2523744"/>
            <a:ext cx="1883663" cy="2852928"/>
          </a:xfrm>
          <a:prstGeom prst="rect">
            <a:avLst/>
          </a:prstGeom>
          <a:noFill/>
        </p:spPr>
        <p:txBody>
          <a:bodyPr wrap="square">
            <a:spAutoFit/>
          </a:bodyPr>
          <a:lstStyle/>
          <a:p>
            <a:pPr algn="l"/>
            <a:r>
              <a:rPr sz="850" b="0" i="0">
                <a:solidFill>
                  <a:srgbClr val="6B7FA0"/>
                </a:solidFill>
                <a:latin typeface="Calibri"/>
              </a:rPr>
              <a:t>Define Stage 4 pinned test cases: known UPC × account pairs with expected direction and magnitude bands. Use FOOD-channel accounts only — never MULO. Assert direction, not exact values.  [GEO-04 / ANO-01]</a:t>
            </a:r>
          </a:p>
        </p:txBody>
      </p:sp>
      <p:sp>
        <p:nvSpPr>
          <p:cNvPr id="31" name="Rectangle 30"/>
          <p:cNvSpPr/>
          <p:nvPr/>
        </p:nvSpPr>
        <p:spPr>
          <a:xfrm>
            <a:off x="9308592"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308592" y="1170432"/>
            <a:ext cx="2103120" cy="45720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00032" y="1261872"/>
            <a:ext cx="1920239" cy="292608"/>
          </a:xfrm>
          <a:prstGeom prst="rect">
            <a:avLst/>
          </a:prstGeom>
          <a:noFill/>
        </p:spPr>
        <p:txBody>
          <a:bodyPr wrap="square">
            <a:spAutoFit/>
          </a:bodyPr>
          <a:lstStyle/>
          <a:p>
            <a:pPr algn="l"/>
            <a:r>
              <a:rPr sz="800" b="1" i="0">
                <a:solidFill>
                  <a:srgbClr val="FFFFFF"/>
                </a:solidFill>
                <a:latin typeface="Calibri"/>
              </a:rPr>
              <a:t>P5  ·  Benchmark required first</a:t>
            </a:r>
          </a:p>
        </p:txBody>
      </p:sp>
      <p:sp>
        <p:nvSpPr>
          <p:cNvPr id="34" name="Rectangle 33"/>
          <p:cNvSpPr/>
          <p:nvPr/>
        </p:nvSpPr>
        <p:spPr>
          <a:xfrm>
            <a:off x="9418319" y="1719072"/>
            <a:ext cx="1883663" cy="54864"/>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19" y="1847088"/>
            <a:ext cx="1883663" cy="640080"/>
          </a:xfrm>
          <a:prstGeom prst="rect">
            <a:avLst/>
          </a:prstGeom>
          <a:noFill/>
        </p:spPr>
        <p:txBody>
          <a:bodyPr wrap="square">
            <a:spAutoFit/>
          </a:bodyPr>
          <a:lstStyle/>
          <a:p>
            <a:pPr algn="l"/>
            <a:r>
              <a:rPr sz="1100" b="1" i="0">
                <a:solidFill>
                  <a:srgbClr val="111827"/>
                </a:solidFill>
                <a:latin typeface="Calibri"/>
              </a:rPr>
              <a:t>Druid Segment Tuning</a:t>
            </a:r>
          </a:p>
        </p:txBody>
      </p:sp>
      <p:sp>
        <p:nvSpPr>
          <p:cNvPr id="36" name="TextBox 35"/>
          <p:cNvSpPr txBox="1"/>
          <p:nvPr/>
        </p:nvSpPr>
        <p:spPr>
          <a:xfrm>
            <a:off x="9418319" y="2523744"/>
            <a:ext cx="1883663" cy="2852928"/>
          </a:xfrm>
          <a:prstGeom prst="rect">
            <a:avLst/>
          </a:prstGeom>
          <a:noFill/>
        </p:spPr>
        <p:txBody>
          <a:bodyPr wrap="square">
            <a:spAutoFit/>
          </a:bodyPr>
          <a:lstStyle/>
          <a:p>
            <a:pPr algn="l"/>
            <a:r>
              <a:rPr sz="850" b="0" i="0">
                <a:solidFill>
                  <a:srgbClr val="6B7FA0"/>
                </a:solidFill>
                <a:latin typeface="Calibri"/>
              </a:rPr>
              <a:t>Baseline query-time benchmark on built_filtered_weekly and ml_training_features. Evaluate segment granularity and partition changes on a copy before touching live specs. MULO exclusion logic and OVERWRITE WHERE pattern must be preserved.  [GEO-01]</a:t>
            </a:r>
          </a:p>
        </p:txBody>
      </p:sp>
      <p:sp>
        <p:nvSpPr>
          <p:cNvPr id="37" name="Rectangle 36"/>
          <p:cNvSpPr/>
          <p:nvPr/>
        </p:nvSpPr>
        <p:spPr>
          <a:xfrm>
            <a:off x="347472" y="5687568"/>
            <a:ext cx="11475720" cy="713232"/>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5742432"/>
            <a:ext cx="11155680" cy="256032"/>
          </a:xfrm>
          <a:prstGeom prst="rect">
            <a:avLst/>
          </a:prstGeom>
          <a:noFill/>
        </p:spPr>
        <p:txBody>
          <a:bodyPr wrap="square">
            <a:spAutoFit/>
          </a:bodyPr>
          <a:lstStyle/>
          <a:p>
            <a:pPr algn="l"/>
            <a:r>
              <a:rPr sz="800" b="1" i="0">
                <a:solidFill>
                  <a:srgbClr val="4078D0"/>
                </a:solidFill>
                <a:latin typeface="Calibri"/>
              </a:rPr>
              <a:t>TESTING PRINCIPLE</a:t>
            </a:r>
          </a:p>
        </p:txBody>
      </p:sp>
      <p:sp>
        <p:nvSpPr>
          <p:cNvPr id="39" name="TextBox 38"/>
          <p:cNvSpPr txBox="1"/>
          <p:nvPr/>
        </p:nvSpPr>
        <p:spPr>
          <a:xfrm>
            <a:off x="502920" y="5971032"/>
            <a:ext cx="11155680" cy="384048"/>
          </a:xfrm>
          <a:prstGeom prst="rect">
            <a:avLst/>
          </a:prstGeom>
          <a:noFill/>
        </p:spPr>
        <p:txBody>
          <a:bodyPr wrap="square">
            <a:spAutoFit/>
          </a:bodyPr>
          <a:lstStyle/>
          <a:p>
            <a:pPr algn="l"/>
            <a:r>
              <a:rPr sz="950" b="0" i="0">
                <a:solidFill>
                  <a:srgbClr val="111827"/>
                </a:solidFill>
                <a:latin typeface="Calibri"/>
              </a:rPr>
              <a:t>No spec or script changes go live without a before/after benchmark. New methods run in parallel against the existing method on a copy first. Any coverage drop &gt;10% from prior run halts and alerts — degenerate output detection runs on every automated run, not just at release.  See: mo_automation_design.html and mo_decisions_register.html for full gate logic.</a:t>
            </a:r>
          </a:p>
        </p:txBody>
      </p:sp>
      <p:sp>
        <p:nvSpPr>
          <p:cNvPr id="40" name="TextBox 39"/>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28016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74320"/>
            <a:ext cx="9144000" cy="640080"/>
          </a:xfrm>
          <a:prstGeom prst="rect">
            <a:avLst/>
          </a:prstGeom>
          <a:noFill/>
        </p:spPr>
        <p:txBody>
          <a:bodyPr wrap="square">
            <a:spAutoFit/>
          </a:bodyPr>
          <a:lstStyle/>
          <a:p>
            <a:pPr algn="l"/>
            <a:r>
              <a:rPr sz="2600" b="1" i="0">
                <a:solidFill>
                  <a:srgbClr val="FFFFFF"/>
                </a:solidFill>
                <a:latin typeface="Calibri"/>
              </a:rPr>
              <a:t>Kickoff Agenda &amp; Next Steps</a:t>
            </a:r>
          </a:p>
        </p:txBody>
      </p:sp>
      <p:sp>
        <p:nvSpPr>
          <p:cNvPr id="6" name="Rectangle 5"/>
          <p:cNvSpPr/>
          <p:nvPr/>
        </p:nvSpPr>
        <p:spPr>
          <a:xfrm>
            <a:off x="457200" y="1463040"/>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5216" y="1563624"/>
            <a:ext cx="3291840" cy="301752"/>
          </a:xfrm>
          <a:prstGeom prst="rect">
            <a:avLst/>
          </a:prstGeom>
          <a:noFill/>
        </p:spPr>
        <p:txBody>
          <a:bodyPr wrap="square">
            <a:spAutoFit/>
          </a:bodyPr>
          <a:lstStyle/>
          <a:p>
            <a:pPr algn="l"/>
            <a:r>
              <a:rPr sz="1050" b="1" i="0">
                <a:solidFill>
                  <a:srgbClr val="A0C0F0"/>
                </a:solidFill>
                <a:latin typeface="Calibri"/>
              </a:rPr>
              <a:t>Data Handoff</a:t>
            </a:r>
          </a:p>
        </p:txBody>
      </p:sp>
      <p:sp>
        <p:nvSpPr>
          <p:cNvPr id="8" name="TextBox 7"/>
          <p:cNvSpPr txBox="1"/>
          <p:nvPr/>
        </p:nvSpPr>
        <p:spPr>
          <a:xfrm>
            <a:off x="4206240" y="1563624"/>
            <a:ext cx="7680960" cy="301752"/>
          </a:xfrm>
          <a:prstGeom prst="rect">
            <a:avLst/>
          </a:prstGeom>
          <a:noFill/>
        </p:spPr>
        <p:txBody>
          <a:bodyPr wrap="square">
            <a:spAutoFit/>
          </a:bodyPr>
          <a:lstStyle/>
          <a:p>
            <a:pPr algn="l"/>
            <a:r>
              <a:rPr sz="1000" b="0" i="0">
                <a:solidFill>
                  <a:srgbClr val="B0C8F0"/>
                </a:solidFill>
                <a:latin typeface="Calibri"/>
              </a:rPr>
              <a:t>BUILT confirms 214-column SPINS extract and deposits to MinIO — Aevah file-watch triggers ingest</a:t>
            </a:r>
          </a:p>
        </p:txBody>
      </p:sp>
      <p:sp>
        <p:nvSpPr>
          <p:cNvPr id="9" name="Rectangle 8"/>
          <p:cNvSpPr/>
          <p:nvPr/>
        </p:nvSpPr>
        <p:spPr>
          <a:xfrm>
            <a:off x="457200" y="2039112"/>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 y="2139696"/>
            <a:ext cx="3291840" cy="301752"/>
          </a:xfrm>
          <a:prstGeom prst="rect">
            <a:avLst/>
          </a:prstGeom>
          <a:noFill/>
        </p:spPr>
        <p:txBody>
          <a:bodyPr wrap="square">
            <a:spAutoFit/>
          </a:bodyPr>
          <a:lstStyle/>
          <a:p>
            <a:pPr algn="l"/>
            <a:r>
              <a:rPr sz="1050" b="1" i="0">
                <a:solidFill>
                  <a:srgbClr val="A0C0F0"/>
                </a:solidFill>
                <a:latin typeface="Calibri"/>
              </a:rPr>
              <a:t>Ingest &amp; QA</a:t>
            </a:r>
          </a:p>
        </p:txBody>
      </p:sp>
      <p:sp>
        <p:nvSpPr>
          <p:cNvPr id="11" name="TextBox 10"/>
          <p:cNvSpPr txBox="1"/>
          <p:nvPr/>
        </p:nvSpPr>
        <p:spPr>
          <a:xfrm>
            <a:off x="4206240" y="2139696"/>
            <a:ext cx="7680960" cy="301752"/>
          </a:xfrm>
          <a:prstGeom prst="rect">
            <a:avLst/>
          </a:prstGeom>
          <a:noFill/>
        </p:spPr>
        <p:txBody>
          <a:bodyPr wrap="square">
            <a:spAutoFit/>
          </a:bodyPr>
          <a:lstStyle/>
          <a:p>
            <a:pPr algn="l"/>
            <a:r>
              <a:rPr sz="1000" b="0" i="0">
                <a:solidFill>
                  <a:srgbClr val="B0C8F0"/>
                </a:solidFill>
                <a:latin typeface="Calibri"/>
              </a:rPr>
              <a:t>Aevah ingests to spins_full (incremental watermark); validates field coverage and QS1 new-UPC gate</a:t>
            </a:r>
          </a:p>
        </p:txBody>
      </p:sp>
      <p:sp>
        <p:nvSpPr>
          <p:cNvPr id="12" name="Rectangle 11"/>
          <p:cNvSpPr/>
          <p:nvPr/>
        </p:nvSpPr>
        <p:spPr>
          <a:xfrm>
            <a:off x="457200" y="2615184"/>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 y="2715768"/>
            <a:ext cx="3291840" cy="301752"/>
          </a:xfrm>
          <a:prstGeom prst="rect">
            <a:avLst/>
          </a:prstGeom>
          <a:noFill/>
        </p:spPr>
        <p:txBody>
          <a:bodyPr wrap="square">
            <a:spAutoFit/>
          </a:bodyPr>
          <a:lstStyle/>
          <a:p>
            <a:pPr algn="l"/>
            <a:r>
              <a:rPr sz="1050" b="1" i="0">
                <a:solidFill>
                  <a:srgbClr val="A0C0F0"/>
                </a:solidFill>
                <a:latin typeface="Calibri"/>
              </a:rPr>
              <a:t>Q-Series Feature Eng.</a:t>
            </a:r>
          </a:p>
        </p:txBody>
      </p:sp>
      <p:sp>
        <p:nvSpPr>
          <p:cNvPr id="14" name="TextBox 13"/>
          <p:cNvSpPr txBox="1"/>
          <p:nvPr/>
        </p:nvSpPr>
        <p:spPr>
          <a:xfrm>
            <a:off x="4206240" y="2715768"/>
            <a:ext cx="7680960" cy="301752"/>
          </a:xfrm>
          <a:prstGeom prst="rect">
            <a:avLst/>
          </a:prstGeom>
          <a:noFill/>
        </p:spPr>
        <p:txBody>
          <a:bodyPr wrap="square">
            <a:spAutoFit/>
          </a:bodyPr>
          <a:lstStyle/>
          <a:p>
            <a:pPr algn="l"/>
            <a:r>
              <a:rPr sz="1000" b="0" i="0">
                <a:solidFill>
                  <a:srgbClr val="B0C8F0"/>
                </a:solidFill>
                <a:latin typeface="Calibri"/>
              </a:rPr>
              <a:t>Aevah runs Q0–Q22 Druid feature engineering; smoke-test gate checks row counts, null rates, date range</a:t>
            </a:r>
          </a:p>
        </p:txBody>
      </p:sp>
      <p:sp>
        <p:nvSpPr>
          <p:cNvPr id="15" name="Rectangle 14"/>
          <p:cNvSpPr/>
          <p:nvPr/>
        </p:nvSpPr>
        <p:spPr>
          <a:xfrm>
            <a:off x="457200" y="3191256"/>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3291839"/>
            <a:ext cx="3291840" cy="301752"/>
          </a:xfrm>
          <a:prstGeom prst="rect">
            <a:avLst/>
          </a:prstGeom>
          <a:noFill/>
        </p:spPr>
        <p:txBody>
          <a:bodyPr wrap="square">
            <a:spAutoFit/>
          </a:bodyPr>
          <a:lstStyle/>
          <a:p>
            <a:pPr algn="l"/>
            <a:r>
              <a:rPr sz="1050" b="1" i="0">
                <a:solidFill>
                  <a:srgbClr val="A0C0F0"/>
                </a:solidFill>
                <a:latin typeface="Calibri"/>
              </a:rPr>
              <a:t>P-Series Training</a:t>
            </a:r>
          </a:p>
        </p:txBody>
      </p:sp>
      <p:sp>
        <p:nvSpPr>
          <p:cNvPr id="17" name="TextBox 16"/>
          <p:cNvSpPr txBox="1"/>
          <p:nvPr/>
        </p:nvSpPr>
        <p:spPr>
          <a:xfrm>
            <a:off x="4206240" y="3291839"/>
            <a:ext cx="7680960" cy="301752"/>
          </a:xfrm>
          <a:prstGeom prst="rect">
            <a:avLst/>
          </a:prstGeom>
          <a:noFill/>
        </p:spPr>
        <p:txBody>
          <a:bodyPr wrap="square">
            <a:spAutoFit/>
          </a:bodyPr>
          <a:lstStyle/>
          <a:p>
            <a:pPr algn="l"/>
            <a:r>
              <a:rPr sz="1000" b="0" i="0">
                <a:solidFill>
                  <a:srgbClr val="B0C8F0"/>
                </a:solidFill>
                <a:latin typeface="Calibri"/>
              </a:rPr>
              <a:t>Aevah trains cannibalization, price elasticity, and rate forecast models — conditional on drift/schedule</a:t>
            </a:r>
          </a:p>
        </p:txBody>
      </p:sp>
      <p:sp>
        <p:nvSpPr>
          <p:cNvPr id="18" name="Rectangle 17"/>
          <p:cNvSpPr/>
          <p:nvPr/>
        </p:nvSpPr>
        <p:spPr>
          <a:xfrm>
            <a:off x="457200" y="3767328"/>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3867912"/>
            <a:ext cx="3291840" cy="301752"/>
          </a:xfrm>
          <a:prstGeom prst="rect">
            <a:avLst/>
          </a:prstGeom>
          <a:noFill/>
        </p:spPr>
        <p:txBody>
          <a:bodyPr wrap="square">
            <a:spAutoFit/>
          </a:bodyPr>
          <a:lstStyle/>
          <a:p>
            <a:pPr algn="l"/>
            <a:r>
              <a:rPr sz="1050" b="1" i="0">
                <a:solidFill>
                  <a:srgbClr val="A0C0F0"/>
                </a:solidFill>
                <a:latin typeface="Calibri"/>
              </a:rPr>
              <a:t>Scoring &amp; Publish</a:t>
            </a:r>
          </a:p>
        </p:txBody>
      </p:sp>
      <p:sp>
        <p:nvSpPr>
          <p:cNvPr id="20" name="TextBox 19"/>
          <p:cNvSpPr txBox="1"/>
          <p:nvPr/>
        </p:nvSpPr>
        <p:spPr>
          <a:xfrm>
            <a:off x="4206240" y="3867912"/>
            <a:ext cx="7680960" cy="301752"/>
          </a:xfrm>
          <a:prstGeom prst="rect">
            <a:avLst/>
          </a:prstGeom>
          <a:noFill/>
        </p:spPr>
        <p:txBody>
          <a:bodyPr wrap="square">
            <a:spAutoFit/>
          </a:bodyPr>
          <a:lstStyle/>
          <a:p>
            <a:pPr algn="l"/>
            <a:r>
              <a:rPr sz="1000" b="0" i="0">
                <a:solidFill>
                  <a:srgbClr val="B0C8F0"/>
                </a:solidFill>
                <a:latin typeface="Calibri"/>
              </a:rPr>
              <a:t>Aevah scores all combos; Stage 3/4 gates pass; scoring tables promoted to live query path</a:t>
            </a:r>
          </a:p>
        </p:txBody>
      </p:sp>
      <p:sp>
        <p:nvSpPr>
          <p:cNvPr id="21" name="Rectangle 20"/>
          <p:cNvSpPr/>
          <p:nvPr/>
        </p:nvSpPr>
        <p:spPr>
          <a:xfrm>
            <a:off x="457200" y="4343400"/>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443984"/>
            <a:ext cx="3291840" cy="301752"/>
          </a:xfrm>
          <a:prstGeom prst="rect">
            <a:avLst/>
          </a:prstGeom>
          <a:noFill/>
        </p:spPr>
        <p:txBody>
          <a:bodyPr wrap="square">
            <a:spAutoFit/>
          </a:bodyPr>
          <a:lstStyle/>
          <a:p>
            <a:pPr algn="l"/>
            <a:r>
              <a:rPr sz="1050" b="1" i="0">
                <a:solidFill>
                  <a:srgbClr val="A0C0F0"/>
                </a:solidFill>
                <a:latin typeface="Calibri"/>
              </a:rPr>
              <a:t>BUILT Walkthrough</a:t>
            </a:r>
          </a:p>
        </p:txBody>
      </p:sp>
      <p:sp>
        <p:nvSpPr>
          <p:cNvPr id="23" name="TextBox 22"/>
          <p:cNvSpPr txBox="1"/>
          <p:nvPr/>
        </p:nvSpPr>
        <p:spPr>
          <a:xfrm>
            <a:off x="4206240" y="4443984"/>
            <a:ext cx="7680960" cy="301752"/>
          </a:xfrm>
          <a:prstGeom prst="rect">
            <a:avLst/>
          </a:prstGeom>
          <a:noFill/>
        </p:spPr>
        <p:txBody>
          <a:bodyPr wrap="square">
            <a:spAutoFit/>
          </a:bodyPr>
          <a:lstStyle/>
          <a:p>
            <a:pPr algn="l"/>
            <a:r>
              <a:rPr sz="1000" b="0" i="0">
                <a:solidFill>
                  <a:srgbClr val="B0C8F0"/>
                </a:solidFill>
                <a:latin typeface="Calibri"/>
              </a:rPr>
              <a:t>Live demo with Brian + Connor — cannibalization + price elasticity suites; use FOOD-channel accounts</a:t>
            </a:r>
          </a:p>
        </p:txBody>
      </p:sp>
      <p:sp>
        <p:nvSpPr>
          <p:cNvPr id="24" name="Rectangle 23"/>
          <p:cNvSpPr/>
          <p:nvPr/>
        </p:nvSpPr>
        <p:spPr>
          <a:xfrm>
            <a:off x="457200" y="4919472"/>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020056"/>
            <a:ext cx="3291840" cy="301752"/>
          </a:xfrm>
          <a:prstGeom prst="rect">
            <a:avLst/>
          </a:prstGeom>
          <a:noFill/>
        </p:spPr>
        <p:txBody>
          <a:bodyPr wrap="square">
            <a:spAutoFit/>
          </a:bodyPr>
          <a:lstStyle/>
          <a:p>
            <a:pPr algn="l"/>
            <a:r>
              <a:rPr sz="1050" b="1" i="0">
                <a:solidFill>
                  <a:srgbClr val="A0C0F0"/>
                </a:solidFill>
                <a:latin typeface="Calibri"/>
              </a:rPr>
              <a:t>FP&amp;A Handoff</a:t>
            </a:r>
          </a:p>
        </p:txBody>
      </p:sp>
      <p:sp>
        <p:nvSpPr>
          <p:cNvPr id="26" name="TextBox 25"/>
          <p:cNvSpPr txBox="1"/>
          <p:nvPr/>
        </p:nvSpPr>
        <p:spPr>
          <a:xfrm>
            <a:off x="4206240" y="5020056"/>
            <a:ext cx="7680960" cy="301752"/>
          </a:xfrm>
          <a:prstGeom prst="rect">
            <a:avLst/>
          </a:prstGeom>
          <a:noFill/>
        </p:spPr>
        <p:txBody>
          <a:bodyPr wrap="square">
            <a:spAutoFit/>
          </a:bodyPr>
          <a:lstStyle/>
          <a:p>
            <a:pPr algn="l"/>
            <a:r>
              <a:rPr sz="1000" b="0" i="0">
                <a:solidFill>
                  <a:srgbClr val="B0C8F0"/>
                </a:solidFill>
                <a:latin typeface="Calibri"/>
              </a:rPr>
              <a:t>Connor receives 13-week forecast outputs; actuals data shared; temporal backtesting initiated</a:t>
            </a:r>
          </a:p>
        </p:txBody>
      </p:sp>
      <p:sp>
        <p:nvSpPr>
          <p:cNvPr id="27" name="Rectangle 26"/>
          <p:cNvSpPr/>
          <p:nvPr/>
        </p:nvSpPr>
        <p:spPr>
          <a:xfrm>
            <a:off x="457200" y="5495544"/>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5596128"/>
            <a:ext cx="3291840" cy="301752"/>
          </a:xfrm>
          <a:prstGeom prst="rect">
            <a:avLst/>
          </a:prstGeom>
          <a:noFill/>
        </p:spPr>
        <p:txBody>
          <a:bodyPr wrap="square">
            <a:spAutoFit/>
          </a:bodyPr>
          <a:lstStyle/>
          <a:p>
            <a:pPr algn="l"/>
            <a:r>
              <a:rPr sz="1050" b="1" i="0">
                <a:solidFill>
                  <a:srgbClr val="A0C0F0"/>
                </a:solidFill>
                <a:latin typeface="Calibri"/>
              </a:rPr>
              <a:t>Automation P1–P2</a:t>
            </a:r>
          </a:p>
        </p:txBody>
      </p:sp>
      <p:sp>
        <p:nvSpPr>
          <p:cNvPr id="29" name="TextBox 28"/>
          <p:cNvSpPr txBox="1"/>
          <p:nvPr/>
        </p:nvSpPr>
        <p:spPr>
          <a:xfrm>
            <a:off x="4206240" y="5596128"/>
            <a:ext cx="7680960" cy="301752"/>
          </a:xfrm>
          <a:prstGeom prst="rect">
            <a:avLst/>
          </a:prstGeom>
          <a:noFill/>
        </p:spPr>
        <p:txBody>
          <a:bodyPr wrap="square">
            <a:spAutoFit/>
          </a:bodyPr>
          <a:lstStyle/>
          <a:p>
            <a:pPr algn="l"/>
            <a:r>
              <a:rPr sz="1000" b="0" i="0">
                <a:solidFill>
                  <a:srgbClr val="B0C8F0"/>
                </a:solidFill>
                <a:latin typeface="Calibri"/>
              </a:rPr>
              <a:t>Implement incremental watermark + run_data_ops.sh orchestration script as next engineering sprint</a:t>
            </a:r>
          </a:p>
        </p:txBody>
      </p:sp>
      <p:sp>
        <p:nvSpPr>
          <p:cNvPr id="30" name="TextBox 29"/>
          <p:cNvSpPr txBox="1"/>
          <p:nvPr/>
        </p:nvSpPr>
        <p:spPr>
          <a:xfrm>
            <a:off x="457200" y="6492240"/>
            <a:ext cx="11430000" cy="27432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