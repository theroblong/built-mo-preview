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 BY AEVAH  ·  BUILT KICKOFF  ·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Mo Works
With Your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C0F0"/>
                </a:solidFill>
                <a:latin typeface="Calibri"/>
              </a:rPr>
              <a:t>A walkthrough of the process behind each Mo intelligence module — what data it needs, where that data comes from, what operations are performed, and what appears on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338560" cy="310896"/>
          </a:xfrm>
          <a:prstGeom prst="rect">
            <a:avLst/>
          </a:prstGeom>
          <a:solidFill>
            <a:srgbClr val="1A3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995928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C0F0"/>
                </a:solidFill>
                <a:latin typeface="Calibri"/>
              </a:rPr>
              <a:t>PHASE 1  ·  NOW THROUGH DEC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42816"/>
            <a:ext cx="5577840" cy="6858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453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Cannibalization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4242816"/>
            <a:ext cx="5577840" cy="685800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453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Price Elasticity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111496"/>
            <a:ext cx="11338560" cy="310896"/>
          </a:xfrm>
          <a:prstGeom prst="rect">
            <a:avLst/>
          </a:prstGeom>
          <a:solidFill>
            <a:srgbClr val="28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175504"/>
            <a:ext cx="10515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DAE6"/>
                </a:solidFill>
                <a:latin typeface="Calibri"/>
              </a:rPr>
              <a:t>PHASE 2  ·  PLANNED 2027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22392"/>
            <a:ext cx="365760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58698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DAE6"/>
                </a:solidFill>
                <a:latin typeface="Calibri"/>
              </a:rPr>
              <a:t>Promotional Response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5422392"/>
            <a:ext cx="365760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58698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DAE6"/>
                </a:solidFill>
                <a:latin typeface="Calibri"/>
              </a:rPr>
              <a:t>Demand Forecast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5422392"/>
            <a:ext cx="3657600" cy="594360"/>
          </a:xfrm>
          <a:prstGeom prst="rect">
            <a:avLst/>
          </a:prstGeom>
          <a:solidFill>
            <a:srgbClr val="2E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5586983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4DAE6"/>
                </a:solidFill>
                <a:latin typeface="Calibri"/>
              </a:rPr>
              <a:t>Launch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FA0"/>
                </a:solidFill>
                <a:latin typeface="Calibri"/>
              </a:rPr>
              <a:t>aevah.ai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End-to-End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6B7FA0"/>
                </a:solidFill>
                <a:latin typeface="Calibri"/>
              </a:rPr>
              <a:t>Five stages from your SPINS export to decisions on screen — Aevah automates stages 2–4 so no manual steps are required once data is deposited.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SPINS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BUILT Data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214-column weekly POS extract deposited to shared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Ingest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File-watch trigger detects new export; quality gates applied; incremental load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
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Aevah compresses raw rows into ML-ready feature tables per module — no manual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 Training
&amp;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Aevah — automated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Models retrain on drift/schedule; scores saved to Aevah; smoke-test gates at each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79408" y="281635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1719072"/>
            <a:ext cx="2011680" cy="26060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3728" y="1810512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STAGE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2066543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2560320"/>
            <a:ext cx="1792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A0C0F0"/>
                </a:solidFill>
                <a:latin typeface="Calibri"/>
              </a:rPr>
              <a:t>BUILT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2862072"/>
            <a:ext cx="17922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F0"/>
                </a:solidFill>
                <a:latin typeface="Calibri"/>
              </a:rPr>
              <a:t>Two data layers: ML projections (forecast) + live context data (actuals at render time)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63440"/>
            <a:ext cx="11430000" cy="1051560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7274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KEY PRINCIPLE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83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11827"/>
                </a:solidFill>
                <a:latin typeface="Calibri"/>
              </a:rPr>
              <a:t>Every Mo screen draws from two distinct sources: ML scoring tables (what the model forecasts, written in Stage 4) and live Aevah queries (actual component data queried at render time). These have separate lineage and must never be blended.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Roles &amp; Responsibilities — 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0F0"/>
                </a:solidFill>
                <a:latin typeface="Calibri"/>
              </a:rPr>
              <a:t>What Aevah commits to deliver, what BUILT commits to provide, and the shared milestones where both teams align.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15568"/>
            <a:ext cx="5486400" cy="29260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152144"/>
            <a:ext cx="52669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517904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444752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Platform setup, hosting, and data ingestion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" y="1865376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92224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Data quality gates at every stage — no bad data reaches the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2212848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39696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Feature engineering: raw SPINS rows compressed into ML-ready tables per module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56032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87168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Model training and scoring: cannibalization risk + price elasticity (Phase 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" y="29077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34639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 UI deployment: all screens, filters, and visualizations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25526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182111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Model monitoring: drift detection and automatic retraining on schedule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" y="360273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529583"/>
            <a:ext cx="5102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Customer-facing overview and reference documentation, updated each session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115568"/>
            <a:ext cx="5577840" cy="2926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1152144"/>
            <a:ext cx="535838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3368" y="1517904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59" y="1444752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Weekly SPINS export (214 columns) deposited to shared storage on agreed schedule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1865376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1792224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ERP / data warehouse access — for Phase 2 data sources and Connor's actuals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73368" y="2212848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2139696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Stakeholder availability: kickoff, data QA review, demo sessions, and sign-off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3368" y="2560320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59" y="2487168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Projection validation: Connor + Brian confirm whether findings match their market knowledge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2907791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59" y="2834639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UI feedback: what information helps the job get done — what to add, change, or remove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3368" y="3255263"/>
            <a:ext cx="73152" cy="7315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59" y="3182111"/>
            <a:ext cx="5193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Phase 1 milestone sign-off before proceeding to Phase 2 scope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4005072"/>
            <a:ext cx="11457432" cy="27432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4050791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405079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Aevah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0448" y="4050791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Brian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42048" y="4050791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Connor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4050791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BUILT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51008" y="4050791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4279392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4334255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&amp; weekly deposit to shared storage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4334255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70448" y="433425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4334255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05088" y="4334255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51008" y="433425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1–2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4048" y="4572000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462686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Data ingest, quality gates, feature engineering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46268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70448" y="462686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42048" y="4626864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05088" y="4626864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51008" y="4626864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3–4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" y="4864608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" y="491947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Model training, scoring &amp; Mo UI deployment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224528" y="491947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70448" y="491947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42048" y="4919472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05088" y="4919472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51008" y="49194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4–6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4048" y="5157216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5488" y="521208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Projection review &amp; business validation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24528" y="5212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70448" y="521208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42048" y="521208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05088" y="5212080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51008" y="521208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6–8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4048" y="5449824"/>
            <a:ext cx="11457432" cy="292608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" y="5504688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UI feedback sessions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24528" y="55046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870448" y="55046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42048" y="55046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078D0"/>
                </a:solidFill>
                <a:latin typeface="Calibri"/>
              </a:rPr>
              <a:t>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05088" y="5504688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51008" y="55046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7–10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5742432"/>
            <a:ext cx="1145743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" y="579729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Phase 1 milestone sign-off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24528" y="57972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70448" y="579729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5E38"/>
                </a:solidFill>
                <a:latin typeface="Calibri"/>
              </a:rPr>
              <a:t>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42048" y="5797296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05088" y="5797296"/>
            <a:ext cx="1645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51008" y="579729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Calibri"/>
              </a:rPr>
              <a:t>Week 10–12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84048" y="6108192"/>
            <a:ext cx="7315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FA0"/>
                </a:solidFill>
                <a:latin typeface="Calibri"/>
              </a:rPr>
              <a:t>R = Responsible (does the work)   A = Accountable (owns the outcome)   C = Consulted   I = Informed (kept in the loop)   — = Not in scope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078D0"/>
                </a:solidFill>
                <a:latin typeface="Calibri"/>
              </a:rPr>
              <a:t>PHASE 1 — NOW THROUGH DEC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Cannibalization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"Is this new SKU pulling demand from an existing one, or adding net-new buyers?"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Weekly units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Before/after demand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units (non-promo)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Isolate organic demand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— stores selling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vs. distrib. loss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Rule out price effect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First week selling (launch date)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Launch anchor 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Pack count, flavor, brand 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Find substitute SKUs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Weeks on promotion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Flag promo periods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before/after windows (4-week, 13-week, 26-week) around each product launch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Pair each focal SKU with candidate donors — same flavor, same pack family, competitor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Measure whether focal demand rose while donor demand fell in the same stores and window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windows contaminated by promotions, distribution ramps, or supply events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Calculate incremental share: net-new demand vs. demand transferred from a donor SKU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4223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" y="535838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Assign label (Cannibalizing / Watch / Incremental / Neutral) from observable evidence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49240" y="1691640"/>
            <a:ext cx="6492240" cy="169164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Risk score + confidence for each focal/donor pair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Status: Cannibalizing · Watch · Incremental · Neutral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Ranked donors with evidence summary (focal lift, donor decline, distribution delta)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Incremental share — net-new demand vs. transferred demand  [FML-10]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59" y="303580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Cannibalization rate actuals + 13-week forward projection  [FML-09]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349300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58968" y="353872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376732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weekly demand trend for focal and donor SKUs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Distribution (TDP) trend — stores stocking each SKU over time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Geography heatmap — which markets show the strongest demand transfer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59" y="47914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Launch ramp chart — weeks 1–16 of distribution build vs. category norms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Comparison pool build · Pairing model · Risk scoring · Publish to Mo UI · Monitor model drift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Review risk labels — do the identified donor pairs make business sense? · Validate threshold cutoffs with Brian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078D0"/>
                </a:solidFill>
                <a:latin typeface="Calibri"/>
              </a:rPr>
              <a:t>PHASE 1 — NOW THROUGH DEC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Price Elasticity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"If we change price by X%, how much does demand change — and what is the optimal price point?"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Price level measure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Weekly units sold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response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price (non-promo ARP)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Everyday vs. promo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Promo discount depth (%)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Quantify promo depth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Incremental units (promo-driven)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Isolate promo demand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(TDP)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Competitor price (same flavor)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Own vs. competitor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Normalize price to $/bar so singles and 12-packs are comparable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13-week log-log regression windows per SKU × account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promotional price changes from everyday price changes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BUILT $/bar vs. same-flavor competitor in the same account and week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$/bar across BUILT own pack sizes of the same flavor (pack-ladder check)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54223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7512" y="535838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Reject windows where price moved &gt;40% in one week — data artifact guardrail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49240" y="1691640"/>
            <a:ext cx="6492240" cy="169164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Own-price elasticity ε with confidence range (q10 / q50 / q90)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Cross-price elasticity — demand response to competitor price changes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Promo elasticity curve — lift at each discount depth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What-if demand curves — projected units at alternative price points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23559" y="303580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Pricing event queue — active competitive gaps or pack-ladder compression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49240" y="349300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58968" y="353872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349240" y="376732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Current $/bar and 52-week price trend by retailer account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Pack price ladder — single / 4-pack / 12-pack side-by-side in the same account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Competitive price gap chart — BUILT vs. Tier 1 competitor in the same flavor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23559" y="47914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Category benchmark — BUILT $/bar vs. MULO FOOD category average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$/bar normalization · Elasticity regression models · Score publishing · Pack-ladder + competitor comparisons · Publish to Mo UI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Validate elasticity values — do they match BUILT's commercial experience? · Confirm price-point recommendations with Brian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Promotional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"How much incremental demand does a promotion generate — and what depth maximizes return?"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Incremental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Above-baseline demand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Base units (non-promo)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Lift denominator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units sold on promotion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Promo dependency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Promo discount depth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Quantify discount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Channel (grocery / mass / c-store)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Channel response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Pack 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Pack size behavior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511296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" y="355701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on promo (TDP, Any Promo)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70632" y="355701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76472" y="355701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Display vs. price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849624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388620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1879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41239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Calculate promo lift ratio: incremental units ÷ base units, per SKU × account × event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4348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43708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Group events into discount depth buckets (0–10%, 10–20%, 20–30%, 30%+)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6817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46177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response curves by channel — grocery and c-store show distinct lift profiles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49286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48646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Separate response curves by pack size — 12-packs show a 30%+ discount cliff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17550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" y="511149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Identify the depth where marginal lift no longer justifies additional margin give-up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49240" y="1691640"/>
            <a:ext cx="6492240" cy="105156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Expected lift % at each discount depth for this SKU × channel × pack size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Optimal discount depth recommendation — where lift peaks before the cliff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Incremental vs. cannibalized demand breakdown at each discount level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49240" y="285292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58968" y="289864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349240" y="312724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23559" y="319125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Historical promo events — discount depth, timing, and observed lift per event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Lift trend by event type — TPR vs. display vs. feature support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% weeks on promo trend — is this SKU becoming promo-dependent?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Channel comparison — lift curve across grocery / mass / c-store for this SKU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Lift curve modeling · Depth optimization scoring · Channel × pack separation · Publish to Mo UI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(including promo flags) · Review lift projections · Confirm discount depth guidance with trade marketing team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Demand Velocity &amp;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"What will this SKU sell in the next 13 weeks, by retailer account?"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52-week weekly units 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Demand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Distribution (stores selling)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control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Average retail price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Price signal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weeks on promotion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Promo flag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Retail account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Per-account 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246120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329184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Week end 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0632" y="32918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6472" y="329184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Seasonality features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3584448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621024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922776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3858768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Normalize to non-zero TDP weeks — eliminate false troughs from shelf-presence gaps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169664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105656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Compute rolling averages (4-week, 13-week) to smooth noise while preserving trend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4165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4352544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Build 12-month seasonality index from category raw monthly averages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66344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4599431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promo weeks so model learns baseline vs. promo-lifted demand separately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491032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" y="484631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Train separate forecast per SKU × retailer — Kroger velocity ≠ Target velocity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15721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" y="509320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Fall back to exponential smoothing (ETS) for SKUs with &lt;8 weeks of history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49240" y="1691640"/>
            <a:ext cx="6492240" cy="137160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13-week demand forecast per SKU × retailer account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Confidence bands (low / base / high scenario)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Promo-uplift scenario — demand if a promotion is planned in the forecast window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Forecast accuracy benchmark: 4% wMAPE vs. 7–10% industry baseline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317296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58968" y="321868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49240" y="344728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52-week actual demand trend by SKU and retailer account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Distribution (stores stocking) trend over the same period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Category average velocity — how this SKU compares to 13-week category norm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Seasonal index overlay — expected lift or drag on the forecast period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Seasonality index · Forecast model training · ETS fallback · Confidence bands · Publish 13-week projections to Mo UI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Connor validates 13-week forecasts against FP&amp;A actuals · Share actuals data for backtesting and accuracy measurement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4A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C0F0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91440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D4DAE6"/>
                </a:solidFill>
                <a:latin typeface="Calibri"/>
              </a:rPr>
              <a:t>PHASE 2 — PLANNED 2027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Distribution &amp; Launch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34747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D5FF"/>
                </a:solidFill>
                <a:latin typeface="Calibri"/>
              </a:rPr>
              <a:t>"Is this new product ramping as expected — in enough stores, with the right velocity?"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417320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53896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DATA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73352"/>
            <a:ext cx="4572000" cy="246888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Field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709928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70992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11827"/>
                </a:solidFill>
                <a:latin typeface="Calibri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920240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196596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% of stores selling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196596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1965960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Distribution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185416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223113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Total distribution points (TDP)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31136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2231136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Primary ramp metric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450592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2496312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Avg weekly units per store selling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0632" y="2496312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2496312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Velocity per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715768"/>
            <a:ext cx="457200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2761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First week selling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0632" y="276148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2761488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Launch anchor 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2980944"/>
            <a:ext cx="4572000" cy="265176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" y="302666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Number of weeks selling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302666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4078D0"/>
                </a:solidFill>
                <a:latin typeface="Calibri"/>
              </a:rPr>
              <a:t>SPINS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6472" y="3026664"/>
            <a:ext cx="11155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7FA0"/>
                </a:solidFill>
                <a:latin typeface="Calibri"/>
              </a:rPr>
              <a:t>Lifecycle position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319272"/>
            <a:ext cx="4572000" cy="256032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355848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OPERATIONS PERFORMED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657600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3593592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Track weeks 1–16 of distribution build and velocity ramp for each new BUILT UPC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904487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3840479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Compare each SKU's ramp against category norms for the same pack type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51375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4087367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Classify new UPCs: new pack size, new flavor, or duplicate/relaunch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398263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4334255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Flag underperformance at 4, 8, and 13 weeks post-launch vs. expected ramp curve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64515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4581143"/>
            <a:ext cx="4224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Suppress cannibalization scoring during ramp — avoids penalizing distribution-driven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1417320"/>
            <a:ext cx="6492240" cy="274320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58968" y="1463040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FORECAST &amp; PROJECTION — from trained model (Stage 4)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9240" y="1691640"/>
            <a:ext cx="6492240" cy="1371600"/>
          </a:xfrm>
          <a:prstGeom prst="rect">
            <a:avLst/>
          </a:prstGeom>
          <a:solidFill>
            <a:srgbClr val="D4F0E4"/>
          </a:solidFill>
          <a:ln w="6350">
            <a:solidFill>
              <a:srgbClr val="68C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59" y="175564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Launch status at current week: On Track · Watch · Underperforming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59" y="207568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Expected ramp curve — where this SKU should be at weeks 8, 13, 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23559" y="239572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Predicted full-distribution velocity — expected units/store at maturity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59" y="2715768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E5E38"/>
                </a:solidFill>
                <a:latin typeface="Calibri"/>
              </a:rPr>
              <a:t>›  Cannibalization scoring readiness — flag for when SKU graduates to active scoring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49240" y="3172968"/>
            <a:ext cx="6492240" cy="274320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58968" y="3218688"/>
            <a:ext cx="6492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LIVE CONTEXT DATA — queried at display time (Stage 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49240" y="3447288"/>
            <a:ext cx="6492240" cy="1371600"/>
          </a:xfrm>
          <a:prstGeom prst="rect">
            <a:avLst/>
          </a:prstGeom>
          <a:solidFill>
            <a:srgbClr val="FFF3D6"/>
          </a:solidFill>
          <a:ln w="6350">
            <a:solidFill>
              <a:srgbClr val="E8B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23559" y="351129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TDP ramp week by week since first week selling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59" y="383133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Actual velocity per store — is the product pulling through where stocked?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23559" y="415137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Comparable launch benchmarks — similar BUILT or category launches in same retailer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23559" y="4471416"/>
            <a:ext cx="61264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A4800"/>
                </a:solidFill>
                <a:latin typeface="Calibri"/>
              </a:rPr>
              <a:t>›  Data-maturity status — weeks until data gate clears for active scoring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5596128"/>
            <a:ext cx="4572000" cy="237744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56327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0C0F0"/>
                </a:solidFill>
                <a:latin typeface="Calibri"/>
              </a:rPr>
              <a:t>AEVAH DELIVERS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5833872"/>
            <a:ext cx="4572000" cy="566928"/>
          </a:xfrm>
          <a:prstGeom prst="rect">
            <a:avLst/>
          </a:prstGeom>
          <a:solidFill>
            <a:srgbClr val="E8EDF8"/>
          </a:solidFill>
          <a:ln w="6350">
            <a:solidFill>
              <a:srgbClr val="B0C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888736"/>
            <a:ext cx="4389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Ramp monitoring model · Category benchmark comparisons · UPC classification gate · Launch status scoring · Publish to Mo UI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49240" y="5596128"/>
            <a:ext cx="6492240" cy="23774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40679" y="5632704"/>
            <a:ext cx="63093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BUILT PROVIDES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49240" y="5833872"/>
            <a:ext cx="6492240" cy="566928"/>
          </a:xfrm>
          <a:prstGeom prst="rect">
            <a:avLst/>
          </a:prstGeom>
          <a:solidFill>
            <a:srgbClr val="D4F0E4"/>
          </a:solidFill>
          <a:ln w="6350">
            <a:solidFill>
              <a:srgbClr val="80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40679" y="5888736"/>
            <a:ext cx="6309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SPINS export deposit · Confirm new UPC classifications (new SKU vs. relaunch) · Review launch status assessments with brand team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 Trends &amp; External Signal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C0F0"/>
                </a:solidFill>
                <a:latin typeface="Calibri"/>
              </a:rPr>
              <a:t>Competitive dashboard tiles showing velocity, price, distribution, and macro signals — all queried live, available from day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394960" cy="292608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33856"/>
            <a:ext cx="51755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0C0F0"/>
                </a:solidFill>
                <a:latin typeface="Calibri"/>
              </a:rPr>
              <a:t>06  ·  MO TRENDS — all data queried live, no ML scoring 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53896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1 — Brand Velocity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453896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Weekly units trend — 52-week history + 13-week rolling avg by product/retailer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64792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28800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2 — Demand Forecast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79" y="1828800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13-week forward projection with confidence bands  [ML scoring table]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39696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03703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3 — Pack Crossover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79" y="2203703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Single vs. multipack demand split across the BUILT product 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14600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578608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4 — Price &amp; Promo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2578608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ARP trend with promo event overlays and discount depth markers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889504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53512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5 — Distribution Arc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79" y="2953512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TDP build trajectory and ramp vs. category launch norms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64408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28416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6 — Flavor Demand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79" y="3328416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Flavor-level velocity comparison across full BUILT flavor 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639312"/>
            <a:ext cx="5394960" cy="374904"/>
          </a:xfrm>
          <a:prstGeom prst="rect">
            <a:avLst/>
          </a:prstGeom>
          <a:solidFill>
            <a:srgbClr val="F8FAFD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03320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7 — Macro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79" y="3703320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FRED GASDESW + UMCSENT — gas prices + U of Michigan consumer confidence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14216"/>
            <a:ext cx="5394960" cy="37490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78224"/>
            <a:ext cx="196596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11827"/>
                </a:solidFill>
                <a:latin typeface="Calibri"/>
              </a:rPr>
              <a:t>8 — Velocity + Macro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79" y="4078224"/>
            <a:ext cx="3200400" cy="28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Stacked chart: brand velocity trend alongside macro signal overlay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62272"/>
            <a:ext cx="5394960" cy="493776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507992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11827"/>
                </a:solidFill>
                <a:latin typeface="Calibri"/>
              </a:rPr>
              <a:t>Filter bar:  Product  ·  Brand  ·  Channel (FOOD / MASS / C-STORE)  ·  Account  ·  Units / $ toggle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4709160"/>
            <a:ext cx="51755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FA0"/>
                </a:solidFill>
                <a:latin typeface="Calibri"/>
              </a:rPr>
              <a:t>Demo defaults:  BUILT Puff  ·  KROGER + WALMART    |    MULO excluded from all Trends 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097280"/>
            <a:ext cx="5715000" cy="438912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1133856"/>
            <a:ext cx="54955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07  ·  EXTERNAL SIGNALS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6208" y="1316736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0E0C0"/>
                </a:solidFill>
                <a:latin typeface="Calibri"/>
              </a:rPr>
              <a:t>Commercial redistribution license required for all sources listed.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536192"/>
            <a:ext cx="5715000" cy="237744"/>
          </a:xfrm>
          <a:prstGeom prst="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1563624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E5E38"/>
                </a:solidFill>
                <a:latin typeface="Calibri"/>
              </a:rPr>
              <a:t>LIVE IN PRODUCTION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1773936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1773936"/>
            <a:ext cx="64008" cy="32918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4" y="1828800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FRED — GASDESW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20" y="18288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Weekly U.S. gas price index (St. Louis Fed)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2103120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2103120"/>
            <a:ext cx="64008" cy="329184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72784" y="2157984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FRED — UMCSENT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157984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U. of Michigan consumer confidence index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2523744"/>
            <a:ext cx="5715000" cy="23774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2560320"/>
            <a:ext cx="54955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4800"/>
                </a:solidFill>
                <a:latin typeface="Calibri"/>
              </a:rPr>
              <a:t>PLANNED — OPEN ITEMS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2761487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126480" y="2761487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72784" y="2816351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Open-Meteo Weather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75320" y="2816351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Regional precip + temperature for seasonal demand context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3090671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26480" y="3090671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72784" y="3145535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BLS CPI — Food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145535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CPI food sub-indices for consumer price-pressure signal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419855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26480" y="3419855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72784" y="3474719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Kalshi Markets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3474719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Prediction market odds for macro events (recession, rates)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3749039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26480" y="3749039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72784" y="3803903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Amazon BSR / Helium 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3803903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Digital shelf velocity proxy for e-commerce demand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078224"/>
            <a:ext cx="57150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C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6480" y="4078224"/>
            <a:ext cx="64008" cy="329184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72784" y="4133087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  <a:latin typeface="Calibri"/>
              </a:rPr>
              <a:t>EIA / USDA Commodities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75320" y="4133087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FA0"/>
                </a:solidFill>
                <a:latin typeface="Calibri"/>
              </a:rPr>
              <a:t>Cocoa, whey, oat prices — ingredient cost-pressure signal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Phase 1 Project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8368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C0F0"/>
                </a:solidFill>
                <a:latin typeface="Calibri"/>
              </a:rPr>
              <a:t>Duration estimates are a starting point — to be validated with Brian before committing to dates. Durations reflect data readiness, not Aevah engineering capacity.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606040" cy="65836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Commitment
&amp; Handoff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47088"/>
            <a:ext cx="2606040" cy="2414016"/>
          </a:xfrm>
          <a:prstGeom prst="rect">
            <a:avLst/>
          </a:prstGeom>
          <a:solidFill>
            <a:srgbClr val="D8E5FF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956816"/>
            <a:ext cx="235000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BUILT confirms SPINS export format and deposit schedule
Aevah configures storage, file-watch trigger, and QA gates
Both teams agree on data scope and stakeholder map
Kickoff RACI reviewed and signed off by both teams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61103"/>
            <a:ext cx="2606040" cy="402336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Data Commitment confirmed + storage access granted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28163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290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188720"/>
            <a:ext cx="2606040" cy="65836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3–6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87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Onboarding
&amp;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1847088"/>
            <a:ext cx="2606040" cy="2414016"/>
          </a:xfrm>
          <a:prstGeom prst="rect">
            <a:avLst/>
          </a:prstGeom>
          <a:solidFill>
            <a:srgbClr val="D4F0E4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7016" y="1956816"/>
            <a:ext cx="235000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Aevah: ingest → QA → feature engineering → model training
Aevah delivers QA report for BUILT data team review
BUILT validates data looks right for Modules 01–02
Data issues flagged and resolved before UI deployment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4261103"/>
            <a:ext cx="2606040" cy="402336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QA report delivered; Module 01–02 models trained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7" y="28163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1188720"/>
            <a:ext cx="2606040" cy="658368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7–10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1 Preview
&amp; Feedback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847088"/>
            <a:ext cx="2606040" cy="2414016"/>
          </a:xfrm>
          <a:prstGeom prst="rect">
            <a:avLst/>
          </a:prstGeom>
          <a:solidFill>
            <a:srgbClr val="FFF3D6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1956816"/>
            <a:ext cx="235000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Cannibalization Risk + Price Elasticity live in Mo UI
Live walkthrough with Brian + Connor — FOOD-channel accounts
Connor + team validate projections against market knowledge
Priority UI feedback addressed in follow-up sprint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261103"/>
            <a:ext cx="2606040" cy="402336"/>
          </a:xfrm>
          <a:prstGeom prst="rect">
            <a:avLst/>
          </a:prstGeom>
          <a:solidFill>
            <a:srgbClr val="8A4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Phase 1 live in Mo; validation session complete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2816352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078D0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1188720"/>
            <a:ext cx="26060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72600" y="1188720"/>
            <a:ext cx="2606040" cy="658368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82328" y="1252728"/>
            <a:ext cx="23865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Weeks 11+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1435608"/>
            <a:ext cx="238658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Iterate &amp;
Phase 2 Scope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1847088"/>
            <a:ext cx="2606040" cy="2414016"/>
          </a:xfrm>
          <a:prstGeom prst="rect">
            <a:avLst/>
          </a:prstGeom>
          <a:solidFill>
            <a:srgbClr val="ECE8F8"/>
          </a:solidFill>
          <a:ln w="6350">
            <a:solidFill>
              <a:srgbClr val="C0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0616" y="1956816"/>
            <a:ext cx="2350008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11827"/>
                </a:solidFill>
                <a:latin typeface="Calibri"/>
              </a:rPr>
              <a:t>Address feedback; tune models on BUILT market knowledge
Phase 1 milestone sign-off by both teams
Begin scoping Modules 3–5 for Phase 2
Connor's actuals data shared for forecast backtesting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4261103"/>
            <a:ext cx="2606040" cy="402336"/>
          </a:xfrm>
          <a:prstGeom prst="rect">
            <a:avLst/>
          </a:prstGeom>
          <a:solidFill>
            <a:srgbClr val="4B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82328" y="4343399"/>
            <a:ext cx="23865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Deliverable:  Phase 1 signed off; Phase 2 roadmap agreed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864607"/>
            <a:ext cx="11292840" cy="493776"/>
          </a:xfrm>
          <a:prstGeom prst="rect">
            <a:avLst/>
          </a:prstGeom>
          <a:solidFill>
            <a:srgbClr val="D8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4919471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11827"/>
                </a:solidFill>
                <a:latin typeface="Calibri"/>
              </a:rPr>
              <a:t>Phase 2 (Modules 3–5: Promotional Response, Demand Forecast, Launch Monitoring) begins after Phase 1 sign-off. Automation roadmap (incremental ingest, orchestration shell, file-watch trigger) runs as an Aevah-internal engineering sprint — no BUILT action required.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4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Kickoff Alignment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C0F0"/>
                </a:solidFill>
                <a:latin typeface="Calibri"/>
              </a:rPr>
              <a:t>The goal of this meeting: leave with a shared understanding of who owns what, what each team is committing to, and a validated path to Phase 1 delivery.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03520" cy="292608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1472184"/>
            <a:ext cx="50474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WHAT WE NEED TO AGREE IN THIS MEETING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85623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98424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Which SPINS fields are we using? What supplemental data (ERP, DW) is in scope for Phase 1?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40487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33172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handoff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53288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Who deposits the SPINS export? Where? On what cadence? Who confirms receipt?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95351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8036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RACI sign-off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8152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Both teams confirm the responsibility matrix — who does what at each stage.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02152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429000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Timeline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3016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Are the week estimates realistic? Brian to flag any constraints (data availability, staff).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05079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977639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Stakeholder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17880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Who else needs to be in the loop? Are there voices we haven't heard from yet?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99431"/>
            <a:ext cx="73152" cy="73152"/>
          </a:xfrm>
          <a:prstGeom prst="rect">
            <a:avLst/>
          </a:prstGeom>
          <a:solidFill>
            <a:srgbClr val="407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526279"/>
            <a:ext cx="4956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 success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727448"/>
            <a:ext cx="49560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C0F0"/>
                </a:solidFill>
                <a:latin typeface="Calibri"/>
              </a:rPr>
              <a:t>What does a successful Phase 1 look like? How will we know we're ready for Phase 2?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417320"/>
            <a:ext cx="5669280" cy="292608"/>
          </a:xfrm>
          <a:prstGeom prst="rect">
            <a:avLst/>
          </a:prstGeom>
          <a:solidFill>
            <a:srgbClr val="0E5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472184"/>
            <a:ext cx="5413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WHAT HAPPENS AFTER THIS MEETING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8" y="1819656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8" y="182880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7104" y="1783080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Data Commitment confirmed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1984248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BUILT provides written confirmation of SPINS export format and deposit timeline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36208" y="2331720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2340864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2295144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Aevah configures ingest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2496312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File-watch trigger set up; QA gates defined against agreed field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8" y="2843784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2852928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2807208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First data deposit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3008376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BUILT deposits initial SPINS extract; Aevah runs ingest + QA; report shared with BUILT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36208" y="3355848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36208" y="3364992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47104" y="3319272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Feature engineering + model training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7104" y="3520440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Aevah runs Phase 1 models (cannibalization risk + price elasticity) — no BUILT action needed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8" y="3867911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3877056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7104" y="3831335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Phase 1 live demo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4032504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Aevah hosts Mo walkthrough with Brian + Connor; projection validation session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8" y="4379976"/>
            <a:ext cx="237744" cy="237744"/>
          </a:xfrm>
          <a:prstGeom prst="rect">
            <a:avLst/>
          </a:prstGeom>
          <a:solidFill>
            <a:srgbClr val="20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4389120"/>
            <a:ext cx="237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47104" y="4343400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Feedback + iteration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47104" y="4544568"/>
            <a:ext cx="515721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C0F0"/>
                </a:solidFill>
                <a:latin typeface="Calibri"/>
              </a:rPr>
              <a:t>Connor's team reviews findings; UI adjustments made; Phase 2 scoping begins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FA0"/>
                </a:solidFill>
                <a:latin typeface="Calibri"/>
              </a:rPr>
              <a:t>Mo by Aevah  ·  BUILT Kickoff  ·  August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