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8D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02"/>
    <p:restoredTop sz="94659"/>
  </p:normalViewPr>
  <p:slideViewPr>
    <p:cSldViewPr snapToGrid="0" snapToObjects="1">
      <p:cViewPr varScale="1">
        <p:scale>
          <a:sx n="200" d="100"/>
          <a:sy n="200" d="100"/>
        </p:scale>
        <p:origin x="4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 BY AEVAH  ·  BUILT KICKOFF  ·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Mo Works
With Your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0F0"/>
                </a:solidFill>
                <a:latin typeface="Calibri"/>
              </a:rPr>
              <a:t>A walkthrough of the process behind each Mo intelligence module — what data it needs, where that data comes from, what operations are performed, and what appears on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338560" cy="310896"/>
          </a:xfrm>
          <a:prstGeom prst="rect">
            <a:avLst/>
          </a:prstGeom>
          <a:solidFill>
            <a:srgbClr val="1A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9959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C0F0"/>
                </a:solidFill>
                <a:latin typeface="Calibri"/>
              </a:rPr>
              <a:t>PHASE 1  ·  NOW THROUGH DEC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42816"/>
            <a:ext cx="5577840" cy="6858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4453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Cannibalization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42816"/>
            <a:ext cx="5577840" cy="6858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453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Price Elasticity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11496"/>
            <a:ext cx="11338560" cy="310896"/>
          </a:xfrm>
          <a:prstGeom prst="rect">
            <a:avLst/>
          </a:prstGeom>
          <a:solidFill>
            <a:srgbClr val="28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17550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DAE6"/>
                </a:solidFill>
                <a:latin typeface="Calibri"/>
              </a:rPr>
              <a:t>PHASE 2  ·  PLANNED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22392"/>
            <a:ext cx="365760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58698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DAE6"/>
                </a:solidFill>
                <a:latin typeface="Calibri"/>
              </a:rPr>
              <a:t>Promotional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5422392"/>
            <a:ext cx="365760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558698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DAE6"/>
                </a:solidFill>
                <a:latin typeface="Calibri"/>
              </a:rPr>
              <a:t>Demand Forecast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5422392"/>
            <a:ext cx="365760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558698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DAE6"/>
                </a:solidFill>
                <a:latin typeface="Calibri"/>
              </a:rPr>
              <a:t>Launch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FA0"/>
                </a:solidFill>
                <a:latin typeface="Calibri"/>
              </a:rPr>
              <a:t>aevah.ai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End-to-End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FA0"/>
                </a:solidFill>
                <a:latin typeface="Calibri"/>
              </a:rPr>
              <a:t>Five stages from your SPINS export to decisions on screen — Aevah automates stages 2–4 so no manual steps are required once data is deposited.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SPINS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BUILT Data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214-column weekly POS extract deposited to shared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004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File-watch trigger detects new export; quality gates applied; incremental load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Aevah compresses raw rows into ML-ready feature tables per module — no manual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 Training
&amp;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Models retrain on drift/schedule; scores saved to Aevah; smoke-test gates at each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5372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BUILT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Two data layers: ML projections (forecast) + live context data (actuals at render time)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11430000" cy="1051560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7274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KEY PRINCIPLE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83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Calibri"/>
              </a:rPr>
              <a:t>Every Mo screen draws from two distinct sources: ML scoring tables (what the model forecasts, written in Stage 4) and live Aevah queries (actual component data queried at render time). These have separate lineage and must never be blended.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Roles &amp; Responsibilities —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F0"/>
                </a:solidFill>
                <a:latin typeface="Calibri"/>
              </a:rPr>
              <a:t>What Aevah commits to deliver, what BUILT commits to provide, and the shared milestones where both teams align.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15568"/>
            <a:ext cx="5486400" cy="29260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152144"/>
            <a:ext cx="5266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517904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44475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Platform setup, hosting, and data ingestion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865376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Data quality gates at every stage — no bad data reaches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212848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139696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Feature engineering: raw SPINS rows compressed into ML-ready tables per module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56032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8716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Model training and scoring: cannibalization risk + price elasticity (Phase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29077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83463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 UI deployment: all screens, filters, and visualizations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25526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182111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Model monitoring: drift detection and automatic retraining on schedule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360273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529583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Customer-facing overview and reference documentation, updated each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1152144"/>
            <a:ext cx="535838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3368" y="1517904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9" y="144475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Weekly SPINS export (214 columns) deposited to shared storage on agreed schedule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1865376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179222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ERP / data warehouse access — for Phase 2 data sources and Connor's actuals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3368" y="2212848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59" y="213969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Stakeholder availability: kickoff, data QA review, demo sessions, and sign-off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3368" y="2560320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59" y="248716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Projection validation: Connor + Brian confirm whether findings match their market knowledge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2907791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59" y="2834639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UI feedback: what information helps the job get done — what to add, change, or remove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3368" y="3255263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59" y="3182111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Phase 1 milestone sign-off before proceeding to Phase 2 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005072"/>
            <a:ext cx="11457432" cy="27432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4050791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405079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Aevah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0448" y="405079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Brian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405079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Connor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405079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BUILT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51008" y="405079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4279392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5488" y="4334255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&amp; weekly deposit to shared storage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4334255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0448" y="433425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4334255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4334255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1008" y="433425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1–2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4572000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462686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Data ingest, quality gates, feature engineering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46268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70448" y="462686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42048" y="46268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5088" y="46268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51008" y="46268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3–4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" y="4864608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5488" y="491947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Model training, scoring &amp; Mo UI deployment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528" y="491947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0448" y="49194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42048" y="4919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05088" y="491947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51008" y="49194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4–6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5157216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5488" y="52120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Projection review &amp; business validation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4528" y="5212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0448" y="52120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42048" y="5212080"/>
            <a:ext cx="1463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>
                <a:solidFill>
                  <a:srgbClr val="4078D0"/>
                </a:solidFill>
                <a:latin typeface="Calibri"/>
              </a:rPr>
              <a:t>C</a:t>
            </a:r>
            <a:endParaRPr sz="900" b="1" i="0" dirty="0">
              <a:solidFill>
                <a:srgbClr val="4078D0"/>
              </a:solidFill>
              <a:latin typeface="Calibr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705088" y="5212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51008" y="52120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6–8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" y="5449824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5488" y="55046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UI feedback sessions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24528" y="55046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70448" y="5504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42048" y="5504688"/>
            <a:ext cx="1463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>
                <a:solidFill>
                  <a:srgbClr val="4078D0"/>
                </a:solidFill>
                <a:latin typeface="Calibri"/>
              </a:rPr>
              <a:t>C</a:t>
            </a:r>
            <a:endParaRPr sz="900" b="1" i="0" dirty="0">
              <a:solidFill>
                <a:srgbClr val="4078D0"/>
              </a:solidFill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05088" y="55046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51008" y="55046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7–10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5742432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75488" y="57972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Phase 1 milestone sign-off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57972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70448" y="579729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42048" y="57972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05088" y="57972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51008" y="57972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10–12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" y="6108192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FA0"/>
                </a:solidFill>
                <a:latin typeface="Calibri"/>
              </a:rPr>
              <a:t>R = Responsible (does the work)   A = Accountable (owns the outcome)   C = Consulted   I = Informed (kept in the loop)   — = Not in scope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1" i="0" dirty="0">
                <a:solidFill>
                  <a:srgbClr val="D4DAE6"/>
                </a:solidFill>
                <a:latin typeface="Calibri"/>
              </a:rPr>
              <a:t>PHASE 1 </a:t>
            </a:r>
            <a:r>
              <a:rPr sz="900" b="1" i="0" strike="sngStrike" dirty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Demand Velocity &amp;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"What will this SKU sell in the next 13 weeks, by retailer account?"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52-week weekly units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(stores selling)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Price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weeks on promotion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Promo flag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Retail account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Per-account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 end 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Seasonality features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584448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36210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922776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" y="3858768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Normalize to non-zero TDP weeks — eliminate false troughs from shelf-presence gaps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169664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4105656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Compute rolling averages (4-week, 13-week) to smooth noise while preserving trend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4165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43525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12-month seasonality index from category raw monthly averages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6634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" y="45994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promo weeks so model learns baseline vs. promo-lifted demand separately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9103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" y="48463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Train separate forecast per SKU × retailer — Kroger velocity ≠ Target velocity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1572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" y="50932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Fall back to exponential smoothing (ETS) for SKUs with &lt;8 weeks of history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1691640"/>
            <a:ext cx="6492240" cy="137160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13-week demand forecast per SKU × retailer account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Confidence bands (low / base / high scenario)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Promo-uplift scenario — demand if a promotion is planned in the forecast window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Forecast accuracy benchmark: 4% wMAPE vs. 7–10% industry baseline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317296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58968" y="321868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49240" y="344728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52-week actual demand trend by SKU and retailer account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Distribution (stores stocking) trend over the same period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Category average velocity — how this SKU compares to 13-week category norm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Seasonal index overlay — expected lift or drag on the forecast period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Seasonality index · Forecast model training · ETS fallback · Confidence bands · Publish 13-week projections to Mo UI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49240" y="4932347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40679" y="4968923"/>
            <a:ext cx="630935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49240" y="5180917"/>
            <a:ext cx="6492240" cy="1219883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78629" y="5226289"/>
            <a:ext cx="627141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11827"/>
                </a:solidFill>
                <a:latin typeface="Calibri"/>
              </a:rPr>
              <a:t>SPINS export deposit · Connor validates 13-week forecasts against FP&amp;A actuals · Share actuals data for back</a:t>
            </a:r>
            <a:r>
              <a:rPr lang="en-US" sz="850" b="0" i="0" dirty="0">
                <a:solidFill>
                  <a:srgbClr val="111827"/>
                </a:solidFill>
                <a:latin typeface="Calibri"/>
              </a:rPr>
              <a:t>-</a:t>
            </a:r>
            <a:r>
              <a:rPr sz="850" b="0" i="0" dirty="0">
                <a:solidFill>
                  <a:srgbClr val="111827"/>
                </a:solidFill>
                <a:latin typeface="Calibri"/>
              </a:rPr>
              <a:t>testing and accuracy measurement</a:t>
            </a:r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pPr algn="l"/>
            <a:endParaRPr lang="en-US" sz="85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lang="en-US" sz="850" b="0" i="0" dirty="0">
                <a:solidFill>
                  <a:srgbClr val="111827"/>
                </a:solidFill>
                <a:latin typeface="Calibri"/>
              </a:rPr>
              <a:t>Provides additiona</a:t>
            </a:r>
            <a:r>
              <a:rPr lang="en-US" sz="850" dirty="0">
                <a:solidFill>
                  <a:srgbClr val="111827"/>
                </a:solidFill>
                <a:latin typeface="Calibri"/>
              </a:rPr>
              <a:t>l data beyond SPINS</a:t>
            </a:r>
          </a:p>
          <a:p>
            <a:pPr algn="l"/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lang="en-US" sz="850" dirty="0">
                <a:solidFill>
                  <a:srgbClr val="111827"/>
                </a:solidFill>
                <a:latin typeface="Calibri"/>
              </a:rPr>
              <a:t>Product data to correlate SPINS data against</a:t>
            </a:r>
          </a:p>
          <a:p>
            <a:pPr algn="l"/>
            <a:endParaRPr lang="en-US" sz="85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lang="en-US" sz="850" dirty="0">
                <a:solidFill>
                  <a:srgbClr val="111827"/>
                </a:solidFill>
                <a:latin typeface="Calibri"/>
              </a:rPr>
              <a:t>Regional Seasonality Indexes</a:t>
            </a:r>
          </a:p>
          <a:p>
            <a:pPr algn="l"/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pPr algn="l"/>
            <a:endParaRPr sz="850" b="0" i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9144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1" i="0" dirty="0">
                <a:solidFill>
                  <a:srgbClr val="4078D0"/>
                </a:solidFill>
                <a:latin typeface="Calibri"/>
              </a:rPr>
              <a:t>PHASE 2 - </a:t>
            </a:r>
            <a:r>
              <a:rPr sz="900" b="1" i="0" dirty="0">
                <a:solidFill>
                  <a:srgbClr val="4078D0"/>
                </a:solidFill>
                <a:latin typeface="Calibri"/>
              </a:rPr>
              <a:t>P</a:t>
            </a:r>
            <a:r>
              <a:rPr sz="900" b="1" i="0" strike="sngStrike" dirty="0">
                <a:solidFill>
                  <a:srgbClr val="4078D0"/>
                </a:solidFill>
                <a:latin typeface="Calibri"/>
              </a:rPr>
              <a:t>HASE 1 — NOW THROUGH DEC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Cannibalization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"Is this new SKU pulling demand from an existing one, or adding net-new buyers?"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Weekly units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Before/after demand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units (non-promo)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Isolate organic demand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— stores selling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vs. distrib.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Rule out price effect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First week selling (launch date)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Launch anchor 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Pack count, flavor, brand 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Find substitute SKUs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Weeks on promotion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Flag promo periods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before/after windows (4-week, 13-week, 26-week) around each product launch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Pair each focal SKU with candidate donors — same flavor, same pack family, competitor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Measure whether focal demand rose while donor demand fell in the same stores and window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windows contaminated by promotions, distribution ramps, or supply events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Calculate incremental share: net-new demand vs. demand transferred from a donor SKU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4223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" y="535838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Assign label (Cannibalizing / Watch / Incremental / Neutral) from observable evidence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49240" y="1691640"/>
            <a:ext cx="6492240" cy="169164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Risk score + confidence for each focal/donor pair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Status: Cannibalizing · Watch · Incremental · Neutral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Ranked donors with evidence summary (focal lift, donor decline, distribution delta)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Incremental share — net-new demand vs. transferred demand  [FML-10]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59" y="303580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Cannibalization rate actuals + 13-week forward projection  [FML-09]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349300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58968" y="353872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376732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weekly demand trend for focal and donor SKUs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Distribution (TDP) trend — stores stocking each SKU over time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Geography heatmap — which markets show the strongest demand transfer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59" y="47914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Launch ramp chart — weeks 1–16 of distribution build vs. category norms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Comparison pool build · Pairing model · Risk scoring · Publish to Mo UI · Monitor model drift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Review risk labels — do the identified donor pairs make business sense? · Validate threshold cutoffs with Brian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91440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1" dirty="0">
                <a:solidFill>
                  <a:srgbClr val="4078D0"/>
                </a:solidFill>
              </a:rPr>
              <a:t>PHASE 2 - P</a:t>
            </a:r>
            <a:r>
              <a:rPr lang="en-US" sz="900" b="1" strike="sngStrike" dirty="0">
                <a:solidFill>
                  <a:srgbClr val="4078D0"/>
                </a:solidFill>
              </a:rPr>
              <a:t>HASE 1 — NOW THROUGH DEC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Price Elasticity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"If we change price by X%, how much does demand change — and what is the optimal price point?"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Price level measure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Weekly units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price (non-promo ARP)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Everyday vs. promo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Promo discount depth (%)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Quantify promo depth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Incremental units (promo-driven)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Isolate promo demand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(TDP)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Competitor price (same flavor)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Own vs. competitor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Normalize price to $/bar so singles and 12-packs are comparable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13-week log-log regression windows per SKU × account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promotional price changes from everyday price changes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BUILT $/bar vs. same-flavor competitor in the same account and week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$/bar across BUILT own pack sizes of the same flavor (pack-ladder check)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4223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" y="535838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Reject windows where price moved &gt;40% in one week — data artifact guardrail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49240" y="1691640"/>
            <a:ext cx="6492240" cy="169164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Own-price elasticity ε with confidence range (q10 / q50 / q90)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Cross-price elasticity — demand response to competitor price changes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Promo elasticity curve — lift at each discount depth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What-if demand curves — projected units at alternative price points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59" y="303580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Pricing event queue — active competitive gaps or pack-ladder compression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349300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58968" y="353872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376732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Current $/bar and 52-week price trend by retailer account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Pack price ladder — single / 4-pack / 12-pack side-by-side in the same account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Competitive price gap chart — BUILT vs. Tier 1 competitor in the same flavor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59" y="47914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Category benchmark — BUILT $/bar vs. MULO FOOD category average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$/bar normalization · Elasticity regression models · Score publishing · Pack-ladder + competitor comparisons · Publish to Mo UI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Validate elasticity values — do they match BUILT's commercial experience? · Confirm price-point recommendations with Brian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Promotional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"How much incremental demand does a promotion generate — and what depth maximizes return?"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Incremental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Above-baseline 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units (non-promo)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Lift denominator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units sold on promotion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Promo dependency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Promo discount depth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Quantify discount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Channel (grocery / mass / c-store)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Channel response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Pack 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Pack size behavior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on promo (TDP, Any Promo)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Display vs. price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Calculate promo lift ratio: incremental units ÷ base units, per SKU × account × event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Group events into discount depth buckets (0–10%, 10–20%, 20–30%, 30%+)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response curves by channel — grocery and c-store show distinct lift profiles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response curves by pack size — 12-packs show a 30%+ discount cliff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Identify the depth where marginal lift no longer justifies additional margin give-up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49240" y="1691640"/>
            <a:ext cx="6492240" cy="105156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Expected lift % at each discount depth for this SKU × channel × pack size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Optimal discount depth recommendation — where lift peaks before the cliff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Incremental vs. cannibalized demand breakdown at each discount level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285292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58968" y="289864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49240" y="312724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23559" y="31912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Historical promo events — discount depth, timing, and observed lift per event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Lift trend by event type — TPR vs. display vs. feature support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% weeks on promo trend — is this SKU becoming promo-dependent?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Channel comparison — lift curve across grocery / mass / c-store for this SKU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Lift curve modeling · Depth optimization scoring · Channel × pack separation · Publish to Mo UI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(including promo flags) · Review lift projections · Confirm discount depth guidance with trade marketing team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Distribution &amp; Launch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"Is this new product ramping as expected — in enough stores, with the right velocity?"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of stores selling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Total distribution points (TDP)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Primary ramp 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Avg weekly units per store selling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Velocity per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First week selling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Launch anchor 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Number of weeks selling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Lifecycle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319272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335584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65760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" y="3593592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Track weeks 1–16 of distribution build and velocity ramp for each new BUILT UPC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90448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" y="384047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each SKU's ramp against category norms for the same pack 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5137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" y="408736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Classify new UPCs: new pack size, new flavor, or duplicate/relaunch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39826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433425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underperformance at 4, 8, and 13 weeks post-launch vs. expected ramp curve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64515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458114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Suppress cannibalization scoring during ramp — avoids penalizing distribution-driven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1691640"/>
            <a:ext cx="6492240" cy="137160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Launch status at current week: On Track · Watch · Underperforming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Expected ramp curve — where this SKU should be at weeks 8, 13,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Predicted full-distribution velocity — expected units/store at maturity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Cannibalization scoring readiness — flag for when SKU graduates to active scoring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317296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58968" y="321868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344728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TDP ramp week by week since first week selling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velocity per store — is the product pulling through where stocked?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Comparable launch benchmarks — similar BUILT or category launches in same retailer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Data-maturity status — weeks until data gate clears for active scoring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Ramp monitoring model · Category benchmark comparisons · UPC classification gate · Launch status scoring · Publish to Mo UI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Confirm new UPC classifications (new SKU vs. relaunch) · Review launch status assessments with brand 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 Trends &amp; External Signal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C0F0"/>
                </a:solidFill>
                <a:latin typeface="Calibri"/>
              </a:rPr>
              <a:t>Competitive dashboard tiles showing velocity, price, distribution, and macro signals — all queried live, available from day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29260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33856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06  ·  MO TRENDS — all data queried live, no ML scoring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53896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1 — Brand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453896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Weekly units trend — 52-week history + 13-week rolling avg by product/retailer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64792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2 — Demand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828800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13-week forward projection with confidence bands  [ML scoring table]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39696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03703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3 — Pack Crossover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2203703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Single vs. multipack demand split across the BUILT product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578608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4 — Price &amp; Promo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2578608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ARP trend with promo event overlays and discount depth markers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9504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953512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5 — Distribution Arc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79" y="2953512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TDP build trajectory and ramp vs. category launch norms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28416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6 — Flavor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3328416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Flavor-level velocity comparison across full BUILT flavor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39312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7 — Macro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79" y="3703320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FRED GASDESW + UMCSENT — gas prices + U of Michigan consumer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14216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078224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8 — Velocity + Macro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4078224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Stacked chart: brand velocity trend alongside macro signal overlay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62272"/>
            <a:ext cx="5394960" cy="493776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507992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Filter bar:  Product  ·  Brand  ·  Channel (FOOD / MASS / C-STORE)  ·  Account  ·  Units / $ toggle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4709160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FA0"/>
                </a:solidFill>
                <a:latin typeface="Calibri"/>
              </a:rPr>
              <a:t>Demo defaults:  BUILT Puff  ·  KROGER + WALMART    |    MULO excluded from all Trends 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097280"/>
            <a:ext cx="5715000" cy="43891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6208" y="1133856"/>
            <a:ext cx="5495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07  ·  EXTERNAL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1316736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E0C0"/>
                </a:solidFill>
                <a:latin typeface="Calibri"/>
              </a:rPr>
              <a:t>Commercial redistribution license required for all sources listed.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536192"/>
            <a:ext cx="5715000" cy="237744"/>
          </a:xfrm>
          <a:prstGeom prst="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1563624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5E38"/>
                </a:solidFill>
                <a:latin typeface="Calibri"/>
              </a:rPr>
              <a:t>LIVE IN PRODUCTION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1773936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26480" y="1773936"/>
            <a:ext cx="64008" cy="32918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72784" y="18288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FRED — GASDESW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18288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Weekly U.S. gas price index (St. Louis Fed)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103120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26480" y="2103120"/>
            <a:ext cx="64008" cy="32918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72784" y="21579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FRED — UMCSENT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15798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U. of Michigan consumer confidence index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523744"/>
            <a:ext cx="5715000" cy="23774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2560320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4800"/>
                </a:solidFill>
                <a:latin typeface="Calibri"/>
              </a:rPr>
              <a:t>PLANNED — OPEN ITEMS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2761487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26480" y="2761487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72784" y="2816351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Open-Meteo Weather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2816351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Regional precip + temperature for seasonal demand context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3090671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126480" y="3090671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72784" y="3145535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BLS CPI — Food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14553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CPI food sub-indices for consumer price-pressure signal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419855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26480" y="3419855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72784" y="3474719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Kalshi Markets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347471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Prediction market odds for macro events (recession, rates)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3749039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26480" y="3749039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72784" y="3803903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Amazon BSR / Helium 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803903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Digital shelf velocity proxy for e-commerce demand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078224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26480" y="4078224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72784" y="41330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EIA / USDA Commodities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4133087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Cocoa, whey, oat prices — ingredient cost-pressure signal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1 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C0F0"/>
                </a:solidFill>
                <a:latin typeface="Calibri"/>
              </a:rPr>
              <a:t>Duration estimates are a starting point — to be validated with Brian before committing to dates. Durations reflect data readiness, not Aevah engineering capacity.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606040" cy="65836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Commitment
&amp; Handoff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2606040" cy="2414016"/>
          </a:xfrm>
          <a:prstGeom prst="rect">
            <a:avLst/>
          </a:prstGeom>
          <a:solidFill>
            <a:srgbClr val="D8E5FF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" y="2057400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BUILT confirms SPINS export format and deposit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2606040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11827"/>
                </a:solidFill>
                <a:latin typeface="Calibri"/>
              </a:rPr>
              <a:t>Aevah configures storage, file-watch trigger, and QA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3154680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07238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Both teams agree on data scope and stakeholder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703320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62102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Kickoff RACI reviewed and signed off by both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61103"/>
            <a:ext cx="2606040" cy="402336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Data Commitment confirmed + storage access granted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28163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29000" y="1188720"/>
            <a:ext cx="2606040" cy="65836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387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3–6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Onboarding
&amp;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1847088"/>
            <a:ext cx="2606040" cy="2414016"/>
          </a:xfrm>
          <a:prstGeom prst="rect">
            <a:avLst/>
          </a:prstGeom>
          <a:solidFill>
            <a:srgbClr val="D4F0E4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57016" y="2057400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85032" y="197510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Aevah: ingest → QA → feature engineering → model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7016" y="2606040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85032" y="252374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Aevah delivers QA report for BUILT data team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57016" y="3154680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85032" y="307238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BUILT validates data looks right for Modules 01–02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7016" y="3703320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85032" y="362102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Data issues flagged and resolved before UI 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4261103"/>
            <a:ext cx="2606040" cy="402336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387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QA report delivered; Module 01–02 models trained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7" y="28163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1188720"/>
            <a:ext cx="2606040" cy="65836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05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7–10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1 Preview
&amp; Feedback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1847088"/>
            <a:ext cx="2606040" cy="2414016"/>
          </a:xfrm>
          <a:prstGeom prst="rect">
            <a:avLst/>
          </a:prstGeom>
          <a:solidFill>
            <a:srgbClr val="FFF3D6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28816" y="2057400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197510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Cannibalization Risk + Price Elasticity live in Mo 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28816" y="2606040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56832" y="252374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Live walkthrough with Brian + Connor — FOOD-channel accounts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28816" y="3154680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56832" y="307238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Connor + team validate projections against market knowledge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3703320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56832" y="362102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Priority UI feedback addressed in follow-up sprint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261103"/>
            <a:ext cx="2606040" cy="402336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105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Phase 1 live in Mo; validation session complete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25128" y="28163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726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372600" y="1188720"/>
            <a:ext cx="2606040" cy="6583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823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11+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823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Iterate &amp;
Phase 2 Scope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72600" y="1847088"/>
            <a:ext cx="2606040" cy="2414016"/>
          </a:xfrm>
          <a:prstGeom prst="rect">
            <a:avLst/>
          </a:prstGeom>
          <a:solidFill>
            <a:srgbClr val="ECE8F8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500616" y="2057400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28632" y="197510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Address feedback; tune models on BUILT market knowledge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0616" y="2606040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28632" y="252374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Phase 1 milestone sign-off by both teams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0616" y="3154680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28632" y="307238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Begin scoping Modules 3–5 for Phase 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0616" y="3703320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28632" y="3621024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Connor's actuals data shared for forecast backtesting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72600" y="4261103"/>
            <a:ext cx="2606040" cy="40233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823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Phase 1 signed off; Phase 2 roadmap agreed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864607"/>
            <a:ext cx="11292840" cy="493776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4360" y="4919471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  <a:latin typeface="Calibri"/>
              </a:rPr>
              <a:t>Phase 2 (Modules 3–5: Promotional Response, Demand Forecast, Launch Monitoring) begins after Phase 1 sign-off. Automation roadmap (incremental ingest, orchestration shell, file-watch trigger) runs as an Aevah-internal engineering sprint — no BUILT action required.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Kickoff Alignment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C0F0"/>
                </a:solidFill>
                <a:latin typeface="Calibri"/>
              </a:rPr>
              <a:t>The goal of this meeting: leave with a shared understanding of who owns what, what each team is committing to, and a validated path to Phase 1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2926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472184"/>
            <a:ext cx="5047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WHAT WE NEED TO AGREE IN THIS MEETING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5623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8424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Which SPINS fields are we using? What supplemental data (ERP, DW) is in scope for Phase 1?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0487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33172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handoff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3288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Who deposits the SPINS export? Where? On what cadence? Who confirms receipt?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5351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88036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RACI sign-off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8152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Both teams confirm the responsibility matrix — who does what at each stage.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021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42900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Timeline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3016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Are the week estimates realistic? Brian to flag any constraints (data availability, staff).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0507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977639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Stakeholder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7880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Who else needs to be in the loop? Are there voices we haven't heard from yet?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9943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526279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 success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2744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What does a successful Phase 1 look like? How will we know we're ready for Phase 2?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417320"/>
            <a:ext cx="5669280" cy="2926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1472184"/>
            <a:ext cx="5413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WHAT HAPPENS AFTER THIS MEETING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1819656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182880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1783080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Commitment confirmed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1984248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BUILT provides written confirmation of SPINS export format and deposit timeline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2331720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2340864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2295144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Aevah configures ingest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2496312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File-watch trigger set up; QA gates defined against agreed field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2843784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6208" y="2852928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2807208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First data deposit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3008376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BUILT deposits initial SPINS extract; Aevah runs ingest + QA; report shared with BUILT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3355848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3364992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3319272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Feature engineering + model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3520440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Aevah runs Phase 1 models (cannibalization risk + price elasticity) — no BUILT action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3867911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36208" y="3877056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7104" y="3831335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 live 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4032504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Aevah hosts Mo walkthrough with Brian + Connor; projection validation session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8" y="4379976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438912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4" y="4343400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Feedback + iteration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7104" y="4544568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Connor's team reviews findings; UI adjustments made; Phase 2 scoping begins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</TotalTime>
  <Words>3250</Words>
  <Application>Microsoft Macintosh PowerPoint</Application>
  <PresentationFormat>Widescreen</PresentationFormat>
  <Paragraphs>462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Long</cp:lastModifiedBy>
  <cp:revision>7</cp:revision>
  <dcterms:created xsi:type="dcterms:W3CDTF">2013-01-27T09:14:16Z</dcterms:created>
  <dcterms:modified xsi:type="dcterms:W3CDTF">2026-08-28T20:40:51Z</dcterms:modified>
  <cp:category/>
</cp:coreProperties>
</file>