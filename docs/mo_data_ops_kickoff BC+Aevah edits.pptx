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0_0.xml" ContentType="application/vnd.ms-powerpoint.comments+xml"/>
  <Override PartName="/ppt/notesSlides/notesSlide1.xml" ContentType="application/vnd.openxmlformats-officedocument.presentationml.notesSlide+xml"/>
  <Override PartName="/ppt/comments/modernComment_103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4" r:id="rId9"/>
    <p:sldId id="268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C96AC4E-1459-4B81-A5A2-A4388F3843E9}">
          <p14:sldIdLst>
            <p14:sldId id="256"/>
            <p14:sldId id="257"/>
          </p14:sldIdLst>
        </p14:section>
        <p14:section name="Phase 1" id="{77D86926-7DF6-4FF6-B765-FEA5A640FDCC}">
          <p14:sldIdLst>
            <p14:sldId id="258"/>
            <p14:sldId id="259"/>
            <p14:sldId id="260"/>
            <p14:sldId id="261"/>
            <p14:sldId id="265"/>
            <p14:sldId id="264"/>
            <p14:sldId id="268"/>
          </p14:sldIdLst>
        </p14:section>
        <p14:section name="Phase 2" id="{001108E0-CA83-48F5-A0F8-86AA55BB2984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D75933-ECAC-EC22-361F-4B7E0CAB75AE}" name="Robert Long" initials="RL" userId="1e4447ec71d77421" providerId="Windows Live"/>
  <p188:author id="{DE1EA63C-684C-09CF-AB11-95A1F4340BBE}" name="Brian Cluster" initials="BC" userId="S::brian@built.com::52f04257-ee3d-445c-88a0-22181f181a9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56"/>
    <p:restoredTop sz="94655"/>
  </p:normalViewPr>
  <p:slideViewPr>
    <p:cSldViewPr snapToGrid="0" snapToObjects="1">
      <p:cViewPr varScale="1">
        <p:scale>
          <a:sx n="195" d="100"/>
          <a:sy n="195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F027CC0-BAED-4861-9F97-1AD2E72686D4}" authorId="{DE1EA63C-684C-09CF-AB11-95A1F4340BBE}" created="2026-09-02T02:27:51.79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16" creationId="{00000000-0000-0000-0000-000000000000}"/>
    </ac:deMkLst>
    <p188:txBody>
      <a:bodyPr/>
      <a:lstStyle/>
      <a:p>
        <a:r>
          <a:rPr lang="en-US"/>
          <a:t>It would be helpful to iindicate if phasee 2 is included or not in contacact. Maybe with Start and foottnote</a:t>
        </a:r>
      </a:p>
    </p188:txBody>
  </p188:cm>
</p188:cmLst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40A3CAC-BE6B-4FB8-9B96-6F031CBA849C}" authorId="{DE1EA63C-684C-09CF-AB11-95A1F4340BBE}" created="2026-09-02T02:29:44.38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spMk id="24" creationId="{00000000-0000-0000-0000-000000000000}"/>
    </ac:deMkLst>
    <p188:replyLst>
      <p188:reply id="{52B96194-2182-4848-B800-80321B3EE131}" authorId="{DE1EA63C-684C-09CF-AB11-95A1F4340BBE}" created="2026-09-02T02:31:03.676">
        <p188:txBody>
          <a:bodyPr/>
          <a:lstStyle/>
          <a:p>
            <a:r>
              <a:rPr lang="en-US"/>
              <a:t>#1 focus</a:t>
            </a:r>
          </a:p>
        </p188:txBody>
      </p188:reply>
    </p188:replyLst>
    <p188:txBody>
      <a:bodyPr/>
      <a:lstStyle/>
      <a:p>
        <a:r>
          <a:rPr lang="en-US"/>
          <a:t>Other : Base price, incremental price, promo price, non promo price
Base units per store per week
 store count selling, acv selling
Other promotional measures
Promotions: Do we need to provide a monthly or updated promotional calendar</a:t>
        </a:r>
      </a:p>
    </p188:txBody>
  </p188:cm>
  <p188:cm id="{A43F22A1-3FFB-4FCC-9AE3-02F52A786B8D}" authorId="{DE1EA63C-684C-09CF-AB11-95A1F4340BBE}" created="2026-09-02T02:32:03.121">
    <pc:sldMkLst xmlns:pc="http://schemas.microsoft.com/office/powerpoint/2013/main/command">
      <pc:docMk/>
      <pc:sldMk cId="0" sldId="259"/>
    </pc:sldMkLst>
    <p188:txBody>
      <a:bodyPr/>
      <a:lstStyle/>
      <a:p>
        <a:r>
          <a:rPr lang="en-US"/>
          <a:t>EQ Units?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EA446-AC15-F147-82D5-08EC2CA2AD2F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D125E-62F3-5B46-98DC-5804858A2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062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1D125E-62F3-5B46-98DC-5804858A214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87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0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C0F0"/>
                </a:solidFill>
                <a:latin typeface="Calibri"/>
              </a:rPr>
              <a:t>MO BY AEVAH  ·  BUILT KICKOFF  · 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How Mo Works
With Your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0F0"/>
                </a:solidFill>
                <a:latin typeface="Calibri"/>
              </a:rPr>
              <a:t>A walkthrough of the process behind each Mo intelligence module — what data it needs, where that data comes from, what operations are performed, and what appears on screen.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31920"/>
            <a:ext cx="11338560" cy="310896"/>
          </a:xfrm>
          <a:prstGeom prst="rect">
            <a:avLst/>
          </a:prstGeom>
          <a:solidFill>
            <a:srgbClr val="1A3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399592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C0F0"/>
                </a:solidFill>
                <a:latin typeface="Calibri"/>
              </a:rPr>
              <a:t>PHASE 1  ·  NOW THROUGH DEC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42816"/>
            <a:ext cx="3630168" cy="685800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453128"/>
            <a:ext cx="3447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Demand Forecast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4242816"/>
            <a:ext cx="3630168" cy="685800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61688" y="4453128"/>
            <a:ext cx="3447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Calibri"/>
              </a:rPr>
              <a:t>Cannibalization 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3296" y="4242816"/>
            <a:ext cx="3630168" cy="685800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74736" y="4453128"/>
            <a:ext cx="3447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Calibri"/>
              </a:rPr>
              <a:t>Price Elasticity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111496"/>
            <a:ext cx="11338560" cy="310896"/>
          </a:xfrm>
          <a:prstGeom prst="rect">
            <a:avLst/>
          </a:prstGeom>
          <a:solidFill>
            <a:srgbClr val="28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5175504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D4DAE6"/>
                </a:solidFill>
                <a:latin typeface="Calibri"/>
              </a:rPr>
              <a:t>PHASE 2  ·  PLANNED 2027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422392"/>
            <a:ext cx="5577840" cy="594360"/>
          </a:xfrm>
          <a:prstGeom prst="rect">
            <a:avLst/>
          </a:prstGeom>
          <a:solidFill>
            <a:srgbClr val="2E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5586983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D4DAE6"/>
                </a:solidFill>
                <a:latin typeface="Calibri"/>
              </a:rPr>
              <a:t>Promotional Response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5422392"/>
            <a:ext cx="5577840" cy="594360"/>
          </a:xfrm>
          <a:prstGeom prst="rect">
            <a:avLst/>
          </a:prstGeom>
          <a:solidFill>
            <a:srgbClr val="2E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5586983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DAE6"/>
                </a:solidFill>
                <a:latin typeface="Calibri"/>
              </a:rPr>
              <a:t>Launch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FA0"/>
                </a:solidFill>
                <a:latin typeface="Calibri"/>
              </a:rPr>
              <a:t>aevah.ai  ·  Confidential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End-to-End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FA0"/>
                </a:solidFill>
                <a:latin typeface="Calibri"/>
              </a:rPr>
              <a:t>Five stages from your SPINS export to decisions on screen — Aevah automates stages 2–4 so no manual steps are required once data is deposited.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2011680" cy="26060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810512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066543"/>
            <a:ext cx="1792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SPINS Export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560320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C0F0"/>
                </a:solidFill>
                <a:latin typeface="Calibri"/>
              </a:rPr>
              <a:t>BUILT Data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862072"/>
            <a:ext cx="17922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0"/>
                </a:solidFill>
                <a:latin typeface="Calibri"/>
              </a:rPr>
              <a:t>214-column weekly POS extract deposited to shared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281635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078D0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1719072"/>
            <a:ext cx="2011680" cy="26060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70048" y="1810512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STAGE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2066543"/>
            <a:ext cx="1792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Ingest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2560320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C0F0"/>
                </a:solidFill>
                <a:latin typeface="Calibri"/>
              </a:rPr>
              <a:t>Aevah — automated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2862072"/>
            <a:ext cx="17922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0"/>
                </a:solidFill>
                <a:latin typeface="Calibri"/>
              </a:rPr>
              <a:t>File-watch trigger detects new export; quality gates applied; incremental load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81635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078D0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719072"/>
            <a:ext cx="2011680" cy="26060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64608" y="1810512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STAGE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2066543"/>
            <a:ext cx="1792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Feature
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2560320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C0F0"/>
                </a:solidFill>
                <a:latin typeface="Calibri"/>
              </a:rPr>
              <a:t>Aevah — automated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2862072"/>
            <a:ext cx="17922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0"/>
                </a:solidFill>
                <a:latin typeface="Calibri"/>
              </a:rPr>
              <a:t>Aevah compresses raw rows into ML-ready feature tables per module — no manual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81635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078D0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1719072"/>
            <a:ext cx="2011680" cy="26060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59168" y="1810512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STAGE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2066543"/>
            <a:ext cx="1792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Model Training
&amp; Scoring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2560320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C0F0"/>
                </a:solidFill>
                <a:latin typeface="Calibri"/>
              </a:rPr>
              <a:t>Aevah — automated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2862072"/>
            <a:ext cx="17922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0"/>
                </a:solidFill>
                <a:latin typeface="Calibri"/>
              </a:rPr>
              <a:t>Models retrain on drift/schedule; scores saved to Aevah; smoke-test gates at each stage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9408" y="281635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078D0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1719072"/>
            <a:ext cx="2011680" cy="26060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53728" y="1810512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STAGE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3728" y="2066543"/>
            <a:ext cx="1792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3728" y="2560320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C0F0"/>
                </a:solidFill>
                <a:latin typeface="Calibri"/>
              </a:rPr>
              <a:t>BUILT Team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2862072"/>
            <a:ext cx="17922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0"/>
                </a:solidFill>
                <a:latin typeface="Calibri"/>
              </a:rPr>
              <a:t>Two data layers: ML projections (forecast) + live context data (actuals at render time)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63440"/>
            <a:ext cx="11430000" cy="1051560"/>
          </a:xfrm>
          <a:prstGeom prst="rect">
            <a:avLst/>
          </a:prstGeom>
          <a:solidFill>
            <a:srgbClr val="D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47274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KEY PRINCIPLE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983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  <a:latin typeface="Calibri"/>
              </a:rPr>
              <a:t>Every Mo screen draws from two distinct sources: ML scoring tables (what the model forecasts, written in Stage 4) and live Aevah queries (actual component data queried at render time). These have separate lineage and must never be blended.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Roles &amp; Responsibilities — 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C0F0"/>
                </a:solidFill>
                <a:latin typeface="Calibri"/>
              </a:rPr>
              <a:t>What Aevah commits to deliver, what BUILT commits to provide, and the shared milestones where both teams align.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15568"/>
            <a:ext cx="5486400" cy="292608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1152144"/>
            <a:ext cx="5266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C0F0"/>
                </a:solidFill>
                <a:latin typeface="Calibri"/>
              </a:rPr>
              <a:t>AEVAH DELIVERS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" y="1517904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444752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Platform setup, hosting, and data ingestion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" y="1865376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792224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Data quality gates at every stage — no bad data reaches the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2212848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2139696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Feature engineering: raw SPINS rows compressed into ML-ready tables per module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2560320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2487168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Model training and scoring: demand velocity &amp; forecast + cannibalization risk + price elasticity (Phase 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" y="2907791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2834639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Mo UI deployment: all screens, filters, and visualizations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3255263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182111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Model monitoring: drift detection and automatic retraining on schedule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" y="3602735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3529583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Customer-facing overview and reference documentation, updated each session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115568"/>
            <a:ext cx="5577840" cy="292608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73368" y="1152144"/>
            <a:ext cx="535838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BUILT PROVIDES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73368" y="1517904"/>
            <a:ext cx="73152" cy="73152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59" y="1444752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Weekly SPINS export (214 columns) deposited to shared storage on agreed schedule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73368" y="1865376"/>
            <a:ext cx="73152" cy="73152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59" y="1792224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Product master data + regional seasonality indexes — supplemental inputs for Phase 1 demand forecast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73368" y="2212848"/>
            <a:ext cx="73152" cy="73152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59" y="2139696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ERP / data warehouse access — for Phase 2 data sources and Connor's actuals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73368" y="2560320"/>
            <a:ext cx="73152" cy="73152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59" y="2487168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Stakeholder availability: kickoff, data QA review, demo sessions, and sign-off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73368" y="2907791"/>
            <a:ext cx="73152" cy="73152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59" y="2834639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Projection validation: Connor + Brian confirm whether findings match their market knowledge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73368" y="3255263"/>
            <a:ext cx="73152" cy="73152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37959" y="3182111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UI feedback: what information helps the job get done — what to add, change, or remove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73368" y="3602735"/>
            <a:ext cx="73152" cy="73152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37959" y="3529583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Phase 1 milestone sign-off before proceeding to Phase 2 scope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" y="4005072"/>
            <a:ext cx="11457432" cy="27432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5488" y="4050791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24528" y="4050791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Aevah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70448" y="4050791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Brian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42048" y="4050791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Connor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4050791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BUILT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51008" y="4050791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Milestone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" y="4279392"/>
            <a:ext cx="11457432" cy="292608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75488" y="4334255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SPINS export &amp; weekly deposit to shared storage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24528" y="4334255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70448" y="4334255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5E38"/>
                </a:solidFill>
                <a:latin typeface="Calibri"/>
              </a:rPr>
              <a:t>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42048" y="4334255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05088" y="4334255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078D0"/>
                </a:solidFill>
                <a:latin typeface="Calibri"/>
              </a:rPr>
              <a:t>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51008" y="4334255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Week 1–2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4048" y="4572000"/>
            <a:ext cx="1145743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75488" y="4626864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Data ingest, quality gates, feature engineering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24528" y="46268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078D0"/>
                </a:solidFill>
                <a:latin typeface="Calibri"/>
              </a:rPr>
              <a:t>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70448" y="462686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42048" y="462686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05088" y="46268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51008" y="462686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Week 3–4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4048" y="4864608"/>
            <a:ext cx="11457432" cy="292608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75488" y="491947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Model training, scoring &amp; Mo UI deployment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24528" y="491947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078D0"/>
                </a:solidFill>
                <a:latin typeface="Calibri"/>
              </a:rPr>
              <a:t>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70448" y="491947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42048" y="491947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05088" y="491947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51008" y="491947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Week 4–6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4048" y="5157216"/>
            <a:ext cx="1145743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75488" y="521208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Projection review &amp; business validation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24528" y="52120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70448" y="521208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5E38"/>
                </a:solidFill>
                <a:latin typeface="Calibri"/>
              </a:rPr>
              <a:t>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42048" y="521208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05088" y="52120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51008" y="521208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Week 6–8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4048" y="5449824"/>
            <a:ext cx="11457432" cy="292608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75488" y="55046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UI feedback sessions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24528" y="550468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70448" y="55046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5E38"/>
                </a:solidFill>
                <a:latin typeface="Calibri"/>
              </a:rPr>
              <a:t>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42048" y="550468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C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05088" y="550468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51008" y="550468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Week 7–10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84048" y="5742432"/>
            <a:ext cx="1145743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75488" y="579729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Phase 1 milestone sign-off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24528" y="57972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5E38"/>
                </a:solidFill>
                <a:latin typeface="Calibri"/>
              </a:rPr>
              <a:t>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70448" y="579729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5E38"/>
                </a:solidFill>
                <a:latin typeface="Calibri"/>
              </a:rPr>
              <a:t>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42048" y="579729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C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705088" y="57972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351008" y="579729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Week 10–12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84048" y="6108192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7FA0"/>
                </a:solidFill>
                <a:latin typeface="Calibri"/>
              </a:rPr>
              <a:t>R = Responsible (does the work)   A = Accountable (owns the outcome)   C = Consulted   I = Informed (kept in the loop)   — = Not in scope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20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chemeClr val="accent6"/>
                </a:solidFill>
                <a:latin typeface="Calibri"/>
              </a:rPr>
              <a:t>MODULE 0</a:t>
            </a:r>
            <a:r>
              <a:rPr lang="en-US" sz="900" b="1" i="0" dirty="0">
                <a:solidFill>
                  <a:schemeClr val="accent6"/>
                </a:solidFill>
                <a:latin typeface="Calibri"/>
              </a:rPr>
              <a:t>1- #1 FOCUS</a:t>
            </a:r>
            <a:endParaRPr sz="900" b="1" i="0" dirty="0">
              <a:solidFill>
                <a:schemeClr val="accent6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0" y="914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078D0"/>
                </a:solidFill>
                <a:latin typeface="Calibri"/>
              </a:rPr>
              <a:t>PHASE 1 — NOW THROUGH DEC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"/>
            <a:ext cx="64008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Calibri"/>
              </a:rPr>
              <a:t>Demand Velocity &amp; Forecast</a:t>
            </a:r>
            <a:endParaRPr lang="en-US" sz="2200" b="1" i="0" dirty="0">
              <a:solidFill>
                <a:srgbClr val="FFFFFF"/>
              </a:solidFill>
              <a:latin typeface="Calibri"/>
            </a:endParaRPr>
          </a:p>
          <a:p>
            <a:r>
              <a:rPr lang="en-US" sz="1400" b="1" dirty="0">
                <a:solidFill>
                  <a:srgbClr val="FFFFFF"/>
                </a:solidFill>
              </a:rPr>
              <a:t>*note first phase focuses on SPINs coverage, some retailers are not present</a:t>
            </a:r>
          </a:p>
          <a:p>
            <a:pPr algn="l"/>
            <a:endParaRPr sz="2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0" y="34747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D5FF"/>
                </a:solidFill>
                <a:latin typeface="Calibri"/>
              </a:rPr>
              <a:t>"What will this SKU sell in the next 13 weeks, by retailer account?"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45389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DATA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73352"/>
            <a:ext cx="4572000" cy="246888"/>
          </a:xfrm>
          <a:prstGeom prst="rect">
            <a:avLst/>
          </a:prstGeom>
          <a:solidFill>
            <a:srgbClr val="D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70992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7099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70992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Purpose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920240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" y="196596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52-week weekly units sold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196596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196596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Demand history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185416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" y="223113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Distribution (stores selling)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0632" y="223113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6472" y="223113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Distribution control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450592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" y="249631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11827"/>
                </a:solidFill>
                <a:latin typeface="Calibri"/>
              </a:rPr>
              <a:t>Average retail price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0632" y="24963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76472" y="2496312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Price signal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715768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" y="276148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% weeks on promotion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70632" y="276148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76472" y="2761488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Promo flag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2980944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" y="302666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Retail account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70632" y="302666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76472" y="3026664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Per-account model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246120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4632" y="329184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11827"/>
                </a:solidFill>
                <a:latin typeface="Calibri"/>
              </a:rPr>
              <a:t>Week end 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70632" y="329184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76472" y="329184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Seasonality features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584448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3621024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OPERATIONS PERFORMED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922776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7512" y="3858768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Normalize to non-zero TDP weeks — eliminate false troughs from shelf-presence gaps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169664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7512" y="4105656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Compute rolling averages (4-week, 13-week) to smooth noise while preserving trend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416552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7512" y="4352544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Build 12-month seasonality index — regional granularity available when BUILT provides geographic breakdown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4663440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7512" y="4599431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Flag promo weeks so model learns baseline vs. promo-lifted demand separately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4910327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7512" y="4846319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Train separate forecast per SKU × retailer — Kroger velocity ≠ Target velocity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5157215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7512" y="5093207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Fall back to exponential smoothing (ETS) for SKUs with &lt;8 weeks of history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49240" y="1417320"/>
            <a:ext cx="6492240" cy="274320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458968" y="1463040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FORECAST &amp; PROJECTION — from trained model (Stage 4)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49240" y="1691640"/>
            <a:ext cx="6492240" cy="1371600"/>
          </a:xfrm>
          <a:prstGeom prst="rect">
            <a:avLst/>
          </a:prstGeom>
          <a:solidFill>
            <a:srgbClr val="D4F0E4"/>
          </a:solidFill>
          <a:ln w="6350">
            <a:solidFill>
              <a:srgbClr val="68C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623559" y="175564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0E5E38"/>
                </a:solidFill>
                <a:latin typeface="Calibri"/>
              </a:rPr>
              <a:t>›  13-week demand forecast per SKU × retailer account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23559" y="207568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Confidence bands (low / base / high scenario)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23559" y="239572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0E5E38"/>
                </a:solidFill>
                <a:latin typeface="Calibri"/>
              </a:rPr>
              <a:t>›  Promo-uplift scenario — demand if a promotion is planned in the forecast window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23559" y="271576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Forecast accuracy benchmark: 4% wMAPE vs. 7–10% industry baseline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49240" y="3151536"/>
            <a:ext cx="6492240" cy="274320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458968" y="3197256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LIVE CONTEXT DATA — queried at display time (Stage 5)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49240" y="3425856"/>
            <a:ext cx="6492240" cy="1371600"/>
          </a:xfrm>
          <a:prstGeom prst="rect">
            <a:avLst/>
          </a:prstGeom>
          <a:solidFill>
            <a:srgbClr val="FFF3D6"/>
          </a:solidFill>
          <a:ln w="6350">
            <a:solidFill>
              <a:srgbClr val="E8B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623559" y="3489864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8A4800"/>
                </a:solidFill>
                <a:latin typeface="Calibri"/>
              </a:rPr>
              <a:t>›  52-week actual demand trend by SKU and retailer account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23559" y="3809904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Distribution (stores stocking) trend over the same period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23559" y="4129944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Category average velocity — how this SKU compares to 13-week category norm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23559" y="4449984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Seasonal index overlay — expected lift or drag on the forecast period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" y="5596128"/>
            <a:ext cx="4572000" cy="237744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02920" y="5632704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0C0F0"/>
                </a:solidFill>
                <a:latin typeface="Calibri"/>
              </a:rPr>
              <a:t>AEVAH DELIVERS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5833872"/>
            <a:ext cx="4572000" cy="566928"/>
          </a:xfrm>
          <a:prstGeom prst="rect">
            <a:avLst/>
          </a:prstGeom>
          <a:solidFill>
            <a:srgbClr val="E8EDF8"/>
          </a:solidFill>
          <a:ln w="6350">
            <a:solidFill>
              <a:srgbClr val="B0C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02920" y="5888736"/>
            <a:ext cx="4389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Seasonality index · Forecast model training · ETS fallback · Confidence bands · Publish 13-week projections to Mo UI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349240" y="4877464"/>
            <a:ext cx="6492240" cy="237744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379721" y="4886608"/>
            <a:ext cx="63093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BUILT PROVIDES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49240" y="5087776"/>
            <a:ext cx="6492240" cy="1499616"/>
          </a:xfrm>
          <a:prstGeom prst="rect">
            <a:avLst/>
          </a:prstGeom>
          <a:solidFill>
            <a:srgbClr val="D4F0E4"/>
          </a:solidFill>
          <a:ln w="6350">
            <a:solidFill>
              <a:srgbClr val="80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379721" y="5124352"/>
            <a:ext cx="630935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111827"/>
                </a:solidFill>
                <a:latin typeface="Calibri"/>
              </a:rPr>
              <a:t>SPINS export deposit </a:t>
            </a:r>
            <a:endParaRPr lang="en-US" sz="850" b="0" i="0" dirty="0">
              <a:solidFill>
                <a:srgbClr val="111827"/>
              </a:solidFill>
              <a:latin typeface="Calibri"/>
            </a:endParaRPr>
          </a:p>
          <a:p>
            <a:pPr algn="l"/>
            <a:r>
              <a:rPr sz="850" b="0" i="0" dirty="0">
                <a:solidFill>
                  <a:srgbClr val="111827"/>
                </a:solidFill>
                <a:latin typeface="Calibri"/>
              </a:rPr>
              <a:t>· Share actuals data for forecast back</a:t>
            </a:r>
            <a:r>
              <a:rPr lang="en-US" sz="850" b="0" i="0" dirty="0">
                <a:solidFill>
                  <a:srgbClr val="111827"/>
                </a:solidFill>
                <a:latin typeface="Calibri"/>
              </a:rPr>
              <a:t>-</a:t>
            </a:r>
            <a:r>
              <a:rPr sz="850" b="0" i="0" dirty="0">
                <a:solidFill>
                  <a:srgbClr val="111827"/>
                </a:solidFill>
                <a:latin typeface="Calibri"/>
              </a:rPr>
              <a:t>testing </a:t>
            </a:r>
            <a:endParaRPr lang="en-US" sz="850" b="0" i="0" dirty="0">
              <a:solidFill>
                <a:srgbClr val="111827"/>
              </a:solidFill>
              <a:latin typeface="Calibri"/>
            </a:endParaRPr>
          </a:p>
          <a:p>
            <a:pPr algn="l"/>
            <a:r>
              <a:rPr sz="850" b="0" i="0" dirty="0">
                <a:solidFill>
                  <a:srgbClr val="111827"/>
                </a:solidFill>
                <a:latin typeface="Calibri"/>
              </a:rPr>
              <a:t>· Provide product data + regional seasonality indexes as supplemental inputs </a:t>
            </a:r>
            <a:endParaRPr lang="en-US" sz="850" b="0" i="0" dirty="0">
              <a:solidFill>
                <a:srgbClr val="111827"/>
              </a:solidFill>
              <a:latin typeface="Calibri"/>
            </a:endParaRPr>
          </a:p>
          <a:p>
            <a:pPr algn="l"/>
            <a:r>
              <a:rPr sz="850" b="0" i="0" dirty="0">
                <a:solidFill>
                  <a:srgbClr val="111827"/>
                </a:solidFill>
                <a:latin typeface="Calibri"/>
              </a:rPr>
              <a:t>· Connor validates 13-week forecasts against FP&amp;A actuals</a:t>
            </a:r>
            <a:endParaRPr lang="en-US" sz="850" b="0" i="0" dirty="0">
              <a:solidFill>
                <a:srgbClr val="111827"/>
              </a:solidFill>
              <a:latin typeface="Calibri"/>
            </a:endParaRPr>
          </a:p>
          <a:p>
            <a:r>
              <a:rPr lang="en-US" sz="850" dirty="0">
                <a:solidFill>
                  <a:srgbClr val="111827"/>
                </a:solidFill>
              </a:rPr>
              <a:t>· Historical promotion calendar with lift projections and any historical actuals</a:t>
            </a:r>
          </a:p>
          <a:p>
            <a:r>
              <a:rPr lang="en-US" sz="850" dirty="0">
                <a:solidFill>
                  <a:srgbClr val="111827"/>
                </a:solidFill>
              </a:rPr>
              <a:t>· Historical actuals used for any calculation</a:t>
            </a:r>
          </a:p>
          <a:p>
            <a:endParaRPr lang="en-US" sz="850" b="0" i="0" dirty="0">
              <a:solidFill>
                <a:srgbClr val="111827"/>
              </a:solidFill>
              <a:latin typeface="Calibri"/>
            </a:endParaRPr>
          </a:p>
          <a:p>
            <a:r>
              <a:rPr lang="en-US" sz="850" dirty="0">
                <a:solidFill>
                  <a:srgbClr val="111827"/>
                </a:solidFill>
                <a:latin typeface="Calibri"/>
              </a:rPr>
              <a:t>Pricing data: </a:t>
            </a:r>
            <a:r>
              <a:rPr lang="en-US" sz="800" dirty="0"/>
              <a:t>Base price, incremental price, promo price, non promo price</a:t>
            </a:r>
          </a:p>
          <a:p>
            <a:r>
              <a:rPr lang="en-US" sz="800" dirty="0"/>
              <a:t>Base units per store per week, store count selling, acv selling</a:t>
            </a:r>
          </a:p>
          <a:p>
            <a:r>
              <a:rPr lang="en-US" sz="800" dirty="0"/>
              <a:t>Other promotional measures</a:t>
            </a:r>
            <a:endParaRPr sz="850" b="0" i="0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20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A0C0F0"/>
                </a:solidFill>
                <a:latin typeface="Calibri"/>
              </a:rPr>
              <a:t>MODULE 0</a:t>
            </a:r>
            <a:r>
              <a:rPr lang="en-US" sz="900" b="1" i="0" dirty="0">
                <a:solidFill>
                  <a:srgbClr val="A0C0F0"/>
                </a:solidFill>
                <a:latin typeface="Calibri"/>
              </a:rPr>
              <a:t>2</a:t>
            </a:r>
            <a:endParaRPr sz="900" b="1" i="0" dirty="0">
              <a:solidFill>
                <a:srgbClr val="A0C0F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0" y="914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078D0"/>
                </a:solidFill>
                <a:latin typeface="Calibri"/>
              </a:rPr>
              <a:t>PHASE 1 — NOW THROUGH DEC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99" y="347472"/>
            <a:ext cx="682534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Calibri"/>
              </a:rPr>
              <a:t>Cannibalization Risk</a:t>
            </a:r>
            <a:endParaRPr lang="en-US" sz="2200" b="1" i="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lang="en-US" sz="1600" b="1" dirty="0">
                <a:solidFill>
                  <a:srgbClr val="FFFFFF"/>
                </a:solidFill>
                <a:latin typeface="Calibri"/>
              </a:rPr>
              <a:t>*note first phase focuses on SPINs coverage, some retailers are not present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0" y="34747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D5FF"/>
                </a:solidFill>
                <a:latin typeface="Calibri"/>
              </a:rPr>
              <a:t>"Is this new SKU pulling demand from an existing one, or adding net-new buyers?"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45389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DATA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73352"/>
            <a:ext cx="4572000" cy="246888"/>
          </a:xfrm>
          <a:prstGeom prst="rect">
            <a:avLst/>
          </a:prstGeom>
          <a:solidFill>
            <a:srgbClr val="D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70992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7099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70992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Purpose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920240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" y="196596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Weekly units sold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196596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196596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Before/after demand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185416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" y="223113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Base units (non-promo)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0632" y="223113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6472" y="223113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Isolate organic demand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450592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" y="249631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Distribution — stores selling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0632" y="24963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76472" y="2496312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Demand vs. distrib. loss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715768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" y="276148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Average retail price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70632" y="276148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76472" y="2761488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Rule out price effect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2980944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" y="302666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First week selling (launch date)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70632" y="302666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76472" y="3026664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Launch anchor date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246120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4632" y="329184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Pack count, flavor, brand 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70632" y="329184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76472" y="329184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Find substitute SKUs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511296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4632" y="355701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Weeks on promotion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70632" y="355701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76472" y="355701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Flag promo periods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3849624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388620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OPERATIONS PERFORMED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187952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7512" y="4123944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Build before/after windows (4-week, 13-week, 26-week) around each product launch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4434840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7512" y="4370831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Pair each focal SKU with candidate donors — same flavor, same pack family, competitor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4681727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7512" y="4617719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Measure whether focal demand rose while donor demand fell in the same stores and window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4928615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7512" y="4864607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Flag windows contaminated by promotions, distribution ramps, or supply events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5175503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7512" y="5111495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Calculate incremental share: net-new demand vs. demand transferred from a donor SKU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5422391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67512" y="5358383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Assign label (Cannibalizing / Watch / Incremental / Neutral) from observable evidence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49240" y="1417320"/>
            <a:ext cx="6492240" cy="274320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458968" y="1463040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FORECAST &amp; PROJECTION — from trained model (Stage 4)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49240" y="1691640"/>
            <a:ext cx="6492240" cy="1691640"/>
          </a:xfrm>
          <a:prstGeom prst="rect">
            <a:avLst/>
          </a:prstGeom>
          <a:solidFill>
            <a:srgbClr val="D4F0E4"/>
          </a:solidFill>
          <a:ln w="6350">
            <a:solidFill>
              <a:srgbClr val="68C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623559" y="175564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Risk score + confidence for each focal/donor pair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23559" y="207568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Status: Cannibalizing · Watch · Incremental · Neutral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23559" y="239572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Ranked donors with evidence summary (focal lift, donor decline, distribution delta)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23559" y="271576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Incremental share — net-new demand vs. transferred demand  [FML-10]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23559" y="303580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Cannibalization rate actuals + 13-week forward projection  [FML-09]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49240" y="3493008"/>
            <a:ext cx="6492240" cy="274320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458968" y="3538728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LIVE CONTEXT DATA — queried at display time (Stage 5)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49240" y="3767328"/>
            <a:ext cx="6492240" cy="1371600"/>
          </a:xfrm>
          <a:prstGeom prst="rect">
            <a:avLst/>
          </a:prstGeom>
          <a:solidFill>
            <a:srgbClr val="FFF3D6"/>
          </a:solidFill>
          <a:ln w="6350">
            <a:solidFill>
              <a:srgbClr val="E8B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623559" y="383133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Actual weekly demand trend for focal and donor SKUs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23559" y="415137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Distribution (TDP) trend — stores stocking each SKU over time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23559" y="447141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Geography heatmap — which markets show the strongest demand transfer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23559" y="479145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Launch ramp chart — weeks 1–16 of distribution build vs. category norms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5596128"/>
            <a:ext cx="4572000" cy="237744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02920" y="5632704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0C0F0"/>
                </a:solidFill>
                <a:latin typeface="Calibri"/>
              </a:rPr>
              <a:t>AEVAH DELIVERS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5833872"/>
            <a:ext cx="4572000" cy="566928"/>
          </a:xfrm>
          <a:prstGeom prst="rect">
            <a:avLst/>
          </a:prstGeom>
          <a:solidFill>
            <a:srgbClr val="E8EDF8"/>
          </a:solidFill>
          <a:ln w="6350">
            <a:solidFill>
              <a:srgbClr val="B0C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02920" y="5888736"/>
            <a:ext cx="4389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Comparison pool build · Pairing model · Risk scoring · Publish to Mo UI · Monitor model drift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49240" y="5596128"/>
            <a:ext cx="6492240" cy="237744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440679" y="5632704"/>
            <a:ext cx="63093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BUILT PROVIDES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349240" y="5833872"/>
            <a:ext cx="6492240" cy="566928"/>
          </a:xfrm>
          <a:prstGeom prst="rect">
            <a:avLst/>
          </a:prstGeom>
          <a:solidFill>
            <a:srgbClr val="D4F0E4"/>
          </a:solidFill>
          <a:ln w="6350">
            <a:solidFill>
              <a:srgbClr val="80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440679" y="5888736"/>
            <a:ext cx="630935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SPINS export deposit · Review risk labels — do the identified donor pairs make business sense? · Validate threshold cutoffs with Brian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20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A0C0F0"/>
                </a:solidFill>
                <a:latin typeface="Calibri"/>
              </a:rPr>
              <a:t>MODULE 0</a:t>
            </a:r>
            <a:r>
              <a:rPr lang="en-US" sz="900" b="1" i="0" dirty="0">
                <a:solidFill>
                  <a:srgbClr val="A0C0F0"/>
                </a:solidFill>
                <a:latin typeface="Calibri"/>
              </a:rPr>
              <a:t>3</a:t>
            </a:r>
            <a:endParaRPr sz="900" b="1" i="0" dirty="0">
              <a:solidFill>
                <a:srgbClr val="A0C0F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0" y="914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078D0"/>
                </a:solidFill>
                <a:latin typeface="Calibri"/>
              </a:rPr>
              <a:t>PHASE 1 — NOW THROUGH DEC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"/>
            <a:ext cx="68427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Calibri"/>
              </a:rPr>
              <a:t>Price Elasticity</a:t>
            </a:r>
            <a:endParaRPr lang="en-US" sz="2200" b="1" i="0" dirty="0">
              <a:solidFill>
                <a:srgbClr val="FFFFFF"/>
              </a:solidFill>
              <a:latin typeface="Calibri"/>
            </a:endParaRPr>
          </a:p>
          <a:p>
            <a:r>
              <a:rPr lang="en-US" sz="1600" b="1" dirty="0">
                <a:solidFill>
                  <a:srgbClr val="FFFFFF"/>
                </a:solidFill>
              </a:rPr>
              <a:t>*note first phase focuses on SPINs coverage, some retailers are not present</a:t>
            </a:r>
          </a:p>
          <a:p>
            <a:pPr algn="l"/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0" y="34747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D5FF"/>
                </a:solidFill>
                <a:latin typeface="Calibri"/>
              </a:rPr>
              <a:t>"If we change price by X%, how much does demand change — and what is the optimal price point?"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45389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DATA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73352"/>
            <a:ext cx="4572000" cy="246888"/>
          </a:xfrm>
          <a:prstGeom prst="rect">
            <a:avLst/>
          </a:prstGeom>
          <a:solidFill>
            <a:srgbClr val="D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70992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7099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70992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Purpose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920240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" y="196596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Average retail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196596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196596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Price level measure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185416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" y="223113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Weekly units sold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0632" y="223113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6472" y="223113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Demand response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450592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" y="249631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Base price (non-promo ARP)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0632" y="24963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76472" y="2496312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Everyday vs. promo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715768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" y="276148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Promo discount depth (%)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70632" y="276148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76472" y="2761488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Quantify promo depth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2980944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" y="302666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Incremental units (promo-driven)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70632" y="302666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76472" y="3026664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Isolate promo demand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246120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4632" y="329184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Distribution (TDP)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70632" y="329184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76472" y="329184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Distribution control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511296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4632" y="355701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Competitor price (same flavor)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70632" y="355701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76472" y="355701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Own vs. competitor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3849624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388620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OPERATIONS PERFORMED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187952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7512" y="4123944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Normalize price to $/bar so singles and 12-packs are comparable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4434840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7512" y="4370831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Build 13-week log-log regression windows per SKU × account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4681727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7512" y="4617719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Separate promotional price changes from everyday price changes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4928615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7512" y="4864607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Compare BUILT $/bar vs. same-flavor competitor in the same account and week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5175503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7512" y="5111495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Compare $/bar across BUILT own pack sizes of the same flavor (pack-ladder check)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5422391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67512" y="5358383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Reject windows where price moved &gt;40% in one week — data artifact guardrail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49240" y="1417320"/>
            <a:ext cx="6492240" cy="274320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458968" y="1463040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FORECAST &amp; PROJECTION — from trained model (Stage 4)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49240" y="1691640"/>
            <a:ext cx="6492240" cy="1691640"/>
          </a:xfrm>
          <a:prstGeom prst="rect">
            <a:avLst/>
          </a:prstGeom>
          <a:solidFill>
            <a:srgbClr val="D4F0E4"/>
          </a:solidFill>
          <a:ln w="6350">
            <a:solidFill>
              <a:srgbClr val="68C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623559" y="175564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Own-price elasticity ε with confidence range (q10 / q50 / q90)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23559" y="207568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Cross-price elasticity — demand response to competitor price changes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23559" y="239572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Promo elasticity curve — lift at each discount depth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23559" y="271576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What-if demand curves — projected units at alternative price points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23559" y="303580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Pricing event queue — active competitive gaps or pack-ladder compression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49240" y="3493008"/>
            <a:ext cx="6492240" cy="274320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458968" y="3538728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LIVE CONTEXT DATA — queried at display time (Stage 5)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49240" y="3767328"/>
            <a:ext cx="6492240" cy="1371600"/>
          </a:xfrm>
          <a:prstGeom prst="rect">
            <a:avLst/>
          </a:prstGeom>
          <a:solidFill>
            <a:srgbClr val="FFF3D6"/>
          </a:solidFill>
          <a:ln w="6350">
            <a:solidFill>
              <a:srgbClr val="E8B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623559" y="383133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Current $/bar and 52-week price trend by retailer account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23559" y="415137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Pack price ladder — single / 4-pack / 12-pack side-by-side in the same account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23559" y="447141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Competitive price gap chart — BUILT vs. Tier 1 competitor in the same flavor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23559" y="479145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Category benchmark — BUILT $/bar vs. MULO FOOD category average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5596128"/>
            <a:ext cx="4572000" cy="237744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02920" y="5632704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0C0F0"/>
                </a:solidFill>
                <a:latin typeface="Calibri"/>
              </a:rPr>
              <a:t>AEVAH DELIVERS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5833872"/>
            <a:ext cx="4572000" cy="566928"/>
          </a:xfrm>
          <a:prstGeom prst="rect">
            <a:avLst/>
          </a:prstGeom>
          <a:solidFill>
            <a:srgbClr val="E8EDF8"/>
          </a:solidFill>
          <a:ln w="6350">
            <a:solidFill>
              <a:srgbClr val="B0C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02920" y="5888736"/>
            <a:ext cx="4389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$/bar normalization · Elasticity regression models · Score publishing · Pack-ladder + competitor comparisons · Publish to Mo UI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49240" y="5256495"/>
            <a:ext cx="6492240" cy="237744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440679" y="5293071"/>
            <a:ext cx="63093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dirty="0">
                <a:solidFill>
                  <a:srgbClr val="FFFFFF"/>
                </a:solidFill>
                <a:latin typeface="Calibri"/>
              </a:rPr>
              <a:t>BUILT PROVIDES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349240" y="5494239"/>
            <a:ext cx="6492240" cy="906561"/>
          </a:xfrm>
          <a:prstGeom prst="rect">
            <a:avLst/>
          </a:prstGeom>
          <a:solidFill>
            <a:srgbClr val="D4F0E4"/>
          </a:solidFill>
          <a:ln w="6350">
            <a:solidFill>
              <a:srgbClr val="80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440678" y="5611806"/>
            <a:ext cx="630935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111827"/>
                </a:solidFill>
                <a:latin typeface="Calibri"/>
              </a:rPr>
              <a:t>SPINS export deposit · Validate elasticity values — do they match BUILT's commercial experience? · Confirm price-point recommendations with Brian</a:t>
            </a:r>
            <a:endParaRPr lang="en-US" sz="850" b="0" i="0" dirty="0">
              <a:solidFill>
                <a:srgbClr val="111827"/>
              </a:solidFill>
              <a:latin typeface="Calibri"/>
            </a:endParaRPr>
          </a:p>
          <a:p>
            <a:pPr algn="l"/>
            <a:endParaRPr lang="en-US" sz="850" dirty="0">
              <a:solidFill>
                <a:srgbClr val="111827"/>
              </a:solidFill>
              <a:latin typeface="Calibri"/>
            </a:endParaRPr>
          </a:p>
          <a:p>
            <a:pPr algn="l"/>
            <a:r>
              <a:rPr lang="en-US" sz="850" b="0" i="0" dirty="0">
                <a:solidFill>
                  <a:srgbClr val="111827"/>
                </a:solidFill>
                <a:latin typeface="Calibri"/>
              </a:rPr>
              <a:t>Include additional nutrient/ingredient columns (calories, sugar, protein, fiber, carbs, flavors, artificial colors, etc.)</a:t>
            </a:r>
            <a:endParaRPr sz="850" b="0" i="0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Phase 1 Project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C0F0"/>
                </a:solidFill>
                <a:latin typeface="Calibri"/>
              </a:rPr>
              <a:t>Duration estimates are a starting point — to be validated with Brian before committing to dates. Durations reflect data readiness, not Aevah engineering capacity.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26060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0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52246"/>
            <a:ext cx="2606040" cy="796626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252728"/>
            <a:ext cx="2386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Weeks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435608"/>
            <a:ext cx="2386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Commitment
&amp; Handoff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64646"/>
            <a:ext cx="2606040" cy="2414016"/>
          </a:xfrm>
          <a:prstGeom prst="rect">
            <a:avLst/>
          </a:prstGeom>
          <a:solidFill>
            <a:srgbClr val="D8E5FF"/>
          </a:solidFill>
          <a:ln w="6350">
            <a:solidFill>
              <a:srgbClr val="C0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5216" y="2174958"/>
            <a:ext cx="64008" cy="64008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092662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111827"/>
                </a:solidFill>
                <a:latin typeface="Calibri"/>
              </a:rPr>
              <a:t>BUILT confirms SPINS export format and deposit schedule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" y="2723598"/>
            <a:ext cx="64008" cy="64008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2641302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111827"/>
                </a:solidFill>
                <a:latin typeface="Calibri"/>
              </a:rPr>
              <a:t>Aevah configures storage, file-watch trigger, and QA gates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" y="3272238"/>
            <a:ext cx="64008" cy="64008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3189942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111827"/>
                </a:solidFill>
                <a:latin typeface="Calibri"/>
              </a:rPr>
              <a:t>Both teams agree on data scope and stakeholder 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" y="3820878"/>
            <a:ext cx="64008" cy="64008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3738582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111827"/>
                </a:solidFill>
                <a:latin typeface="Calibri"/>
              </a:rPr>
              <a:t>Kickoff RACI reviewed and signed off by both teams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78661"/>
            <a:ext cx="2606040" cy="402336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460957"/>
            <a:ext cx="2386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Deliverable:  Data Commitment confirmed + storage access granted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81528" y="2933910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078D0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1188720"/>
            <a:ext cx="26060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0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29000" y="1152246"/>
            <a:ext cx="2606040" cy="796626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38728" y="1252728"/>
            <a:ext cx="2386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Weeks 3–6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1435608"/>
            <a:ext cx="2386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Onboarding
&amp; Validation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1964646"/>
            <a:ext cx="2606040" cy="2414016"/>
          </a:xfrm>
          <a:prstGeom prst="rect">
            <a:avLst/>
          </a:prstGeom>
          <a:solidFill>
            <a:srgbClr val="D4F0E4"/>
          </a:solidFill>
          <a:ln w="6350">
            <a:solidFill>
              <a:srgbClr val="C0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557016" y="2174958"/>
            <a:ext cx="64008" cy="64008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85032" y="2092662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111827"/>
                </a:solidFill>
                <a:latin typeface="Calibri"/>
              </a:rPr>
              <a:t>Aevah: ingest → QA → feature engineering → model training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57016" y="2723598"/>
            <a:ext cx="64008" cy="64008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85032" y="2641302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Aevah delivers QA report for BUILT data team review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57016" y="3272238"/>
            <a:ext cx="64008" cy="64008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85032" y="3189942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BUILT validates data looks right for all three Phase 1 modules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57016" y="3820878"/>
            <a:ext cx="64008" cy="64008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85032" y="3738582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Data issues flagged and resolved before UI deployment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29000" y="4378661"/>
            <a:ext cx="2606040" cy="402336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38728" y="4460957"/>
            <a:ext cx="2386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Deliverable:  QA report delivered; Phase 1 models trained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53327" y="2933910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078D0"/>
                </a:solidFill>
                <a:latin typeface="Calibri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1188720"/>
            <a:ext cx="26060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0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00800" y="1152246"/>
            <a:ext cx="2606040" cy="796626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10528" y="1252728"/>
            <a:ext cx="2386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Weeks 7–10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0528" y="1435608"/>
            <a:ext cx="2386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Phase 1 Preview
&amp; Feedback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1964646"/>
            <a:ext cx="2606040" cy="2414016"/>
          </a:xfrm>
          <a:prstGeom prst="rect">
            <a:avLst/>
          </a:prstGeom>
          <a:solidFill>
            <a:srgbClr val="FFF3D6"/>
          </a:solidFill>
          <a:ln w="6350">
            <a:solidFill>
              <a:srgbClr val="C0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528816" y="2174958"/>
            <a:ext cx="64008" cy="64008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56832" y="2092662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Demand Forecast + Cannibalization Risk + Price Elasticity live in Mo UI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28816" y="2723598"/>
            <a:ext cx="64008" cy="64008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56832" y="2641302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Live walkthrough with Brian + Connor — FOOD-channel accounts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28816" y="3272238"/>
            <a:ext cx="64008" cy="64008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56832" y="3189942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Connor + team validate projections against market knowledge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28816" y="3820878"/>
            <a:ext cx="64008" cy="64008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56832" y="3738582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Priority UI feedback addressed in follow-up sprint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4378661"/>
            <a:ext cx="2606040" cy="402336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10528" y="4460957"/>
            <a:ext cx="2386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Deliverable:  Phase 1 live in Mo; validation session complete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25128" y="2933910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078D0"/>
                </a:solidFill>
                <a:latin typeface="Calibri"/>
              </a:rPr>
              <a:t>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72600" y="1188720"/>
            <a:ext cx="26060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0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372600" y="1152246"/>
            <a:ext cx="2606040" cy="79662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82328" y="1252728"/>
            <a:ext cx="2386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Weeks 11+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82328" y="1435608"/>
            <a:ext cx="2386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Iterate &amp;
Phase 2 Scope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72600" y="1964646"/>
            <a:ext cx="2606040" cy="2414016"/>
          </a:xfrm>
          <a:prstGeom prst="rect">
            <a:avLst/>
          </a:prstGeom>
          <a:solidFill>
            <a:srgbClr val="ECE8F8"/>
          </a:solidFill>
          <a:ln w="6350">
            <a:solidFill>
              <a:srgbClr val="C0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500616" y="2174958"/>
            <a:ext cx="64008" cy="6400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628632" y="2092662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Address feedback; tune models on BUILT market knowledge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00616" y="2723598"/>
            <a:ext cx="64008" cy="6400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628632" y="2641302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Phase 1 milestone sign-off by both teams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00616" y="3272238"/>
            <a:ext cx="64008" cy="6400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28632" y="3189942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Begin scoping Modules 3–5 for Phase 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00616" y="3820878"/>
            <a:ext cx="64008" cy="6400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628632" y="3738582"/>
            <a:ext cx="2221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Connor's actuals data shared for forecast backtesting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372600" y="4378661"/>
            <a:ext cx="2606040" cy="40233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482328" y="4460957"/>
            <a:ext cx="2386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Deliverable:  Phase 1 signed off; Phase 2 roadmap agreed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4982165"/>
            <a:ext cx="11292840" cy="493776"/>
          </a:xfrm>
          <a:prstGeom prst="rect">
            <a:avLst/>
          </a:prstGeom>
          <a:solidFill>
            <a:srgbClr val="D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94360" y="5037029"/>
            <a:ext cx="1106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111827"/>
                </a:solidFill>
                <a:latin typeface="Calibri"/>
              </a:rPr>
              <a:t>Phase 2 (Modules </a:t>
            </a:r>
            <a:r>
              <a:rPr lang="en-US" sz="900" b="0" i="0" dirty="0">
                <a:solidFill>
                  <a:srgbClr val="111827"/>
                </a:solidFill>
                <a:latin typeface="Calibri"/>
              </a:rPr>
              <a:t>4</a:t>
            </a:r>
            <a:r>
              <a:rPr sz="900" b="0" i="0" dirty="0">
                <a:solidFill>
                  <a:srgbClr val="111827"/>
                </a:solidFill>
                <a:latin typeface="Calibri"/>
              </a:rPr>
              <a:t>–5: Promotional Response, Demand Forecast, Launch Monitoring) begins after Phase 1 sign-off. Automation roadmap (incremental ingest, orchestration shell, file-watch trigger) runs as an Aevah-internal engineering sprint — no BUILT action required.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 Trends &amp; External Signal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C0F0"/>
                </a:solidFill>
                <a:latin typeface="Calibri"/>
              </a:rPr>
              <a:t>Competitive dashboard tiles showing velocity, price, distribution, and macro signals — all queried live, available from day 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394960" cy="292608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133856"/>
            <a:ext cx="51755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06  ·  MO TRENDS — all data queried live, no ML scoring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89888"/>
            <a:ext cx="5394960" cy="374904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53896"/>
            <a:ext cx="196596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1 — Brand Velocity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79" y="1453896"/>
            <a:ext cx="320040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Weekly units trend — 52-week history + 13-week rolling avg by product/retailer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64792"/>
            <a:ext cx="53949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828800"/>
            <a:ext cx="196596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2 — Demand Forecast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79" y="1828800"/>
            <a:ext cx="320040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13-week forward projection with confidence bands  [ML scoring table]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39696"/>
            <a:ext cx="5394960" cy="374904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203703"/>
            <a:ext cx="196596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3 — Pack Crossover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79" y="2203703"/>
            <a:ext cx="320040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Single vs. multipack demand split across the BUILT product 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14600"/>
            <a:ext cx="53949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578608"/>
            <a:ext cx="196596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4 — Price &amp; Promo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79" y="2578608"/>
            <a:ext cx="320040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ARP trend with promo event overlays and discount depth markers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89504"/>
            <a:ext cx="5394960" cy="374904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953512"/>
            <a:ext cx="196596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5 — Distribution Arc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79" y="2953512"/>
            <a:ext cx="320040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TDP build trajectory and ramp vs. category launch norms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64408"/>
            <a:ext cx="53949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328416"/>
            <a:ext cx="196596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6 — Flavor Demand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79" y="3328416"/>
            <a:ext cx="320040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Flavor-level velocity comparison across full BUILT flavor 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639312"/>
            <a:ext cx="5394960" cy="374904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703320"/>
            <a:ext cx="196596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7 — Macro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79" y="3703320"/>
            <a:ext cx="320040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FRED GASDESW + UMCSENT — gas prices + U of Michigan consumer confidence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014216"/>
            <a:ext cx="53949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4078224"/>
            <a:ext cx="196596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8 — Velocity + Macro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79" y="4078224"/>
            <a:ext cx="320040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Stacked chart: brand velocity trend alongside macro signal overlay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462272"/>
            <a:ext cx="5394960" cy="493776"/>
          </a:xfrm>
          <a:prstGeom prst="rect">
            <a:avLst/>
          </a:prstGeom>
          <a:solidFill>
            <a:srgbClr val="D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5488" y="4507992"/>
            <a:ext cx="5175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Filter bar:  Product  ·  Brand  ·  Channel (FOOD / MASS / C-STORE)  ·  Account  ·  Units / $ toggle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" y="4709160"/>
            <a:ext cx="5175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FA0"/>
                </a:solidFill>
                <a:latin typeface="Calibri"/>
              </a:rPr>
              <a:t>Demo defaults:  BUILT Puff  ·  KROGER + WALMART    |    MULO excluded from all Trends views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1097280"/>
            <a:ext cx="5715000" cy="438912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36208" y="1133856"/>
            <a:ext cx="54955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FFFFFF"/>
                </a:solidFill>
                <a:latin typeface="Calibri"/>
              </a:rPr>
              <a:t>07  ·  EXTERNAL SIGNALS</a:t>
            </a:r>
            <a:r>
              <a:rPr lang="en-US" sz="900" b="1" i="0" dirty="0">
                <a:solidFill>
                  <a:srgbClr val="FFFFFF"/>
                </a:solidFill>
                <a:latin typeface="Calibri"/>
              </a:rPr>
              <a:t> (Phase 1 if possible)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236208" y="1316736"/>
            <a:ext cx="5495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E0C0"/>
                </a:solidFill>
                <a:latin typeface="Calibri"/>
              </a:rPr>
              <a:t>Commercial redistribution license required for all sources listed.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1536192"/>
            <a:ext cx="5715000" cy="237744"/>
          </a:xfrm>
          <a:prstGeom prst="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36208" y="1563624"/>
            <a:ext cx="5495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5E38"/>
                </a:solidFill>
                <a:latin typeface="Calibri"/>
              </a:rPr>
              <a:t>LIVE IN PRODUCTION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1773936"/>
            <a:ext cx="5715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26480" y="1773936"/>
            <a:ext cx="64008" cy="329184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72784" y="182880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Calibri"/>
              </a:rPr>
              <a:t>FRED — GASDESW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182880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Weekly U.S. gas price index (St. Louis Fed)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2103120"/>
            <a:ext cx="5715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26480" y="2103120"/>
            <a:ext cx="64008" cy="329184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72784" y="215798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111827"/>
                </a:solidFill>
                <a:latin typeface="Calibri"/>
              </a:rPr>
              <a:t>FRED — UMCSENT</a:t>
            </a:r>
            <a:r>
              <a:rPr lang="en-US" sz="900" b="1" i="0" dirty="0">
                <a:solidFill>
                  <a:srgbClr val="111827"/>
                </a:solidFill>
                <a:latin typeface="Calibri"/>
              </a:rPr>
              <a:t> </a:t>
            </a:r>
            <a:endParaRPr sz="900" b="1" i="0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275320" y="2157984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U. of Michigan consumer confidence index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3131166"/>
            <a:ext cx="5715000" cy="237744"/>
          </a:xfrm>
          <a:prstGeom prst="rect">
            <a:avLst/>
          </a:prstGeom>
          <a:solidFill>
            <a:srgbClr val="FF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6208" y="3167742"/>
            <a:ext cx="549554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dirty="0">
                <a:solidFill>
                  <a:srgbClr val="8A4800"/>
                </a:solidFill>
                <a:latin typeface="Calibri"/>
              </a:rPr>
              <a:t>PLANNED — OPEN ITEMS</a:t>
            </a:r>
            <a:r>
              <a:rPr lang="en-US" sz="750" b="1" i="0" dirty="0">
                <a:solidFill>
                  <a:srgbClr val="8A4800"/>
                </a:solidFill>
                <a:latin typeface="Calibri"/>
              </a:rPr>
              <a:t> (Phase 2)</a:t>
            </a:r>
            <a:endParaRPr sz="750" b="1" i="0" dirty="0">
              <a:solidFill>
                <a:srgbClr val="8A4800"/>
              </a:solidFill>
              <a:latin typeface="Calibr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126480" y="3368909"/>
            <a:ext cx="5715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126480" y="3368909"/>
            <a:ext cx="64008" cy="329184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72784" y="3423773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Calibri"/>
              </a:rPr>
              <a:t>Open-Meteo Weather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5320" y="3423773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Regional precip + temperature for seasonal demand context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26480" y="3700713"/>
            <a:ext cx="5715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126480" y="3700713"/>
            <a:ext cx="64008" cy="329184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72784" y="3755577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Calibri"/>
              </a:rPr>
              <a:t>Kalshi Markets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75320" y="3755577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Prediction market odds for macro events (recession, rates)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4029897"/>
            <a:ext cx="5715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126480" y="4029897"/>
            <a:ext cx="64008" cy="329184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272784" y="4084761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Calibri"/>
              </a:rPr>
              <a:t>Amazon BSR / Helium 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75320" y="4084761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Digital shelf velocity proxy for e-commerce demand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26480" y="4359082"/>
            <a:ext cx="5715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126480" y="4359082"/>
            <a:ext cx="64008" cy="329184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272784" y="4413945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Calibri"/>
              </a:rPr>
              <a:t>EIA / USDA Commodities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75320" y="4413945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Cocoa, whey, oat prices — ingredient cost-pressure signal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1C9EE3E-FE52-5948-6A0B-6DE7CD9256E6}"/>
              </a:ext>
            </a:extLst>
          </p:cNvPr>
          <p:cNvSpPr/>
          <p:nvPr/>
        </p:nvSpPr>
        <p:spPr>
          <a:xfrm>
            <a:off x="6126480" y="2429013"/>
            <a:ext cx="5715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2F992BF-CC47-AF54-576A-56DA104ABFE4}"/>
              </a:ext>
            </a:extLst>
          </p:cNvPr>
          <p:cNvSpPr/>
          <p:nvPr/>
        </p:nvSpPr>
        <p:spPr>
          <a:xfrm>
            <a:off x="6126480" y="2429013"/>
            <a:ext cx="64008" cy="329184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E9C8555-F707-F64A-ACD1-4EE6ABB9292C}"/>
              </a:ext>
            </a:extLst>
          </p:cNvPr>
          <p:cNvSpPr txBox="1"/>
          <p:nvPr/>
        </p:nvSpPr>
        <p:spPr>
          <a:xfrm>
            <a:off x="6272784" y="2483877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rgbClr val="111827"/>
                </a:solidFill>
              </a:rPr>
              <a:t>BLS CPI — Food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8D12891-96D0-C21D-0F41-61E7A85BC6CD}"/>
              </a:ext>
            </a:extLst>
          </p:cNvPr>
          <p:cNvSpPr txBox="1"/>
          <p:nvPr/>
        </p:nvSpPr>
        <p:spPr>
          <a:xfrm>
            <a:off x="8275320" y="2483877"/>
            <a:ext cx="3474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6B7FA0"/>
                </a:solidFill>
              </a:rPr>
              <a:t>CPI food sub-indices for consumer price-pressure signal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C0F0"/>
                </a:solidFill>
                <a:latin typeface="Calibri"/>
              </a:rPr>
              <a:t>MO BY AEVAH  ·  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7772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A0C0F0"/>
                </a:solidFill>
                <a:latin typeface="Calibri"/>
              </a:rPr>
              <a:t>Supporting detail, reference material, and supplementary data</a:t>
            </a:r>
            <a:endParaRPr lang="en-US" sz="1400" b="0" i="0" dirty="0">
              <a:solidFill>
                <a:srgbClr val="A0C0F0"/>
              </a:solidFill>
              <a:latin typeface="Calibri"/>
            </a:endParaRPr>
          </a:p>
          <a:p>
            <a:pPr algn="l"/>
            <a:r>
              <a:rPr lang="en-US" sz="1400" dirty="0">
                <a:solidFill>
                  <a:srgbClr val="A0C0F0"/>
                </a:solidFill>
                <a:latin typeface="Calibri"/>
              </a:rPr>
              <a:t>Phase 2 in 2027</a:t>
            </a:r>
            <a:r>
              <a:rPr sz="1400" b="0" i="0" dirty="0">
                <a:solidFill>
                  <a:srgbClr val="A0C0F0"/>
                </a:solidFill>
                <a:latin typeface="Calibri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FA0"/>
                </a:solidFill>
                <a:latin typeface="Calibri"/>
              </a:rPr>
              <a:t>aevah.ai  ·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A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320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A0C0F0"/>
                </a:solidFill>
                <a:latin typeface="Calibri"/>
              </a:rPr>
              <a:t>MODULE 0</a:t>
            </a:r>
            <a:r>
              <a:rPr lang="en-US" sz="900" b="1" i="0" dirty="0">
                <a:solidFill>
                  <a:srgbClr val="A0C0F0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914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D4DAE6"/>
                </a:solidFill>
                <a:latin typeface="Calibri"/>
              </a:rPr>
              <a:t>PHASE 2 — PLANNED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Promotional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4747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D5FF"/>
                </a:solidFill>
                <a:latin typeface="Calibri"/>
              </a:rPr>
              <a:t>"How much incremental demand does a promotion generate — and what depth maximizes return?"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45389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DATA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673352"/>
            <a:ext cx="4572000" cy="246888"/>
          </a:xfrm>
          <a:prstGeom prst="rect">
            <a:avLst/>
          </a:prstGeom>
          <a:solidFill>
            <a:srgbClr val="D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70992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Field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7099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170992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Purpose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920240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" y="196596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Incremental units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196596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6472" y="196596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Above-baseline demand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185416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" y="223113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Base units (non-promo)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0632" y="223113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2" y="223113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Lift denominator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450592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" y="249631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% units sold on promotion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70632" y="24963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6472" y="2496312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Promo dependency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715768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" y="276148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Promo discount depth (%)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0632" y="276148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76472" y="2761488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Quantify discount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2980944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4632" y="302666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Channel (grocery / mass / c-store)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70632" y="302666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76472" y="3026664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Channel response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246120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4632" y="329184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Pack count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70632" y="329184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76472" y="329184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Pack size behavior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3511296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4632" y="355701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Distribution on promo (TDP, Any Promo)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70632" y="355701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76472" y="355701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Display vs. price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3849624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388620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OPERATIONS PERFORMED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187952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7512" y="4123944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Calculate promo lift ratio: incremental units ÷ base units, per SKU × account × event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434840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7512" y="4370831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Group events into discount depth buckets (0–10%, 10–20%, 20–30%, 30%+)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4681727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7512" y="4617719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Separate response curves by channel — grocery and c-store show distinct lift profiles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4928615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7512" y="4864607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Separate response curves by pack size — 12-packs show a 30%+ discount cliff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5175503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67512" y="5111495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Identify the depth where marginal lift no longer justifies additional margin give-up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49240" y="1417320"/>
            <a:ext cx="6492240" cy="274320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458968" y="1463040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FORECAST &amp; PROJECTION — from trained model (Stage 4)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49240" y="1691640"/>
            <a:ext cx="6492240" cy="1051560"/>
          </a:xfrm>
          <a:prstGeom prst="rect">
            <a:avLst/>
          </a:prstGeom>
          <a:solidFill>
            <a:srgbClr val="D4F0E4"/>
          </a:solidFill>
          <a:ln w="6350">
            <a:solidFill>
              <a:srgbClr val="68C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623559" y="175564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Expected lift % at each discount depth for this SKU × channel × pack size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23559" y="207568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Optimal discount depth recommendation — where lift peaks before the cliff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23559" y="239572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Incremental vs. cannibalized demand breakdown at each discount level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49240" y="2852928"/>
            <a:ext cx="6492240" cy="274320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458968" y="2898648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LIVE CONTEXT DATA — queried at display time (Stage 5)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49240" y="3127248"/>
            <a:ext cx="6492240" cy="1371600"/>
          </a:xfrm>
          <a:prstGeom prst="rect">
            <a:avLst/>
          </a:prstGeom>
          <a:solidFill>
            <a:srgbClr val="FFF3D6"/>
          </a:solidFill>
          <a:ln w="6350">
            <a:solidFill>
              <a:srgbClr val="E8B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623559" y="319125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Historical promo events — discount depth, timing, and observed lift per event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23559" y="351129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Lift trend by event type — TPR vs. display vs. feature support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23559" y="383133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% weeks on promo trend — is this SKU becoming promo-dependent?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23559" y="415137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Channel comparison — lift curve across grocery / mass / c-store for this SKU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5596128"/>
            <a:ext cx="4572000" cy="237744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02920" y="5632704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0C0F0"/>
                </a:solidFill>
                <a:latin typeface="Calibri"/>
              </a:rPr>
              <a:t>AEVAH DELIVERS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1480" y="5833872"/>
            <a:ext cx="4572000" cy="566928"/>
          </a:xfrm>
          <a:prstGeom prst="rect">
            <a:avLst/>
          </a:prstGeom>
          <a:solidFill>
            <a:srgbClr val="E8EDF8"/>
          </a:solidFill>
          <a:ln w="6350">
            <a:solidFill>
              <a:srgbClr val="B0C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02920" y="5888736"/>
            <a:ext cx="4389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Lift curve modeling · Depth optimization scoring · Channel × pack separation · Publish to Mo UI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49240" y="5596128"/>
            <a:ext cx="6492240" cy="237744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440679" y="5632704"/>
            <a:ext cx="63093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BUILT PROVIDES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349240" y="5833872"/>
            <a:ext cx="6492240" cy="566928"/>
          </a:xfrm>
          <a:prstGeom prst="rect">
            <a:avLst/>
          </a:prstGeom>
          <a:solidFill>
            <a:srgbClr val="D4F0E4"/>
          </a:solidFill>
          <a:ln w="6350">
            <a:solidFill>
              <a:srgbClr val="80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440679" y="5888736"/>
            <a:ext cx="630935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SPINS export deposit (including promo flags) · Review lift projections · Confirm discount depth guidance with trade marketing team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A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C0F0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914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D4DAE6"/>
                </a:solidFill>
                <a:latin typeface="Calibri"/>
              </a:rPr>
              <a:t>PHASE 2 — PLANNED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Distribution &amp; Launch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4747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D5FF"/>
                </a:solidFill>
                <a:latin typeface="Calibri"/>
              </a:rPr>
              <a:t>"Is this new product ramping as expected — in enough stores, with the right velocity?"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45389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DATA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673352"/>
            <a:ext cx="4572000" cy="246888"/>
          </a:xfrm>
          <a:prstGeom prst="rect">
            <a:avLst/>
          </a:prstGeom>
          <a:solidFill>
            <a:srgbClr val="D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70992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Field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7099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170992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Purpose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920240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" y="196596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% of stores selling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196596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6472" y="196596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Distribution growth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185416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" y="223113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Total distribution points (TDP)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0632" y="223113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2" y="223113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Primary ramp metric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450592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" y="249631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Avg weekly units per store selling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70632" y="24963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6472" y="2496312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Velocity per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715768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" y="276148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First week selling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0632" y="276148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76472" y="2761488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Launch anchor date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2980944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4632" y="302666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Number of weeks selling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70632" y="302666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76472" y="3026664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Lifecycle position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319272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335584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OPERATIONS PERFORMED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657600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7512" y="3593592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Track weeks 1–16 of distribution build and velocity ramp for each new BUILT UPC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3904487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7512" y="3840479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Compare each SKU's ramp against category norms for the same pack type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151375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7512" y="4087367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Classify new UPCs: new pack size, new flavor, or duplicate/relaunch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398263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7512" y="4334255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Flag underperformance at 4, 8, and 13 weeks post-launch vs. expected ramp curve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645151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7512" y="4581143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Suppress cannibalization scoring during ramp — avoids penalizing distribution-driven transfer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49240" y="1417320"/>
            <a:ext cx="6492240" cy="274320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58968" y="1463040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FORECAST &amp; PROJECTION — from trained model (Stage 4)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49240" y="1691640"/>
            <a:ext cx="6492240" cy="1371600"/>
          </a:xfrm>
          <a:prstGeom prst="rect">
            <a:avLst/>
          </a:prstGeom>
          <a:solidFill>
            <a:srgbClr val="D4F0E4"/>
          </a:solidFill>
          <a:ln w="6350">
            <a:solidFill>
              <a:srgbClr val="68C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623559" y="175564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Launch status at current week: On Track · Watch · Underperforming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3559" y="207568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Expected ramp curve — where this SKU should be at weeks 8, 13, 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23559" y="239572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Predicted full-distribution velocity — expected units/store at maturity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23559" y="271576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Cannibalization scoring readiness — flag for when SKU graduates to active scoring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49240" y="3172968"/>
            <a:ext cx="6492240" cy="274320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58968" y="3218688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LIVE CONTEXT DATA — queried at display time (Stage 5)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49240" y="3447288"/>
            <a:ext cx="6492240" cy="1371600"/>
          </a:xfrm>
          <a:prstGeom prst="rect">
            <a:avLst/>
          </a:prstGeom>
          <a:solidFill>
            <a:srgbClr val="FFF3D6"/>
          </a:solidFill>
          <a:ln w="6350">
            <a:solidFill>
              <a:srgbClr val="E8B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623559" y="351129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Actual TDP ramp week by week since first week selling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23559" y="383133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Actual velocity per store — is the product pulling through where stocked?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23559" y="415137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Comparable launch benchmarks — similar BUILT or category launches in same retailer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23559" y="447141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Data-maturity status — weeks until data gate clears for active scoring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" y="5596128"/>
            <a:ext cx="4572000" cy="237744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2920" y="5632704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0C0F0"/>
                </a:solidFill>
                <a:latin typeface="Calibri"/>
              </a:rPr>
              <a:t>AEVAH DELIVERS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" y="5833872"/>
            <a:ext cx="4572000" cy="566928"/>
          </a:xfrm>
          <a:prstGeom prst="rect">
            <a:avLst/>
          </a:prstGeom>
          <a:solidFill>
            <a:srgbClr val="E8EDF8"/>
          </a:solidFill>
          <a:ln w="6350">
            <a:solidFill>
              <a:srgbClr val="B0C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02920" y="5888736"/>
            <a:ext cx="4389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Ramp monitoring model · Category benchmark comparisons · UPC classification gate · Launch status scoring · Publish to Mo UI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49240" y="5596128"/>
            <a:ext cx="6492240" cy="237744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440679" y="5632704"/>
            <a:ext cx="63093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BUILT PROVIDES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49240" y="5833872"/>
            <a:ext cx="6492240" cy="566928"/>
          </a:xfrm>
          <a:prstGeom prst="rect">
            <a:avLst/>
          </a:prstGeom>
          <a:solidFill>
            <a:srgbClr val="D4F0E4"/>
          </a:solidFill>
          <a:ln w="6350">
            <a:solidFill>
              <a:srgbClr val="80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440679" y="5888736"/>
            <a:ext cx="630935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SPINS export deposit · Confirm new UPC classifications (new SKU vs. relaunch) · Review launch status assessments with brand team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3136</Words>
  <Application>Microsoft Macintosh PowerPoint</Application>
  <PresentationFormat>Widescreen</PresentationFormat>
  <Paragraphs>442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Brian Cluster</dc:creator>
  <cp:keywords/>
  <dc:description>generated using python-pptx</dc:description>
  <cp:lastModifiedBy>Robert Long</cp:lastModifiedBy>
  <cp:revision>11</cp:revision>
  <dcterms:created xsi:type="dcterms:W3CDTF">2013-01-27T09:14:16Z</dcterms:created>
  <dcterms:modified xsi:type="dcterms:W3CDTF">2026-09-02T19:46:26Z</dcterms:modified>
  <cp:category/>
</cp:coreProperties>
</file>